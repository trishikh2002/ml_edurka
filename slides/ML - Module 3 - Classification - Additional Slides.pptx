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053" r:id="rId6"/>
    <p:sldId id="2054" r:id="rId7"/>
    <p:sldId id="2055" r:id="rId8"/>
    <p:sldId id="2057" r:id="rId9"/>
    <p:sldId id="2056" r:id="rId10"/>
    <p:sldId id="2058" r:id="rId11"/>
    <p:sldId id="2621" r:id="rId12"/>
    <p:sldId id="2622" r:id="rId13"/>
    <p:sldId id="2623" r:id="rId14"/>
    <p:sldId id="2625" r:id="rId15"/>
    <p:sldId id="2627" r:id="rId16"/>
    <p:sldId id="262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C6404-C0C3-4D5D-5003-EDD4AB426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4B4F00-1CCA-022F-7D28-D58F1C10F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71344-9FD0-5C83-5FE0-F3F4DD636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16B9E-0D62-92FA-B826-7FF6626F8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79494-9795-E05E-4DEC-A16F71C4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2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61C9C-501D-D0C6-0C55-5D1E9464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D66F2-9A2D-D6E4-5B93-2F8BA7F3B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28136-F8F7-72C1-BDE9-EDB71A050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0E5B5-108E-877F-E8B4-3A9B110F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BC7E7-D424-F04D-A127-60A2DF84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65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50E7-283E-3E1D-D068-86A060164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87B5B-B9D4-8720-3241-ABBF11CD3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2F5F6-3FD6-FB7A-1172-AC3E5CC4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D888F-527B-0A06-93D4-1E3706FC7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18507-7FA2-9D5A-46A4-5B9AAEFD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45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085F-9D43-D006-BE61-5E59FCA19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A17DF-BB3D-30AC-840E-998045174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E7983-2921-A946-A18E-32758A1C1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C1C8A-579F-3CAD-8382-190F6FF3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068C5-D449-F2FB-6AF5-1F74116C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78417-3F75-964E-FA70-E4628963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768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C229-C4A6-BD71-F0B3-6EEC428E5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809B5-FB8C-220B-F09B-19054594B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2F8C1-7FC8-0769-0318-D19D63F1F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09FDE2-6244-97F4-254F-190C5507E9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137F7-537A-10C4-06CC-6D5A530A9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3CE4A-77F0-2CF5-7FE1-D58281646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62B07-CBF5-A29A-60F8-C9A268E2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7C9C9B-A2F1-1808-5244-4339618C8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48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67F67-0C70-8BCD-5A2E-68DA15F5C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5711C-09C8-F1E9-369A-3F55FFBF0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88B13-CE03-4AED-A102-00676F826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F8BE0-67B1-6D34-BEF6-B1E8AC6C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835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76104-C6AB-3052-4934-E1797582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3DFAC-F8FA-9964-D5A1-D1AC02787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EE4BD-9719-6D29-ECEB-B29C36F0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219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F46AB-5C6D-AAB5-E8C9-A2C9854A6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B5D90-1582-CE7A-3480-B2D143C6C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997EE-768B-60D3-ECF1-B4E6DB5B3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4D7EE-B006-02B5-B2FE-C3D18FBA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5A89F-BE69-8947-FA97-9BDF230E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FC3EF-D6A7-D1BA-59C2-0F574484E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589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71FE-0281-31F2-9D40-9FBB37D94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97D753-4919-1CC2-CE85-9B81BA67E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F110C-5B5E-8CF3-EBC8-DC8FC4886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A0146-2FE8-3BE3-8750-578A34D3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60D6B-92B9-B378-97CD-5765FC963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04910-F985-1B52-5CA8-4CAF7B2C2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994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803E8-21E9-F9FA-E19A-31AB849EB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3B605A-EF81-3C43-73EB-879589DF0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6B6B8-3FD8-B3C9-5499-812E0134E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4F5E5-EE28-9303-7C0D-C55E1961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39DB5-C532-778A-0917-6BC8A0C2B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914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F73028-65AE-9933-D8C3-0447BC1AC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19B4F-654D-93E7-7E98-A3AE735D3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0E73C-D2D9-BB77-5527-C76C289F9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0E67-35E2-42ED-82FC-536D00D27FB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47C72-321E-2D26-B8F0-B81B6841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895C3-563F-08E1-F2B8-79D4C45D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114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378BA-66B5-13A8-DD9A-2D02502F0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D3184-8977-91E4-45A5-E963EE258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1647B-8CF0-96F0-A182-D97E7F2F1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20E67-35E2-42ED-82FC-536D00D27FB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6255B-17B4-15A9-18D8-A8E2961EA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F96AE-3A96-A688-39F0-E2CBF33CC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F032E-E2CF-4C7F-9294-B2B9091C4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72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pxhere.com/en/photo/663825" TargetMode="External"/><Relationship Id="rId13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2.jp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hyperlink" Target="https://shop.mcdowellsherbal.com/us/content/modern-dogs-health-problems.html" TargetMode="External"/><Relationship Id="rId5" Type="http://schemas.openxmlformats.org/officeDocument/2006/relationships/hyperlink" Target="https://pxhere.com/en/photo/793339" TargetMode="External"/><Relationship Id="rId10" Type="http://schemas.openxmlformats.org/officeDocument/2006/relationships/image" Target="../media/image3.jpg"/><Relationship Id="rId4" Type="http://schemas.openxmlformats.org/officeDocument/2006/relationships/image" Target="../media/image1.jp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558A0-B096-08BE-6EC4-CB70F4CDDA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Machine Learning - Classification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FB771-DD80-F955-8FA3-273EA3EB38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  <a:p>
            <a:r>
              <a:rPr lang="en-GB" dirty="0"/>
              <a:t>https://www.linkedin.com/in/atulkahate/</a:t>
            </a:r>
          </a:p>
        </p:txBody>
      </p:sp>
    </p:spTree>
    <p:extLst>
      <p:ext uri="{BB962C8B-B14F-4D97-AF65-F5344CB8AC3E}">
        <p14:creationId xmlns:p14="http://schemas.microsoft.com/office/powerpoint/2010/main" val="3855484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3225-F8B2-53A8-27C6-2DD284FB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763"/>
            <a:ext cx="10515600" cy="474649"/>
          </a:xfrm>
        </p:spPr>
        <p:txBody>
          <a:bodyPr>
            <a:normAutofit fontScale="90000"/>
          </a:bodyPr>
          <a:lstStyle/>
          <a:p>
            <a:r>
              <a:rPr lang="en-IN" dirty="0"/>
              <a:t>Logistic Regression: Predict Obesity for a Dog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8DAF68-9266-0A14-EC97-50F9AC04D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7977501"/>
              </p:ext>
            </p:extLst>
          </p:nvPr>
        </p:nvGraphicFramePr>
        <p:xfrm>
          <a:off x="517112" y="796414"/>
          <a:ext cx="3154448" cy="213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37037">
                  <a:extLst>
                    <a:ext uri="{9D8B030D-6E8A-4147-A177-3AD203B41FA5}">
                      <a16:colId xmlns:a16="http://schemas.microsoft.com/office/drawing/2014/main" val="2992704106"/>
                    </a:ext>
                  </a:extLst>
                </a:gridCol>
                <a:gridCol w="1060983">
                  <a:extLst>
                    <a:ext uri="{9D8B030D-6E8A-4147-A177-3AD203B41FA5}">
                      <a16:colId xmlns:a16="http://schemas.microsoft.com/office/drawing/2014/main" val="1247799351"/>
                    </a:ext>
                  </a:extLst>
                </a:gridCol>
                <a:gridCol w="1256428">
                  <a:extLst>
                    <a:ext uri="{9D8B030D-6E8A-4147-A177-3AD203B41FA5}">
                      <a16:colId xmlns:a16="http://schemas.microsoft.com/office/drawing/2014/main" val="4125520342"/>
                    </a:ext>
                  </a:extLst>
                </a:gridCol>
              </a:tblGrid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Weight (kg)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9602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 (Not 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649539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51293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04720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 (Obese)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493873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706722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7076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A6DAC6-99A4-DA15-7628-6196EA00E50E}"/>
                  </a:ext>
                </a:extLst>
              </p:cNvPr>
              <p:cNvSpPr txBox="1"/>
              <p:nvPr/>
            </p:nvSpPr>
            <p:spPr>
              <a:xfrm>
                <a:off x="3880964" y="790559"/>
                <a:ext cx="5870309" cy="24547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Logistic Regression does NOT directly predict 0 or 1</a:t>
                </a:r>
              </a:p>
              <a:p>
                <a:endParaRPr lang="en-IN" sz="1600" dirty="0"/>
              </a:p>
              <a:p>
                <a:r>
                  <a:rPr lang="en-IN" sz="1600" b="1" dirty="0"/>
                  <a:t>Step 1: Linear score/logit/log-odds (like Linear Regression)</a:t>
                </a:r>
              </a:p>
              <a:p>
                <a:r>
                  <a:rPr lang="en-GB" sz="1600" dirty="0"/>
                  <a:t>z = w . x + b (Similar to linear regression z = w1x1 + w2x2 + … + b)</a:t>
                </a:r>
              </a:p>
              <a:p>
                <a:r>
                  <a:rPr lang="en-GB" sz="1600" dirty="0"/>
                  <a:t>Suppose after training, the model learned w = 0.8 and b = -10, so …</a:t>
                </a:r>
              </a:p>
              <a:p>
                <a:r>
                  <a:rPr lang="en-GB" sz="1600" dirty="0"/>
                  <a:t>z = 0.8 x weight + (-10)</a:t>
                </a:r>
              </a:p>
              <a:p>
                <a:endParaRPr lang="en-GB" sz="1600" dirty="0"/>
              </a:p>
              <a:p>
                <a:r>
                  <a:rPr lang="en-GB" sz="1600" b="1" dirty="0"/>
                  <a:t>Step 2: Convert score into probability using a sigmoid function</a:t>
                </a:r>
              </a:p>
              <a:p>
                <a:r>
                  <a:rPr lang="en-GB" sz="1600" dirty="0"/>
                  <a:t>sigmoid(z)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0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0" dirty="0"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GB" sz="1600" i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1600" dirty="0"/>
                  <a:t>   =&gt; This forces the output into </a:t>
                </a:r>
                <a:r>
                  <a:rPr lang="en-GB" sz="1600" b="1" dirty="0"/>
                  <a:t>0 to 1 (probability)</a:t>
                </a:r>
                <a:endParaRPr lang="en-GB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A6DAC6-99A4-DA15-7628-6196EA00E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964" y="790559"/>
                <a:ext cx="5870309" cy="2454711"/>
              </a:xfrm>
              <a:prstGeom prst="rect">
                <a:avLst/>
              </a:prstGeom>
              <a:blipFill>
                <a:blip r:embed="rId2"/>
                <a:stretch>
                  <a:fillRect l="-623" t="-7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1EE338-5351-4067-FD03-8C808F0402A1}"/>
                  </a:ext>
                </a:extLst>
              </p:cNvPr>
              <p:cNvSpPr txBox="1"/>
              <p:nvPr/>
            </p:nvSpPr>
            <p:spPr>
              <a:xfrm>
                <a:off x="184351" y="3555057"/>
                <a:ext cx="3071267" cy="216482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/>
                  <a:t>Dog D1</a:t>
                </a:r>
              </a:p>
              <a:p>
                <a:r>
                  <a:rPr lang="en-IN" sz="1600" b="1" dirty="0"/>
                  <a:t>Step 1: Linear score</a:t>
                </a:r>
              </a:p>
              <a:p>
                <a:r>
                  <a:rPr lang="en-GB" sz="1600" dirty="0"/>
                  <a:t>z = 0.8 x 8 + (-10) = 6.4 – 10 = -3.6</a:t>
                </a:r>
              </a:p>
              <a:p>
                <a:endParaRPr lang="en-GB" sz="1600" dirty="0"/>
              </a:p>
              <a:p>
                <a:r>
                  <a:rPr lang="en-GB" sz="1600" b="1" dirty="0"/>
                  <a:t>Step 2: Probability</a:t>
                </a:r>
              </a:p>
              <a:p>
                <a:r>
                  <a:rPr lang="en-GB" sz="1600" dirty="0"/>
                  <a:t>P(obese)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dirty="0"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IN" sz="1600" b="0" i="1" dirty="0" smtClean="0">
                                <a:latin typeface="Cambria Math" panose="02040503050406030204" pitchFamily="18" charset="0"/>
                              </a:rPr>
                              <m:t>3.6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1600" dirty="0"/>
                  <a:t> ≈ 0.027 = 2.7%</a:t>
                </a:r>
              </a:p>
              <a:p>
                <a:endParaRPr lang="en-IN" sz="1600" dirty="0"/>
              </a:p>
              <a:p>
                <a:r>
                  <a:rPr lang="en-IN" sz="1600" b="1" dirty="0"/>
                  <a:t>Prediction</a:t>
                </a:r>
                <a:r>
                  <a:rPr lang="en-IN" sz="1600" dirty="0"/>
                  <a:t>: Not obese</a:t>
                </a:r>
                <a:endParaRPr lang="en-GB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1EE338-5351-4067-FD03-8C808F040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51" y="3555057"/>
                <a:ext cx="3071267" cy="2164823"/>
              </a:xfrm>
              <a:prstGeom prst="rect">
                <a:avLst/>
              </a:prstGeom>
              <a:blipFill>
                <a:blip r:embed="rId3"/>
                <a:stretch>
                  <a:fillRect l="-992" t="-845" b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8835768-AAC3-3A1D-C99A-B49C02FC74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197835" y="3555057"/>
            <a:ext cx="750657" cy="5004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D6611A-4CD6-44A8-AA80-CBF8CF3BB2B7}"/>
                  </a:ext>
                </a:extLst>
              </p:cNvPr>
              <p:cNvSpPr txBox="1"/>
              <p:nvPr/>
            </p:nvSpPr>
            <p:spPr>
              <a:xfrm>
                <a:off x="3426342" y="3548076"/>
                <a:ext cx="3071267" cy="216482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/>
                  <a:t>Dog D3</a:t>
                </a:r>
              </a:p>
              <a:p>
                <a:r>
                  <a:rPr lang="en-IN" sz="1600" b="1" dirty="0"/>
                  <a:t>Step 1: Linear score</a:t>
                </a:r>
              </a:p>
              <a:p>
                <a:r>
                  <a:rPr lang="en-GB" sz="1600" dirty="0"/>
                  <a:t>z = 0.8 x 12 + (-10) = 9.6 – 10 = -0.4</a:t>
                </a:r>
              </a:p>
              <a:p>
                <a:endParaRPr lang="en-GB" sz="1600" dirty="0"/>
              </a:p>
              <a:p>
                <a:r>
                  <a:rPr lang="en-GB" sz="1600" b="1" dirty="0"/>
                  <a:t>Step 2: Probability</a:t>
                </a:r>
              </a:p>
              <a:p>
                <a:r>
                  <a:rPr lang="en-GB" sz="1600" dirty="0"/>
                  <a:t>P(obese)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dirty="0"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IN" sz="1600" b="0" i="1" dirty="0" smtClean="0">
                                <a:latin typeface="Cambria Math" panose="02040503050406030204" pitchFamily="18" charset="0"/>
                              </a:rPr>
                              <m:t>−0.4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1600" dirty="0"/>
                  <a:t> ≈ 0.40 = 40%</a:t>
                </a:r>
              </a:p>
              <a:p>
                <a:endParaRPr lang="en-IN" sz="1600" dirty="0"/>
              </a:p>
              <a:p>
                <a:r>
                  <a:rPr lang="en-IN" sz="1600" b="1" dirty="0"/>
                  <a:t>Prediction</a:t>
                </a:r>
                <a:r>
                  <a:rPr lang="en-IN" sz="1600" dirty="0"/>
                  <a:t>: Still not obese</a:t>
                </a:r>
                <a:endParaRPr lang="en-GB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D6611A-4CD6-44A8-AA80-CBF8CF3BB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342" y="3548076"/>
                <a:ext cx="3071267" cy="2164823"/>
              </a:xfrm>
              <a:prstGeom prst="rect">
                <a:avLst/>
              </a:prstGeom>
              <a:blipFill>
                <a:blip r:embed="rId6"/>
                <a:stretch>
                  <a:fillRect l="-992" t="-845" r="-397" b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9295F04-7368-2685-6875-B4534A4053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455259" y="3564195"/>
            <a:ext cx="759362" cy="5081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801083-516D-9EFB-62B2-1B081A141D8C}"/>
                  </a:ext>
                </a:extLst>
              </p:cNvPr>
              <p:cNvSpPr txBox="1"/>
              <p:nvPr/>
            </p:nvSpPr>
            <p:spPr>
              <a:xfrm>
                <a:off x="6668333" y="3548076"/>
                <a:ext cx="3071267" cy="216482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600" b="1" dirty="0"/>
                  <a:t>Dog D4</a:t>
                </a:r>
              </a:p>
              <a:p>
                <a:r>
                  <a:rPr lang="en-IN" sz="1600" b="1" dirty="0"/>
                  <a:t>Step 1: Linear score</a:t>
                </a:r>
              </a:p>
              <a:p>
                <a:r>
                  <a:rPr lang="en-GB" sz="1600" dirty="0"/>
                  <a:t>z = 0.8 x 15 + (-10) = 12.0 – 10 = 2</a:t>
                </a:r>
              </a:p>
              <a:p>
                <a:endParaRPr lang="en-GB" sz="1600" dirty="0"/>
              </a:p>
              <a:p>
                <a:r>
                  <a:rPr lang="en-GB" sz="1600" b="1" dirty="0"/>
                  <a:t>Step 2: Probability</a:t>
                </a:r>
              </a:p>
              <a:p>
                <a:r>
                  <a:rPr lang="en-GB" sz="1600" dirty="0"/>
                  <a:t>P(obese)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dirty="0"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en-IN" sz="1600" b="0" i="1" dirty="0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1600" dirty="0"/>
                  <a:t> ≈ 0.88 = 88%</a:t>
                </a:r>
              </a:p>
              <a:p>
                <a:endParaRPr lang="en-IN" sz="1600" dirty="0"/>
              </a:p>
              <a:p>
                <a:r>
                  <a:rPr lang="en-IN" sz="1600" b="1" dirty="0"/>
                  <a:t>Prediction</a:t>
                </a:r>
                <a:r>
                  <a:rPr lang="en-IN" sz="1600" dirty="0"/>
                  <a:t>: Obese</a:t>
                </a:r>
                <a:endParaRPr lang="en-GB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801083-516D-9EFB-62B2-1B081A141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8333" y="3548076"/>
                <a:ext cx="3071267" cy="2164823"/>
              </a:xfrm>
              <a:prstGeom prst="rect">
                <a:avLst/>
              </a:prstGeom>
              <a:blipFill>
                <a:blip r:embed="rId9"/>
                <a:stretch>
                  <a:fillRect l="-1190" t="-845" b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F8FFDED3-3877-892C-D8D9-DD8433F0D3E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8764162" y="3538938"/>
            <a:ext cx="703213" cy="4611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AA502F-E5BC-19D4-7C6C-9EB2D42EE13B}"/>
                  </a:ext>
                </a:extLst>
              </p:cNvPr>
              <p:cNvSpPr txBox="1"/>
              <p:nvPr/>
            </p:nvSpPr>
            <p:spPr>
              <a:xfrm>
                <a:off x="10243953" y="76783"/>
                <a:ext cx="1628161" cy="371941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b="1" dirty="0"/>
                  <a:t>Odds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odds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 dirty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GB" sz="1400" i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sz="1400" i="1" dirty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Dog D4 (P = 0.88)</a:t>
                </a:r>
              </a:p>
              <a:p>
                <a:r>
                  <a:rPr lang="en-GB" sz="1400" dirty="0"/>
                  <a:t>odds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0.88</m:t>
                        </m:r>
                      </m:num>
                      <m:den>
                        <m:r>
                          <a:rPr lang="en-GB" sz="1400" i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0. 88</m:t>
                        </m:r>
                      </m:den>
                    </m:f>
                  </m:oMath>
                </a14:m>
                <a:r>
                  <a:rPr lang="en-GB" sz="1400" dirty="0"/>
                  <a:t> </a:t>
                </a:r>
                <a:r>
                  <a:rPr lang="en-IN" sz="1400" dirty="0"/>
                  <a:t>≈</a:t>
                </a:r>
                <a:r>
                  <a:rPr lang="en-GB" sz="1400" dirty="0"/>
                  <a:t> 7.3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Dog is 7.3 times more likely obese and not obese</a:t>
                </a:r>
              </a:p>
              <a:p>
                <a:endParaRPr lang="en-GB" sz="1400" dirty="0"/>
              </a:p>
              <a:p>
                <a:pPr algn="ctr"/>
                <a:r>
                  <a:rPr lang="en-GB" sz="1400" b="1" dirty="0"/>
                  <a:t>Log-odds (z)</a:t>
                </a:r>
              </a:p>
              <a:p>
                <a:r>
                  <a:rPr lang="en-GB" sz="1400" dirty="0"/>
                  <a:t>z = log(odds)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Dog D4 (odds = 7.3)</a:t>
                </a:r>
              </a:p>
              <a:p>
                <a:r>
                  <a:rPr lang="en-GB" sz="1400" dirty="0"/>
                  <a:t>z = log(7.3) = 0.86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AA502F-E5BC-19D4-7C6C-9EB2D42EE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953" y="76783"/>
                <a:ext cx="1628161" cy="3719416"/>
              </a:xfrm>
              <a:prstGeom prst="rect">
                <a:avLst/>
              </a:prstGeom>
              <a:blipFill>
                <a:blip r:embed="rId12"/>
                <a:stretch>
                  <a:fillRect l="-1119" t="-328" b="-8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9DB302C-BE43-D31B-6E9C-46144C49C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794941"/>
              </p:ext>
            </p:extLst>
          </p:nvPr>
        </p:nvGraphicFramePr>
        <p:xfrm>
          <a:off x="9836469" y="3913625"/>
          <a:ext cx="2169684" cy="1554180"/>
        </p:xfrm>
        <a:graphic>
          <a:graphicData uri="http://schemas.openxmlformats.org/drawingml/2006/table">
            <a:tbl>
              <a:tblPr firstRow="1">
                <a:tableStyleId>{8FD4443E-F989-4FC4-A0C8-D5A2AF1F390B}</a:tableStyleId>
              </a:tblPr>
              <a:tblGrid>
                <a:gridCol w="585193">
                  <a:extLst>
                    <a:ext uri="{9D8B030D-6E8A-4147-A177-3AD203B41FA5}">
                      <a16:colId xmlns:a16="http://schemas.microsoft.com/office/drawing/2014/main" val="2069006429"/>
                    </a:ext>
                  </a:extLst>
                </a:gridCol>
                <a:gridCol w="1584491">
                  <a:extLst>
                    <a:ext uri="{9D8B030D-6E8A-4147-A177-3AD203B41FA5}">
                      <a16:colId xmlns:a16="http://schemas.microsoft.com/office/drawing/2014/main" val="2505400244"/>
                    </a:ext>
                  </a:extLst>
                </a:gridCol>
              </a:tblGrid>
              <a:tr h="23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z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357938"/>
                  </a:ext>
                </a:extLst>
              </a:tr>
              <a:tr h="23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z =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Obese and not-obese equally likely (50–50)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353543"/>
                  </a:ext>
                </a:extLst>
              </a:tr>
              <a:tr h="23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z &gt;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More likely 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73229"/>
                  </a:ext>
                </a:extLst>
              </a:tr>
              <a:tr h="23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z &lt;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More likely not 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021152"/>
                  </a:ext>
                </a:extLst>
              </a:tr>
              <a:tr h="23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Large +z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Almost certainly 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774734"/>
                  </a:ext>
                </a:extLst>
              </a:tr>
              <a:tr h="237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/>
                        <a:t>Large −z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/>
                        <a:t>Almost certainly not 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853945"/>
                  </a:ext>
                </a:extLst>
              </a:tr>
            </a:tbl>
          </a:graphicData>
        </a:graphic>
      </p:graphicFrame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5704A75-56A8-55F4-2AFD-BADA3B432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742" y="5585231"/>
            <a:ext cx="1802372" cy="1201767"/>
          </a:xfrm>
          <a:prstGeom prst="rect">
            <a:avLst/>
          </a:prstGeom>
          <a:solidFill>
            <a:srgbClr val="FFC000"/>
          </a:solidFill>
        </p:spPr>
      </p:pic>
    </p:spTree>
    <p:extLst>
      <p:ext uri="{BB962C8B-B14F-4D97-AF65-F5344CB8AC3E}">
        <p14:creationId xmlns:p14="http://schemas.microsoft.com/office/powerpoint/2010/main" val="251536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7693-E6EB-1EDD-A235-84E7665E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43"/>
            <a:ext cx="10515600" cy="590294"/>
          </a:xfrm>
        </p:spPr>
        <p:txBody>
          <a:bodyPr>
            <a:normAutofit fontScale="90000"/>
          </a:bodyPr>
          <a:lstStyle/>
          <a:p>
            <a:r>
              <a:rPr lang="en-IN" dirty="0"/>
              <a:t>Entropy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7645C-5D5C-DBCE-CC02-F8CCFD142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34E676-456B-EBF8-18E9-45BB27A93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845854"/>
              </p:ext>
            </p:extLst>
          </p:nvPr>
        </p:nvGraphicFramePr>
        <p:xfrm>
          <a:off x="182065" y="681037"/>
          <a:ext cx="2519253" cy="2103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9751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839751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839751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74856">
                <a:tc>
                  <a:txBody>
                    <a:bodyPr/>
                    <a:lstStyle/>
                    <a:p>
                      <a:r>
                        <a:rPr lang="en-IN" sz="120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Loan Granted?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r>
                        <a:rPr lang="en-IN" sz="1200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r>
                        <a:rPr lang="en-IN" sz="1200" dirty="0"/>
                        <a:t>  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r>
                        <a:rPr lang="en-IN" sz="1200" dirty="0"/>
                        <a:t>200000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351027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r>
                        <a:rPr lang="en-IN" sz="1200" dirty="0"/>
                        <a:t>150000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91324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r>
                        <a:rPr lang="en-IN" sz="1200" dirty="0"/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541946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r>
                        <a:rPr lang="en-IN" sz="1200" dirty="0"/>
                        <a:t>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0695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FA6D32-DEA3-1E1E-6801-BA40E1D795D2}"/>
                  </a:ext>
                </a:extLst>
              </p:cNvPr>
              <p:cNvSpPr txBox="1"/>
              <p:nvPr/>
            </p:nvSpPr>
            <p:spPr>
              <a:xfrm>
                <a:off x="2818244" y="267799"/>
                <a:ext cx="2693757" cy="116955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b="1" dirty="0">
                    <a:solidFill>
                      <a:srgbClr val="FF0000"/>
                    </a:solidFill>
                  </a:rPr>
                  <a:t>Entropy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−Ʃ</m:t>
                      </m:r>
                      <m:r>
                        <a:rPr lang="en-IN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𝐩𝐢</m:t>
                      </m:r>
                      <m:r>
                        <a:rPr lang="en-IN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𝐥𝐨𝐠</m:t>
                      </m:r>
                      <m:r>
                        <a:rPr lang="en-IN" sz="1400" b="1" i="1" baseline="-25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IN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IN" sz="1400" b="1" i="1" baseline="-25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IN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IN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𝐢</m:t>
                      </m:r>
                      <m:r>
                        <a:rPr lang="en-IN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𝐭𝐨</m:t>
                      </m:r>
                      <m:r>
                        <a:rPr lang="en-IN" sz="1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</m:oMath>
                  </m:oMathPara>
                </a14:m>
                <a:endParaRPr lang="en-IN" sz="1400" b="1" dirty="0">
                  <a:solidFill>
                    <a:srgbClr val="FF0000"/>
                  </a:solidFill>
                </a:endParaRPr>
              </a:p>
              <a:p>
                <a:endParaRPr lang="en-GB" sz="1400" dirty="0"/>
              </a:p>
              <a:p>
                <a:pPr algn="ctr"/>
                <a:r>
                  <a:rPr lang="en-IN" sz="1400" b="1" dirty="0">
                    <a:solidFill>
                      <a:srgbClr val="FF0000"/>
                    </a:solidFill>
                  </a:rPr>
                  <a:t>Information Gain (IG) formula</a:t>
                </a:r>
              </a:p>
              <a:p>
                <a:pPr algn="ctr"/>
                <a:r>
                  <a:rPr lang="en-IN" sz="1400" b="1" dirty="0">
                    <a:solidFill>
                      <a:srgbClr val="FF0000"/>
                    </a:solidFill>
                  </a:rPr>
                  <a:t>1 - Entropy</a:t>
                </a:r>
                <a:endParaRPr lang="en-GB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FA6D32-DEA3-1E1E-6801-BA40E1D79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244" y="267799"/>
                <a:ext cx="2693757" cy="1169551"/>
              </a:xfrm>
              <a:prstGeom prst="rect">
                <a:avLst/>
              </a:prstGeom>
              <a:blipFill>
                <a:blip r:embed="rId2"/>
                <a:stretch>
                  <a:fillRect t="-1042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E0E91A-465C-214D-55D3-A424F7807B20}"/>
                  </a:ext>
                </a:extLst>
              </p:cNvPr>
              <p:cNvSpPr txBox="1"/>
              <p:nvPr/>
            </p:nvSpPr>
            <p:spPr>
              <a:xfrm>
                <a:off x="182065" y="2881011"/>
                <a:ext cx="2693758" cy="72398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2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2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2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200" dirty="0"/>
                  <a:t>)]</a:t>
                </a:r>
              </a:p>
              <a:p>
                <a:r>
                  <a:rPr lang="en-IN" sz="1200" dirty="0"/>
                  <a:t>= - [(0.5 x -1) + (</a:t>
                </a:r>
                <a14:m>
                  <m:oMath xmlns:m="http://schemas.openxmlformats.org/officeDocument/2006/math">
                    <m:r>
                      <a:rPr lang="en-IN" sz="1200" b="0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IN" sz="1200" dirty="0"/>
                  <a:t> x -1)] </a:t>
                </a:r>
              </a:p>
              <a:p>
                <a:r>
                  <a:rPr lang="en-IN" sz="1200" dirty="0"/>
                  <a:t>= - [(-0.5) + (-0.5)] = </a:t>
                </a:r>
                <a:r>
                  <a:rPr lang="en-IN" sz="1200" b="1" dirty="0"/>
                  <a:t>1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E0E91A-465C-214D-55D3-A424F7807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65" y="2881011"/>
                <a:ext cx="2693758" cy="723981"/>
              </a:xfrm>
              <a:prstGeom prst="rect">
                <a:avLst/>
              </a:prstGeom>
              <a:blipFill>
                <a:blip r:embed="rId3"/>
                <a:stretch>
                  <a:fillRect l="-226" b="-67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45BCEEA-4573-482F-1D15-A3AC4A05200E}"/>
              </a:ext>
            </a:extLst>
          </p:cNvPr>
          <p:cNvSpPr txBox="1"/>
          <p:nvPr/>
        </p:nvSpPr>
        <p:spPr>
          <a:xfrm>
            <a:off x="5946503" y="427156"/>
            <a:ext cx="189162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Split on Age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76DFC2-63BB-C0A3-48B0-5C305EC842B7}"/>
                  </a:ext>
                </a:extLst>
              </p:cNvPr>
              <p:cNvSpPr txBox="1"/>
              <p:nvPr/>
            </p:nvSpPr>
            <p:spPr>
              <a:xfrm>
                <a:off x="5709766" y="1906997"/>
                <a:ext cx="2770539" cy="72282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2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2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12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1200" dirty="0"/>
                  <a:t>)]</a:t>
                </a:r>
              </a:p>
              <a:p>
                <a:r>
                  <a:rPr lang="en-IN" sz="1200" dirty="0"/>
                  <a:t>= - [(0.25 x -2) + (</a:t>
                </a:r>
                <a14:m>
                  <m:oMath xmlns:m="http://schemas.openxmlformats.org/officeDocument/2006/math">
                    <m:r>
                      <a:rPr lang="en-IN" sz="1200" b="0" i="1" dirty="0" smtClean="0"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r>
                  <a:rPr lang="en-IN" sz="1200" dirty="0"/>
                  <a:t> x -0.41)] </a:t>
                </a:r>
              </a:p>
              <a:p>
                <a:r>
                  <a:rPr lang="en-IN" sz="1200" dirty="0"/>
                  <a:t>= - [(-0.50) + (-0.30)] = 0.82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76DFC2-63BB-C0A3-48B0-5C305EC8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766" y="1906997"/>
                <a:ext cx="2770539" cy="722827"/>
              </a:xfrm>
              <a:prstGeom prst="rect">
                <a:avLst/>
              </a:prstGeom>
              <a:blipFill>
                <a:blip r:embed="rId4"/>
                <a:stretch>
                  <a:fillRect l="-220" b="-67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7AABE8-7CBC-8F9C-0959-F1B0CBA8D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209243"/>
              </p:ext>
            </p:extLst>
          </p:nvPr>
        </p:nvGraphicFramePr>
        <p:xfrm>
          <a:off x="5709766" y="843837"/>
          <a:ext cx="2693757" cy="100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97919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897919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897919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236545">
                <a:tc>
                  <a:txBody>
                    <a:bodyPr/>
                    <a:lstStyle/>
                    <a:p>
                      <a:r>
                        <a:rPr lang="en-IN" sz="120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236545">
                <a:tc>
                  <a:txBody>
                    <a:bodyPr/>
                    <a:lstStyle/>
                    <a:p>
                      <a:r>
                        <a:rPr lang="en-IN" sz="1200" dirty="0"/>
                        <a:t>Age &gt;=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Yes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236545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=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D62E5A-D878-CDC0-7B8A-36B566F670FA}"/>
                  </a:ext>
                </a:extLst>
              </p:cNvPr>
              <p:cNvSpPr txBox="1"/>
              <p:nvPr/>
            </p:nvSpPr>
            <p:spPr>
              <a:xfrm>
                <a:off x="5709765" y="3926307"/>
                <a:ext cx="2849550" cy="72282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2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2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2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200" dirty="0"/>
                  <a:t>)]</a:t>
                </a:r>
              </a:p>
              <a:p>
                <a:r>
                  <a:rPr lang="en-IN" sz="1200" dirty="0"/>
                  <a:t>= - [(1 x 0) + (</a:t>
                </a:r>
                <a14:m>
                  <m:oMath xmlns:m="http://schemas.openxmlformats.org/officeDocument/2006/math">
                    <m:r>
                      <a:rPr lang="en-IN" sz="12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1200" dirty="0"/>
                  <a:t> x 0)] </a:t>
                </a:r>
              </a:p>
              <a:p>
                <a:r>
                  <a:rPr lang="en-IN" sz="1200" dirty="0"/>
                  <a:t>= - [(0) + (0)] = 0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D62E5A-D878-CDC0-7B8A-36B566F67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765" y="3926307"/>
                <a:ext cx="2849550" cy="722827"/>
              </a:xfrm>
              <a:prstGeom prst="rect">
                <a:avLst/>
              </a:prstGeom>
              <a:blipFill>
                <a:blip r:embed="rId5"/>
                <a:stretch>
                  <a:fillRect l="-214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84E3BD-FEA1-6C0A-0B45-66EEB7DBF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419171"/>
              </p:ext>
            </p:extLst>
          </p:nvPr>
        </p:nvGraphicFramePr>
        <p:xfrm>
          <a:off x="5709765" y="2814394"/>
          <a:ext cx="2693757" cy="10532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97919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897919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897919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298038">
                <a:tc>
                  <a:txBody>
                    <a:bodyPr/>
                    <a:lstStyle/>
                    <a:p>
                      <a:r>
                        <a:rPr lang="en-IN" sz="1200" dirty="0"/>
                        <a:t>Age &lt;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Yes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298038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E7D676-BD27-019F-2C20-F8764BC2EDE4}"/>
                  </a:ext>
                </a:extLst>
              </p:cNvPr>
              <p:cNvSpPr txBox="1"/>
              <p:nvPr/>
            </p:nvSpPr>
            <p:spPr>
              <a:xfrm>
                <a:off x="5709766" y="4934495"/>
                <a:ext cx="2770540" cy="8292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/>
                  <a:t>Weighted average </a:t>
                </a:r>
              </a:p>
              <a:p>
                <a:pPr algn="ctr"/>
                <a:r>
                  <a:rPr lang="en-IN" sz="1400" dirty="0"/>
                  <a:t>= (0.82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400" dirty="0"/>
                  <a:t>) + (0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400" dirty="0"/>
                  <a:t>) </a:t>
                </a:r>
              </a:p>
              <a:p>
                <a:pPr algn="ctr"/>
                <a:r>
                  <a:rPr lang="en-IN" sz="1400" dirty="0"/>
                  <a:t>= 0.54 + 0 = 0.54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E7D676-BD27-019F-2C20-F8764BC2E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766" y="4934495"/>
                <a:ext cx="2770540" cy="829201"/>
              </a:xfrm>
              <a:prstGeom prst="rect">
                <a:avLst/>
              </a:prstGeom>
              <a:blipFill>
                <a:blip r:embed="rId6"/>
                <a:stretch>
                  <a:fillRect t="-735" b="-73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0EB1A8F-EA89-F8BB-C486-2A184BBB87F2}"/>
              </a:ext>
            </a:extLst>
          </p:cNvPr>
          <p:cNvSpPr txBox="1"/>
          <p:nvPr/>
        </p:nvSpPr>
        <p:spPr>
          <a:xfrm>
            <a:off x="9212051" y="427156"/>
            <a:ext cx="189162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Split on Income</a:t>
            </a:r>
            <a:endParaRPr lang="en-GB" b="1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8565834-75A5-03B5-A4C4-E7D2F02B5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492929"/>
              </p:ext>
            </p:extLst>
          </p:nvPr>
        </p:nvGraphicFramePr>
        <p:xfrm>
          <a:off x="8768252" y="843796"/>
          <a:ext cx="2608809" cy="100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9018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610188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869603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241615">
                <a:tc>
                  <a:txBody>
                    <a:bodyPr/>
                    <a:lstStyle/>
                    <a:p>
                      <a:r>
                        <a:rPr lang="en-IN" sz="120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241615">
                <a:tc>
                  <a:txBody>
                    <a:bodyPr/>
                    <a:lstStyle/>
                    <a:p>
                      <a:r>
                        <a:rPr lang="en-IN" sz="1200" dirty="0"/>
                        <a:t>Income &gt;= 1.5L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Yes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241615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D57444-AED0-24AF-E9AA-DB04EAD852E4}"/>
                  </a:ext>
                </a:extLst>
              </p:cNvPr>
              <p:cNvSpPr txBox="1"/>
              <p:nvPr/>
            </p:nvSpPr>
            <p:spPr>
              <a:xfrm>
                <a:off x="8725776" y="1896944"/>
                <a:ext cx="2825789" cy="73288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2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2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)]</a:t>
                </a:r>
              </a:p>
              <a:p>
                <a:r>
                  <a:rPr lang="en-IN" sz="1200" dirty="0"/>
                  <a:t>= - [(0.66 x -0.585) + (</a:t>
                </a:r>
                <a14:m>
                  <m:oMath xmlns:m="http://schemas.openxmlformats.org/officeDocument/2006/math">
                    <m:r>
                      <a:rPr lang="en-IN" sz="1200" b="0" i="1" dirty="0" smtClean="0">
                        <a:latin typeface="Cambria Math" panose="02040503050406030204" pitchFamily="18" charset="0"/>
                      </a:rPr>
                      <m:t>0.33</m:t>
                    </m:r>
                  </m:oMath>
                </a14:m>
                <a:r>
                  <a:rPr lang="en-IN" sz="1200" dirty="0"/>
                  <a:t> x -1.58)] </a:t>
                </a:r>
              </a:p>
              <a:p>
                <a:r>
                  <a:rPr lang="en-IN" sz="1200" dirty="0"/>
                  <a:t>= - [(-0.38) + (-0.52)] = 0.9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D57444-AED0-24AF-E9AA-DB04EAD85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776" y="1896944"/>
                <a:ext cx="2825789" cy="732880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82DD022-B5AB-9EE1-7539-67BB52C01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541883"/>
              </p:ext>
            </p:extLst>
          </p:nvPr>
        </p:nvGraphicFramePr>
        <p:xfrm>
          <a:off x="8725776" y="2814395"/>
          <a:ext cx="2769948" cy="100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22633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723999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923316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244293">
                <a:tc>
                  <a:txBody>
                    <a:bodyPr/>
                    <a:lstStyle/>
                    <a:p>
                      <a:r>
                        <a:rPr lang="en-IN" sz="120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244293">
                <a:tc>
                  <a:txBody>
                    <a:bodyPr/>
                    <a:lstStyle/>
                    <a:p>
                      <a:r>
                        <a:rPr lang="en-IN" sz="1200" dirty="0"/>
                        <a:t>Income &lt; 1.5L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Yes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244293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1B0BD9-BE87-C8D3-7288-270F0753C13F}"/>
                  </a:ext>
                </a:extLst>
              </p:cNvPr>
              <p:cNvSpPr txBox="1"/>
              <p:nvPr/>
            </p:nvSpPr>
            <p:spPr>
              <a:xfrm>
                <a:off x="8768252" y="3925410"/>
                <a:ext cx="3017073" cy="723724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2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2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2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2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1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1200" dirty="0"/>
                  <a:t>)]</a:t>
                </a:r>
              </a:p>
              <a:p>
                <a:r>
                  <a:rPr lang="en-IN" sz="1200" dirty="0"/>
                  <a:t>= - [(0.33 x -1.58) + (</a:t>
                </a:r>
                <a14:m>
                  <m:oMath xmlns:m="http://schemas.openxmlformats.org/officeDocument/2006/math">
                    <m:r>
                      <a:rPr lang="en-IN" sz="1200" b="0" i="1" dirty="0" smtClean="0">
                        <a:latin typeface="Cambria Math" panose="02040503050406030204" pitchFamily="18" charset="0"/>
                      </a:rPr>
                      <m:t>0.66</m:t>
                    </m:r>
                  </m:oMath>
                </a14:m>
                <a:r>
                  <a:rPr lang="en-IN" sz="1200" dirty="0"/>
                  <a:t> x -0.585)] </a:t>
                </a:r>
              </a:p>
              <a:p>
                <a:r>
                  <a:rPr lang="en-IN" sz="1200" dirty="0"/>
                  <a:t>= - [(-0.52) + (-0.38)] = 0.9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1B0BD9-BE87-C8D3-7288-270F0753C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252" y="3925410"/>
                <a:ext cx="3017073" cy="723724"/>
              </a:xfrm>
              <a:prstGeom prst="rect">
                <a:avLst/>
              </a:prstGeom>
              <a:blipFill>
                <a:blip r:embed="rId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B6C71E-39DE-BC41-6667-4D9C46285586}"/>
                  </a:ext>
                </a:extLst>
              </p:cNvPr>
              <p:cNvSpPr txBox="1"/>
              <p:nvPr/>
            </p:nvSpPr>
            <p:spPr>
              <a:xfrm>
                <a:off x="8778114" y="4934495"/>
                <a:ext cx="2864194" cy="8292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dirty="0"/>
                  <a:t>Weighted average </a:t>
                </a:r>
              </a:p>
              <a:p>
                <a:pPr algn="ctr"/>
                <a:r>
                  <a:rPr lang="en-IN" sz="1400" dirty="0"/>
                  <a:t>= (0.9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400" dirty="0"/>
                  <a:t>) + (0.9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1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1400" dirty="0"/>
                  <a:t>) </a:t>
                </a:r>
              </a:p>
              <a:p>
                <a:pPr algn="ctr"/>
                <a:r>
                  <a:rPr lang="en-IN" sz="1400" dirty="0"/>
                  <a:t>= 0.45 + 0.45 = 0.90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B6C71E-39DE-BC41-6667-4D9C46285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114" y="4934495"/>
                <a:ext cx="2864194" cy="829201"/>
              </a:xfrm>
              <a:prstGeom prst="rect">
                <a:avLst/>
              </a:prstGeom>
              <a:blipFill>
                <a:blip r:embed="rId9"/>
                <a:stretch>
                  <a:fillRect t="-735" b="-73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0CFB1A7-9E93-EECD-43D3-EA4BE503E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91578"/>
              </p:ext>
            </p:extLst>
          </p:nvPr>
        </p:nvGraphicFramePr>
        <p:xfrm>
          <a:off x="182065" y="3944098"/>
          <a:ext cx="4822704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568">
                  <a:extLst>
                    <a:ext uri="{9D8B030D-6E8A-4147-A177-3AD203B41FA5}">
                      <a16:colId xmlns:a16="http://schemas.microsoft.com/office/drawing/2014/main" val="3095583132"/>
                    </a:ext>
                  </a:extLst>
                </a:gridCol>
                <a:gridCol w="1607568">
                  <a:extLst>
                    <a:ext uri="{9D8B030D-6E8A-4147-A177-3AD203B41FA5}">
                      <a16:colId xmlns:a16="http://schemas.microsoft.com/office/drawing/2014/main" val="260849839"/>
                    </a:ext>
                  </a:extLst>
                </a:gridCol>
                <a:gridCol w="1607568">
                  <a:extLst>
                    <a:ext uri="{9D8B030D-6E8A-4147-A177-3AD203B41FA5}">
                      <a16:colId xmlns:a16="http://schemas.microsoft.com/office/drawing/2014/main" val="1370531593"/>
                    </a:ext>
                  </a:extLst>
                </a:gridCol>
              </a:tblGrid>
              <a:tr h="442296">
                <a:tc>
                  <a:txBody>
                    <a:bodyPr/>
                    <a:lstStyle/>
                    <a:p>
                      <a:r>
                        <a:rPr lang="en-IN" sz="14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Entropy  Reduction (Information Gain)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945739"/>
                  </a:ext>
                </a:extLst>
              </a:tr>
              <a:tr h="260174">
                <a:tc>
                  <a:txBody>
                    <a:bodyPr/>
                    <a:lstStyle/>
                    <a:p>
                      <a:r>
                        <a:rPr lang="en-IN" sz="1400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326886"/>
                  </a:ext>
                </a:extLst>
              </a:tr>
              <a:tr h="260174">
                <a:tc>
                  <a:txBody>
                    <a:bodyPr/>
                    <a:lstStyle/>
                    <a:p>
                      <a:r>
                        <a:rPr lang="en-IN" sz="1400" dirty="0"/>
                        <a:t>Split on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 – 0.54 = 0.46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125669"/>
                  </a:ext>
                </a:extLst>
              </a:tr>
              <a:tr h="260174">
                <a:tc>
                  <a:txBody>
                    <a:bodyPr/>
                    <a:lstStyle/>
                    <a:p>
                      <a:r>
                        <a:rPr lang="en-IN" sz="1400" dirty="0"/>
                        <a:t>Split on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 – 0.90 = 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979880"/>
                  </a:ext>
                </a:extLst>
              </a:tr>
            </a:tbl>
          </a:graphicData>
        </a:graphic>
      </p:graphicFrame>
      <p:sp>
        <p:nvSpPr>
          <p:cNvPr id="20" name="Arrow: Up 19">
            <a:extLst>
              <a:ext uri="{FF2B5EF4-FFF2-40B4-BE49-F238E27FC236}">
                <a16:creationId xmlns:a16="http://schemas.microsoft.com/office/drawing/2014/main" id="{A8DC7C3A-4321-0255-1609-6E807D43E0A0}"/>
              </a:ext>
            </a:extLst>
          </p:cNvPr>
          <p:cNvSpPr/>
          <p:nvPr/>
        </p:nvSpPr>
        <p:spPr>
          <a:xfrm>
            <a:off x="2843555" y="1092507"/>
            <a:ext cx="190224" cy="272226"/>
          </a:xfrm>
          <a:prstGeom prst="up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4061080C-31AF-7DD5-5B19-24F53A1640E4}"/>
              </a:ext>
            </a:extLst>
          </p:cNvPr>
          <p:cNvSpPr/>
          <p:nvPr/>
        </p:nvSpPr>
        <p:spPr>
          <a:xfrm rot="10800000">
            <a:off x="2843555" y="490191"/>
            <a:ext cx="190224" cy="272226"/>
          </a:xfrm>
          <a:prstGeom prst="up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Sun 21">
            <a:extLst>
              <a:ext uri="{FF2B5EF4-FFF2-40B4-BE49-F238E27FC236}">
                <a16:creationId xmlns:a16="http://schemas.microsoft.com/office/drawing/2014/main" id="{48CBFC59-27A3-F8AF-4779-67257B3AC9DA}"/>
              </a:ext>
            </a:extLst>
          </p:cNvPr>
          <p:cNvSpPr/>
          <p:nvPr/>
        </p:nvSpPr>
        <p:spPr>
          <a:xfrm>
            <a:off x="1292489" y="5213866"/>
            <a:ext cx="2351151" cy="1494060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Split on Age is better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199769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2D79-9BB4-FA45-5281-6EB92A46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Tree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B6FA4-AD37-1D87-D59C-3B5CC5708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6C00A-D6AC-2EB5-8D9A-92B712C03DEF}"/>
              </a:ext>
            </a:extLst>
          </p:cNvPr>
          <p:cNvSpPr txBox="1"/>
          <p:nvPr/>
        </p:nvSpPr>
        <p:spPr>
          <a:xfrm>
            <a:off x="4866776" y="1006867"/>
            <a:ext cx="235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noProof="0" dirty="0"/>
              <a:t>Label: </a:t>
            </a:r>
            <a:r>
              <a:rPr lang="en-IN" b="1" noProof="0" dirty="0"/>
              <a:t>Loan Granted?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821E8F3-74E5-BE4F-56B7-9804E2EAD64C}"/>
              </a:ext>
            </a:extLst>
          </p:cNvPr>
          <p:cNvGrpSpPr/>
          <p:nvPr/>
        </p:nvGrpSpPr>
        <p:grpSpPr>
          <a:xfrm>
            <a:off x="5509545" y="1402039"/>
            <a:ext cx="1273047" cy="1243780"/>
            <a:chOff x="5237319" y="2246637"/>
            <a:chExt cx="1273047" cy="12437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527ACA-CBB7-09FE-368D-9E0754247A34}"/>
                </a:ext>
              </a:extLst>
            </p:cNvPr>
            <p:cNvSpPr/>
            <p:nvPr/>
          </p:nvSpPr>
          <p:spPr>
            <a:xfrm>
              <a:off x="5237319" y="2246637"/>
              <a:ext cx="1273047" cy="12437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29807FA-8FBB-39B7-B3EC-AF3BFCDA2848}"/>
                </a:ext>
              </a:extLst>
            </p:cNvPr>
            <p:cNvSpPr/>
            <p:nvPr/>
          </p:nvSpPr>
          <p:spPr>
            <a:xfrm>
              <a:off x="5444225" y="2547559"/>
              <a:ext cx="259882" cy="259882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8FA3067-6BE0-311C-8CFE-04C35B1BBFA7}"/>
                </a:ext>
              </a:extLst>
            </p:cNvPr>
            <p:cNvSpPr/>
            <p:nvPr/>
          </p:nvSpPr>
          <p:spPr>
            <a:xfrm>
              <a:off x="6002720" y="2544813"/>
              <a:ext cx="259882" cy="259882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0159398-685D-11D4-3B57-D4AE734018F8}"/>
                </a:ext>
              </a:extLst>
            </p:cNvPr>
            <p:cNvSpPr/>
            <p:nvPr/>
          </p:nvSpPr>
          <p:spPr>
            <a:xfrm>
              <a:off x="5726503" y="2946828"/>
              <a:ext cx="259882" cy="259882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CD36754-C4F5-BE96-D778-F6B3F68E2CFD}"/>
                </a:ext>
              </a:extLst>
            </p:cNvPr>
            <p:cNvSpPr/>
            <p:nvPr/>
          </p:nvSpPr>
          <p:spPr>
            <a:xfrm>
              <a:off x="5726503" y="2533599"/>
              <a:ext cx="259882" cy="259882"/>
            </a:xfrm>
            <a:prstGeom prst="ellipse">
              <a:avLst/>
            </a:prstGeom>
            <a:solidFill>
              <a:srgbClr val="FF0000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5BA44C0-5F4F-DAC6-2B92-4E0BDAE18865}"/>
                </a:ext>
              </a:extLst>
            </p:cNvPr>
            <p:cNvSpPr/>
            <p:nvPr/>
          </p:nvSpPr>
          <p:spPr>
            <a:xfrm>
              <a:off x="6020042" y="2945893"/>
              <a:ext cx="259882" cy="259882"/>
            </a:xfrm>
            <a:prstGeom prst="ellipse">
              <a:avLst/>
            </a:prstGeom>
            <a:solidFill>
              <a:srgbClr val="FF0000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57D3F32-AC36-6538-3DC9-1C467F36048E}"/>
                </a:ext>
              </a:extLst>
            </p:cNvPr>
            <p:cNvSpPr/>
            <p:nvPr/>
          </p:nvSpPr>
          <p:spPr>
            <a:xfrm>
              <a:off x="5432964" y="2942378"/>
              <a:ext cx="259882" cy="259882"/>
            </a:xfrm>
            <a:prstGeom prst="ellipse">
              <a:avLst/>
            </a:prstGeom>
            <a:solidFill>
              <a:srgbClr val="FF0000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noProof="0" dirty="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4B938E0-A32E-2F60-5EFC-C7D05779E485}"/>
              </a:ext>
            </a:extLst>
          </p:cNvPr>
          <p:cNvSpPr txBox="1"/>
          <p:nvPr/>
        </p:nvSpPr>
        <p:spPr>
          <a:xfrm>
            <a:off x="5084939" y="2639507"/>
            <a:ext cx="108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No: 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A0111A-126C-B3CE-D1A9-D1639510890B}"/>
              </a:ext>
            </a:extLst>
          </p:cNvPr>
          <p:cNvSpPr txBox="1"/>
          <p:nvPr/>
        </p:nvSpPr>
        <p:spPr>
          <a:xfrm>
            <a:off x="6238364" y="2639507"/>
            <a:ext cx="108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chemeClr val="accent6">
                    <a:lumMod val="75000"/>
                  </a:schemeClr>
                </a:solidFill>
              </a:rPr>
              <a:t>Yes: 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1CEB6E-7DAB-96EA-0224-B67584FDD451}"/>
              </a:ext>
            </a:extLst>
          </p:cNvPr>
          <p:cNvCxnSpPr>
            <a:cxnSpLocks/>
          </p:cNvCxnSpPr>
          <p:nvPr/>
        </p:nvCxnSpPr>
        <p:spPr>
          <a:xfrm>
            <a:off x="6157497" y="2637268"/>
            <a:ext cx="0" cy="525853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63479E-7789-2039-E32E-3019CAC2D78A}"/>
              </a:ext>
            </a:extLst>
          </p:cNvPr>
          <p:cNvSpPr txBox="1"/>
          <p:nvPr/>
        </p:nvSpPr>
        <p:spPr>
          <a:xfrm>
            <a:off x="5613269" y="3160409"/>
            <a:ext cx="108845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Age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3D4BF43-65A6-4099-D397-54EA4575564E}"/>
              </a:ext>
            </a:extLst>
          </p:cNvPr>
          <p:cNvSpPr/>
          <p:nvPr/>
        </p:nvSpPr>
        <p:spPr>
          <a:xfrm>
            <a:off x="4717775" y="3507118"/>
            <a:ext cx="911791" cy="69921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chemeClr val="tx1"/>
                </a:solidFill>
              </a:rPr>
              <a:t>&gt;=30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8F76C1-B48E-59EF-E1E9-3F818F87F9C0}"/>
              </a:ext>
            </a:extLst>
          </p:cNvPr>
          <p:cNvSpPr/>
          <p:nvPr/>
        </p:nvSpPr>
        <p:spPr>
          <a:xfrm>
            <a:off x="6656241" y="3518077"/>
            <a:ext cx="907530" cy="68679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chemeClr val="tx1"/>
                </a:solidFill>
              </a:rPr>
              <a:t>&lt;30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D79DCE9-A734-1640-5962-62ADC29E990C}"/>
              </a:ext>
            </a:extLst>
          </p:cNvPr>
          <p:cNvCxnSpPr>
            <a:cxnSpLocks/>
          </p:cNvCxnSpPr>
          <p:nvPr/>
        </p:nvCxnSpPr>
        <p:spPr>
          <a:xfrm flipH="1">
            <a:off x="5446142" y="3578154"/>
            <a:ext cx="666737" cy="1173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C80DBFC-40D9-B54B-CEF9-FAC7F14EAA02}"/>
              </a:ext>
            </a:extLst>
          </p:cNvPr>
          <p:cNvCxnSpPr>
            <a:cxnSpLocks/>
          </p:cNvCxnSpPr>
          <p:nvPr/>
        </p:nvCxnSpPr>
        <p:spPr>
          <a:xfrm>
            <a:off x="6257861" y="3578154"/>
            <a:ext cx="508933" cy="2395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DCFE110-C1FD-DF83-1C45-A81DCB4CF0AE}"/>
              </a:ext>
            </a:extLst>
          </p:cNvPr>
          <p:cNvSpPr/>
          <p:nvPr/>
        </p:nvSpPr>
        <p:spPr>
          <a:xfrm>
            <a:off x="4548901" y="4272147"/>
            <a:ext cx="1273047" cy="12437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321486F-63A9-0DD4-A003-CCBD53DD3F66}"/>
              </a:ext>
            </a:extLst>
          </p:cNvPr>
          <p:cNvSpPr/>
          <p:nvPr/>
        </p:nvSpPr>
        <p:spPr>
          <a:xfrm>
            <a:off x="5038085" y="4972338"/>
            <a:ext cx="259882" cy="25988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D045511-1C65-7EC4-4594-CF6684860B35}"/>
              </a:ext>
            </a:extLst>
          </p:cNvPr>
          <p:cNvSpPr/>
          <p:nvPr/>
        </p:nvSpPr>
        <p:spPr>
          <a:xfrm>
            <a:off x="5038085" y="4559109"/>
            <a:ext cx="259882" cy="259882"/>
          </a:xfrm>
          <a:prstGeom prst="ellipse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59FF10C-8BBE-76B3-1A9E-470388876E15}"/>
              </a:ext>
            </a:extLst>
          </p:cNvPr>
          <p:cNvSpPr/>
          <p:nvPr/>
        </p:nvSpPr>
        <p:spPr>
          <a:xfrm>
            <a:off x="5331624" y="4971403"/>
            <a:ext cx="259882" cy="259882"/>
          </a:xfrm>
          <a:prstGeom prst="ellipse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2EED259-3F5C-7CAA-118D-AC495A221792}"/>
              </a:ext>
            </a:extLst>
          </p:cNvPr>
          <p:cNvSpPr/>
          <p:nvPr/>
        </p:nvSpPr>
        <p:spPr>
          <a:xfrm>
            <a:off x="4744546" y="4967888"/>
            <a:ext cx="259882" cy="259882"/>
          </a:xfrm>
          <a:prstGeom prst="ellipse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FAB28CF-61E9-7851-42AA-842B131F139E}"/>
              </a:ext>
            </a:extLst>
          </p:cNvPr>
          <p:cNvSpPr/>
          <p:nvPr/>
        </p:nvSpPr>
        <p:spPr>
          <a:xfrm>
            <a:off x="6587752" y="4270095"/>
            <a:ext cx="1273047" cy="12437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45F3E8C-CDE5-2DF5-1E5A-7E3F11A4A84E}"/>
              </a:ext>
            </a:extLst>
          </p:cNvPr>
          <p:cNvSpPr/>
          <p:nvPr/>
        </p:nvSpPr>
        <p:spPr>
          <a:xfrm>
            <a:off x="6980065" y="4632103"/>
            <a:ext cx="259882" cy="25988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468A789-F398-34F6-80BE-4C17615A6FBB}"/>
              </a:ext>
            </a:extLst>
          </p:cNvPr>
          <p:cNvSpPr/>
          <p:nvPr/>
        </p:nvSpPr>
        <p:spPr>
          <a:xfrm>
            <a:off x="7279487" y="4621240"/>
            <a:ext cx="259882" cy="25988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DD32D5-A3AC-0052-3105-934067AAD5AE}"/>
              </a:ext>
            </a:extLst>
          </p:cNvPr>
          <p:cNvSpPr txBox="1"/>
          <p:nvPr/>
        </p:nvSpPr>
        <p:spPr>
          <a:xfrm>
            <a:off x="3974731" y="5534930"/>
            <a:ext cx="108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No: 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D503E4-6A12-67EC-8980-EB11F684CEDB}"/>
              </a:ext>
            </a:extLst>
          </p:cNvPr>
          <p:cNvSpPr txBox="1"/>
          <p:nvPr/>
        </p:nvSpPr>
        <p:spPr>
          <a:xfrm>
            <a:off x="5128156" y="5534930"/>
            <a:ext cx="108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chemeClr val="accent6">
                    <a:lumMod val="75000"/>
                  </a:schemeClr>
                </a:solidFill>
              </a:rPr>
              <a:t>Yes: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en-IN" b="1" noProof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3C64C2-0C4A-182D-2779-B37C5C56A8B7}"/>
              </a:ext>
            </a:extLst>
          </p:cNvPr>
          <p:cNvSpPr txBox="1"/>
          <p:nvPr/>
        </p:nvSpPr>
        <p:spPr>
          <a:xfrm>
            <a:off x="6086522" y="5531774"/>
            <a:ext cx="108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No: 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23EDEB-BE61-72CE-7C31-D2AE1FF200DE}"/>
              </a:ext>
            </a:extLst>
          </p:cNvPr>
          <p:cNvSpPr txBox="1"/>
          <p:nvPr/>
        </p:nvSpPr>
        <p:spPr>
          <a:xfrm>
            <a:off x="7239947" y="5531774"/>
            <a:ext cx="108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chemeClr val="accent6">
                    <a:lumMod val="75000"/>
                  </a:schemeClr>
                </a:solidFill>
              </a:rPr>
              <a:t>Yes: 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BFB0F1-52B1-8F98-6B65-1E21A1F265F7}"/>
              </a:ext>
            </a:extLst>
          </p:cNvPr>
          <p:cNvSpPr txBox="1"/>
          <p:nvPr/>
        </p:nvSpPr>
        <p:spPr>
          <a:xfrm>
            <a:off x="1737257" y="2645819"/>
            <a:ext cx="1790299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Features</a:t>
            </a:r>
          </a:p>
          <a:p>
            <a:pPr algn="ctr"/>
            <a:endParaRPr lang="en-IN" noProof="0" dirty="0"/>
          </a:p>
          <a:p>
            <a:pPr algn="ctr"/>
            <a:r>
              <a:rPr lang="en-IN" b="1" noProof="0" dirty="0"/>
              <a:t>Age </a:t>
            </a:r>
          </a:p>
          <a:p>
            <a:pPr algn="ctr"/>
            <a:endParaRPr lang="en-IN" b="1" noProof="0" dirty="0"/>
          </a:p>
          <a:p>
            <a:pPr algn="ctr"/>
            <a:r>
              <a:rPr lang="en-IN" b="1" noProof="0" dirty="0"/>
              <a:t>Income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312DFA2-F54D-FE5A-FB27-04D854801AA7}"/>
              </a:ext>
            </a:extLst>
          </p:cNvPr>
          <p:cNvSpPr/>
          <p:nvPr/>
        </p:nvSpPr>
        <p:spPr>
          <a:xfrm>
            <a:off x="3011879" y="2763520"/>
            <a:ext cx="2568905" cy="875899"/>
          </a:xfrm>
          <a:custGeom>
            <a:avLst/>
            <a:gdLst>
              <a:gd name="connsiteX0" fmla="*/ 0 w 4475747"/>
              <a:gd name="connsiteY0" fmla="*/ 616017 h 875899"/>
              <a:gd name="connsiteX1" fmla="*/ 336884 w 4475747"/>
              <a:gd name="connsiteY1" fmla="*/ 837398 h 875899"/>
              <a:gd name="connsiteX2" fmla="*/ 606392 w 4475747"/>
              <a:gd name="connsiteY2" fmla="*/ 875899 h 875899"/>
              <a:gd name="connsiteX3" fmla="*/ 1164657 w 4475747"/>
              <a:gd name="connsiteY3" fmla="*/ 741145 h 875899"/>
              <a:gd name="connsiteX4" fmla="*/ 1212783 w 4475747"/>
              <a:gd name="connsiteY4" fmla="*/ 721894 h 875899"/>
              <a:gd name="connsiteX5" fmla="*/ 1376413 w 4475747"/>
              <a:gd name="connsiteY5" fmla="*/ 606391 h 875899"/>
              <a:gd name="connsiteX6" fmla="*/ 1434164 w 4475747"/>
              <a:gd name="connsiteY6" fmla="*/ 433137 h 875899"/>
              <a:gd name="connsiteX7" fmla="*/ 1549667 w 4475747"/>
              <a:gd name="connsiteY7" fmla="*/ 192505 h 875899"/>
              <a:gd name="connsiteX8" fmla="*/ 1559293 w 4475747"/>
              <a:gd name="connsiteY8" fmla="*/ 154004 h 875899"/>
              <a:gd name="connsiteX9" fmla="*/ 1645920 w 4475747"/>
              <a:gd name="connsiteY9" fmla="*/ 134753 h 875899"/>
              <a:gd name="connsiteX10" fmla="*/ 1751798 w 4475747"/>
              <a:gd name="connsiteY10" fmla="*/ 96252 h 875899"/>
              <a:gd name="connsiteX11" fmla="*/ 2136808 w 4475747"/>
              <a:gd name="connsiteY11" fmla="*/ 38501 h 875899"/>
              <a:gd name="connsiteX12" fmla="*/ 2310063 w 4475747"/>
              <a:gd name="connsiteY12" fmla="*/ 19250 h 875899"/>
              <a:gd name="connsiteX13" fmla="*/ 2637322 w 4475747"/>
              <a:gd name="connsiteY13" fmla="*/ 0 h 875899"/>
              <a:gd name="connsiteX14" fmla="*/ 3003082 w 4475747"/>
              <a:gd name="connsiteY14" fmla="*/ 19250 h 875899"/>
              <a:gd name="connsiteX15" fmla="*/ 3205213 w 4475747"/>
              <a:gd name="connsiteY15" fmla="*/ 38501 h 875899"/>
              <a:gd name="connsiteX16" fmla="*/ 3397718 w 4475747"/>
              <a:gd name="connsiteY16" fmla="*/ 86627 h 875899"/>
              <a:gd name="connsiteX17" fmla="*/ 3513221 w 4475747"/>
              <a:gd name="connsiteY17" fmla="*/ 115503 h 875899"/>
              <a:gd name="connsiteX18" fmla="*/ 3628724 w 4475747"/>
              <a:gd name="connsiteY18" fmla="*/ 202130 h 875899"/>
              <a:gd name="connsiteX19" fmla="*/ 3753853 w 4475747"/>
              <a:gd name="connsiteY19" fmla="*/ 279132 h 875899"/>
              <a:gd name="connsiteX20" fmla="*/ 3850105 w 4475747"/>
              <a:gd name="connsiteY20" fmla="*/ 327259 h 875899"/>
              <a:gd name="connsiteX21" fmla="*/ 3917482 w 4475747"/>
              <a:gd name="connsiteY21" fmla="*/ 375385 h 875899"/>
              <a:gd name="connsiteX22" fmla="*/ 3984859 w 4475747"/>
              <a:gd name="connsiteY22" fmla="*/ 404261 h 875899"/>
              <a:gd name="connsiteX23" fmla="*/ 4042611 w 4475747"/>
              <a:gd name="connsiteY23" fmla="*/ 433137 h 875899"/>
              <a:gd name="connsiteX24" fmla="*/ 4167739 w 4475747"/>
              <a:gd name="connsiteY24" fmla="*/ 490888 h 875899"/>
              <a:gd name="connsiteX25" fmla="*/ 4215865 w 4475747"/>
              <a:gd name="connsiteY25" fmla="*/ 519764 h 875899"/>
              <a:gd name="connsiteX26" fmla="*/ 4254366 w 4475747"/>
              <a:gd name="connsiteY26" fmla="*/ 539014 h 875899"/>
              <a:gd name="connsiteX27" fmla="*/ 4283242 w 4475747"/>
              <a:gd name="connsiteY27" fmla="*/ 558265 h 875899"/>
              <a:gd name="connsiteX28" fmla="*/ 4340994 w 4475747"/>
              <a:gd name="connsiteY28" fmla="*/ 567890 h 875899"/>
              <a:gd name="connsiteX29" fmla="*/ 4427621 w 4475747"/>
              <a:gd name="connsiteY29" fmla="*/ 616017 h 875899"/>
              <a:gd name="connsiteX30" fmla="*/ 4475747 w 4475747"/>
              <a:gd name="connsiteY30" fmla="*/ 635267 h 8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475747" h="875899">
                <a:moveTo>
                  <a:pt x="0" y="616017"/>
                </a:moveTo>
                <a:cubicBezTo>
                  <a:pt x="105811" y="704191"/>
                  <a:pt x="194092" y="782285"/>
                  <a:pt x="336884" y="837398"/>
                </a:cubicBezTo>
                <a:cubicBezTo>
                  <a:pt x="421545" y="870074"/>
                  <a:pt x="516556" y="863065"/>
                  <a:pt x="606392" y="875899"/>
                </a:cubicBezTo>
                <a:cubicBezTo>
                  <a:pt x="873674" y="816503"/>
                  <a:pt x="959674" y="809473"/>
                  <a:pt x="1164657" y="741145"/>
                </a:cubicBezTo>
                <a:cubicBezTo>
                  <a:pt x="1181048" y="735681"/>
                  <a:pt x="1198407" y="731478"/>
                  <a:pt x="1212783" y="721894"/>
                </a:cubicBezTo>
                <a:cubicBezTo>
                  <a:pt x="1433288" y="574891"/>
                  <a:pt x="1267940" y="660629"/>
                  <a:pt x="1376413" y="606391"/>
                </a:cubicBezTo>
                <a:cubicBezTo>
                  <a:pt x="1391103" y="558650"/>
                  <a:pt x="1410146" y="484604"/>
                  <a:pt x="1434164" y="433137"/>
                </a:cubicBezTo>
                <a:cubicBezTo>
                  <a:pt x="1471789" y="352512"/>
                  <a:pt x="1528086" y="278820"/>
                  <a:pt x="1549667" y="192505"/>
                </a:cubicBezTo>
                <a:cubicBezTo>
                  <a:pt x="1552876" y="179671"/>
                  <a:pt x="1547949" y="160810"/>
                  <a:pt x="1559293" y="154004"/>
                </a:cubicBezTo>
                <a:cubicBezTo>
                  <a:pt x="1584658" y="138785"/>
                  <a:pt x="1617587" y="143253"/>
                  <a:pt x="1645920" y="134753"/>
                </a:cubicBezTo>
                <a:cubicBezTo>
                  <a:pt x="1681890" y="123962"/>
                  <a:pt x="1715139" y="104399"/>
                  <a:pt x="1751798" y="96252"/>
                </a:cubicBezTo>
                <a:cubicBezTo>
                  <a:pt x="1817468" y="81659"/>
                  <a:pt x="2045142" y="49612"/>
                  <a:pt x="2136808" y="38501"/>
                </a:cubicBezTo>
                <a:cubicBezTo>
                  <a:pt x="2194493" y="31509"/>
                  <a:pt x="2252127" y="23707"/>
                  <a:pt x="2310063" y="19250"/>
                </a:cubicBezTo>
                <a:cubicBezTo>
                  <a:pt x="2419016" y="10869"/>
                  <a:pt x="2637322" y="0"/>
                  <a:pt x="2637322" y="0"/>
                </a:cubicBezTo>
                <a:lnTo>
                  <a:pt x="3003082" y="19250"/>
                </a:lnTo>
                <a:cubicBezTo>
                  <a:pt x="3035461" y="21232"/>
                  <a:pt x="3169790" y="34958"/>
                  <a:pt x="3205213" y="38501"/>
                </a:cubicBezTo>
                <a:cubicBezTo>
                  <a:pt x="3491599" y="104591"/>
                  <a:pt x="3213608" y="38177"/>
                  <a:pt x="3397718" y="86627"/>
                </a:cubicBezTo>
                <a:cubicBezTo>
                  <a:pt x="3436097" y="96727"/>
                  <a:pt x="3513221" y="115503"/>
                  <a:pt x="3513221" y="115503"/>
                </a:cubicBezTo>
                <a:cubicBezTo>
                  <a:pt x="3564244" y="183533"/>
                  <a:pt x="3523281" y="139823"/>
                  <a:pt x="3628724" y="202130"/>
                </a:cubicBezTo>
                <a:cubicBezTo>
                  <a:pt x="3670888" y="227045"/>
                  <a:pt x="3711218" y="255034"/>
                  <a:pt x="3753853" y="279132"/>
                </a:cubicBezTo>
                <a:cubicBezTo>
                  <a:pt x="3785081" y="296783"/>
                  <a:pt x="3819186" y="309072"/>
                  <a:pt x="3850105" y="327259"/>
                </a:cubicBezTo>
                <a:cubicBezTo>
                  <a:pt x="3873894" y="341253"/>
                  <a:pt x="3893519" y="361692"/>
                  <a:pt x="3917482" y="375385"/>
                </a:cubicBezTo>
                <a:cubicBezTo>
                  <a:pt x="3938697" y="387508"/>
                  <a:pt x="3962673" y="394021"/>
                  <a:pt x="3984859" y="404261"/>
                </a:cubicBezTo>
                <a:cubicBezTo>
                  <a:pt x="4004401" y="413280"/>
                  <a:pt x="4022943" y="424396"/>
                  <a:pt x="4042611" y="433137"/>
                </a:cubicBezTo>
                <a:cubicBezTo>
                  <a:pt x="4131295" y="472552"/>
                  <a:pt x="3971268" y="373004"/>
                  <a:pt x="4167739" y="490888"/>
                </a:cubicBezTo>
                <a:cubicBezTo>
                  <a:pt x="4183781" y="500513"/>
                  <a:pt x="4199511" y="510679"/>
                  <a:pt x="4215865" y="519764"/>
                </a:cubicBezTo>
                <a:cubicBezTo>
                  <a:pt x="4228408" y="526732"/>
                  <a:pt x="4241908" y="531895"/>
                  <a:pt x="4254366" y="539014"/>
                </a:cubicBezTo>
                <a:cubicBezTo>
                  <a:pt x="4264410" y="544753"/>
                  <a:pt x="4272267" y="554607"/>
                  <a:pt x="4283242" y="558265"/>
                </a:cubicBezTo>
                <a:cubicBezTo>
                  <a:pt x="4301757" y="564437"/>
                  <a:pt x="4321743" y="564682"/>
                  <a:pt x="4340994" y="567890"/>
                </a:cubicBezTo>
                <a:cubicBezTo>
                  <a:pt x="4361413" y="580141"/>
                  <a:pt x="4403074" y="606812"/>
                  <a:pt x="4427621" y="616017"/>
                </a:cubicBezTo>
                <a:cubicBezTo>
                  <a:pt x="4479105" y="635324"/>
                  <a:pt x="4453825" y="613345"/>
                  <a:pt x="4475747" y="635267"/>
                </a:cubicBezTo>
              </a:path>
            </a:pathLst>
          </a:custGeom>
          <a:noFill/>
          <a:ln w="19050">
            <a:prstDash val="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0B2829-0844-E0E3-918D-04CF76077453}"/>
              </a:ext>
            </a:extLst>
          </p:cNvPr>
          <p:cNvSpPr txBox="1"/>
          <p:nvPr/>
        </p:nvSpPr>
        <p:spPr>
          <a:xfrm>
            <a:off x="8588000" y="1590765"/>
            <a:ext cx="174156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chemeClr val="bg1"/>
                </a:solidFill>
              </a:rPr>
              <a:t>Original dataset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5274CD-B2AD-C62D-2F96-390AF4F20036}"/>
              </a:ext>
            </a:extLst>
          </p:cNvPr>
          <p:cNvSpPr txBox="1"/>
          <p:nvPr/>
        </p:nvSpPr>
        <p:spPr>
          <a:xfrm>
            <a:off x="8587999" y="3074022"/>
            <a:ext cx="1741569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chemeClr val="bg1"/>
                </a:solidFill>
              </a:rPr>
              <a:t>Splitting on </a:t>
            </a:r>
            <a:r>
              <a:rPr lang="en-IN" b="1" i="1" noProof="0" dirty="0">
                <a:solidFill>
                  <a:schemeClr val="bg1"/>
                </a:solidFill>
              </a:rPr>
              <a:t>Age</a:t>
            </a:r>
            <a:endParaRPr lang="en-IN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585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21826-C325-A9AB-41C9-AF58E417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Gini Index/Coefficient/Impurity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5DDD4-3093-7AE3-5F20-2C0C68415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823" y="1832699"/>
            <a:ext cx="10515600" cy="4351338"/>
          </a:xfrm>
        </p:spPr>
        <p:txBody>
          <a:bodyPr/>
          <a:lstStyle/>
          <a:p>
            <a:r>
              <a:rPr lang="en-IN" b="1" noProof="0" dirty="0"/>
              <a:t>Gini impurity </a:t>
            </a:r>
            <a:r>
              <a:rPr lang="en-IN" noProof="0" dirty="0"/>
              <a:t>Alternative to entropy (Lower the better, 0 is the best)</a:t>
            </a:r>
          </a:p>
          <a:p>
            <a:r>
              <a:rPr lang="en-IN" noProof="0" dirty="0"/>
              <a:t>Example: Predict fruit: A or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3DCC1-9D57-FC89-9CAF-AA0075620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382" y="3206601"/>
            <a:ext cx="1765391" cy="3479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9BEA97-B983-3902-9CDC-D6638A7D5A29}"/>
              </a:ext>
            </a:extLst>
          </p:cNvPr>
          <p:cNvSpPr txBox="1"/>
          <p:nvPr/>
        </p:nvSpPr>
        <p:spPr>
          <a:xfrm>
            <a:off x="8496730" y="673963"/>
            <a:ext cx="3082246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000" b="0" i="0" noProof="0" dirty="0">
                <a:solidFill>
                  <a:srgbClr val="374151"/>
                </a:solidFill>
                <a:effectLst/>
              </a:rPr>
              <a:t>P(A) = 10/20 = 0.5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noProof="0" dirty="0">
                <a:solidFill>
                  <a:srgbClr val="374151"/>
                </a:solidFill>
              </a:rPr>
              <a:t>P(B) = 10/20 = 0.5</a:t>
            </a:r>
            <a:endParaRPr lang="en-IN" sz="20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6467B5-2E1C-80B1-7B45-9CE8E5451617}"/>
                  </a:ext>
                </a:extLst>
              </p:cNvPr>
              <p:cNvSpPr txBox="1"/>
              <p:nvPr/>
            </p:nvSpPr>
            <p:spPr>
              <a:xfrm>
                <a:off x="3771049" y="2937267"/>
                <a:ext cx="7214569" cy="181588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𝐸𝑛𝑡𝑟𝑜𝑝𝑦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=−Ʃ</m:t>
                    </m:r>
                    <m:r>
                      <m:rPr>
                        <m:sty m:val="p"/>
                      </m:rPr>
                      <a:rPr lang="en-IN" sz="2400" b="0" i="0" noProof="0" smtClean="0">
                        <a:latin typeface="Cambria Math" panose="02040503050406030204" pitchFamily="18" charset="0"/>
                      </a:rPr>
                      <m:t>pi</m:t>
                    </m:r>
                    <m:r>
                      <a:rPr lang="en-IN" sz="2400" b="0" i="0" noProof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 b="0" i="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="0" i="0" baseline="-25000" noProof="0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IN" sz="2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 b="0" i="0" noProof="0" smtClean="0">
                            <a:latin typeface="Cambria Math" panose="02040503050406030204" pitchFamily="18" charset="0"/>
                          </a:rPr>
                          <m:t>pi</m:t>
                        </m:r>
                      </m:e>
                    </m:d>
                    <m:r>
                      <a:rPr lang="en-IN" sz="24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noProof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IN" sz="24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noProof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400" b="0" i="0" noProof="0" smtClean="0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en-IN" sz="2400" b="0" i="0" noProof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IN" sz="24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400" b="0" i="0" noProof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n-IN" sz="2400" b="0" noProof="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𝐸𝑛𝑡𝑟𝑜𝑝𝑦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b="0" noProof="0" dirty="0"/>
                  <a:t>-[(-0.5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noProof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 noProof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IN" sz="24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0" noProof="0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m:rPr>
                        <m:nor/>
                      </m:rPr>
                      <a:rPr lang="en-IN" sz="2400" noProof="0"/>
                      <m:t>(−0.5 </m:t>
                    </m:r>
                    <m:r>
                      <m:rPr>
                        <m:nor/>
                      </m:rPr>
                      <a:rPr lang="en-IN" sz="2400" noProof="0"/>
                      <m:t>x</m:t>
                    </m:r>
                    <m:r>
                      <m:rPr>
                        <m:nor/>
                      </m:rPr>
                      <a:rPr lang="en-IN" sz="2400" noProof="0"/>
                      <m:t> </m:t>
                    </m:r>
                    <m:r>
                      <m:rPr>
                        <m:sty m:val="p"/>
                      </m:rPr>
                      <a:rPr lang="en-IN" sz="2400" noProof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 noProof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IN" sz="24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noProof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en-IN" sz="2400" i="1" noProof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b="0" noProof="0" dirty="0"/>
                  <a:t>]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𝐸𝑛𝑡𝑟𝑜𝑝𝑦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b="0" noProof="0" dirty="0"/>
                  <a:t> -(-0.5 x -1 + -0.5 x -1)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𝐸𝑛𝑡𝑟𝑜𝑝𝑦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b="0" noProof="0" dirty="0"/>
                  <a:t> -(-0.5 + -0.5) = 1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endParaRPr lang="en-IN" sz="1600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6467B5-2E1C-80B1-7B45-9CE8E5451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049" y="2937267"/>
                <a:ext cx="7214569" cy="1815882"/>
              </a:xfrm>
              <a:prstGeom prst="rect">
                <a:avLst/>
              </a:prstGeom>
              <a:blipFill>
                <a:blip r:embed="rId3"/>
                <a:stretch>
                  <a:fillRect l="-1183" t="-16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518FBF-CC1F-BDE9-D074-46DD8810CED8}"/>
                  </a:ext>
                </a:extLst>
              </p:cNvPr>
              <p:cNvSpPr txBox="1"/>
              <p:nvPr/>
            </p:nvSpPr>
            <p:spPr>
              <a:xfrm>
                <a:off x="3771049" y="4994953"/>
                <a:ext cx="7214569" cy="156966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𝑖𝑚𝑝𝑢𝑟𝑖𝑡𝑦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=1 −[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IN" sz="2400" b="0" i="1" baseline="30000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 noProof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 noProof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4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noProof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IN" sz="2400" i="1" baseline="30000" noProof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sz="2400" b="0" noProof="0" dirty="0"/>
                  <a:t>]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𝑖𝑚𝑝𝑢𝑟𝑖𝑡𝑦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=1 −[(0.5)2+(0.5)2</m:t>
                    </m:r>
                  </m:oMath>
                </a14:m>
                <a:r>
                  <a:rPr lang="en-IN" sz="2400" b="0" noProof="0" dirty="0"/>
                  <a:t>]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𝑖𝑚𝑝𝑢𝑟𝑖𝑡𝑦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=1 −[0.25+0.25</m:t>
                    </m:r>
                  </m:oMath>
                </a14:m>
                <a:r>
                  <a:rPr lang="en-IN" sz="2400" b="0" noProof="0" dirty="0"/>
                  <a:t>]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𝑖𝑚𝑝𝑢𝑟𝑖𝑡𝑦</m:t>
                    </m:r>
                    <m:r>
                      <a:rPr lang="en-IN" sz="2400" b="0" i="1" noProof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IN" sz="1600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518FBF-CC1F-BDE9-D074-46DD8810C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049" y="4994953"/>
                <a:ext cx="7214569" cy="1569660"/>
              </a:xfrm>
              <a:prstGeom prst="rect">
                <a:avLst/>
              </a:prstGeom>
              <a:blipFill>
                <a:blip r:embed="rId4"/>
                <a:stretch>
                  <a:fillRect l="-1183" t="-3101" b="-62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97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3666-03F9-AADC-22E1-B780A66F7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92" y="207927"/>
            <a:ext cx="3053236" cy="482854"/>
          </a:xfrm>
        </p:spPr>
        <p:txBody>
          <a:bodyPr>
            <a:normAutofit fontScale="90000"/>
          </a:bodyPr>
          <a:lstStyle/>
          <a:p>
            <a:r>
              <a:rPr lang="en-IN" dirty="0"/>
              <a:t>Random Forest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F5B4C4E-95B3-FE69-3E2F-3DDBA0460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100976"/>
              </p:ext>
            </p:extLst>
          </p:nvPr>
        </p:nvGraphicFramePr>
        <p:xfrm>
          <a:off x="1472231" y="806092"/>
          <a:ext cx="3203890" cy="21031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640778">
                  <a:extLst>
                    <a:ext uri="{9D8B030D-6E8A-4147-A177-3AD203B41FA5}">
                      <a16:colId xmlns:a16="http://schemas.microsoft.com/office/drawing/2014/main" val="3424128733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2572653747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1460886761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4096754459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1277989782"/>
                    </a:ext>
                  </a:extLst>
                </a:gridCol>
              </a:tblGrid>
              <a:tr h="381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Left (≤13)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Right (&gt;13)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38893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101129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619035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82605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85487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9480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792046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1D61E3-1FD9-35E8-E665-D4F8B14F41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5171890"/>
              </p:ext>
            </p:extLst>
          </p:nvPr>
        </p:nvGraphicFramePr>
        <p:xfrm>
          <a:off x="303345" y="4036881"/>
          <a:ext cx="3154448" cy="213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37037">
                  <a:extLst>
                    <a:ext uri="{9D8B030D-6E8A-4147-A177-3AD203B41FA5}">
                      <a16:colId xmlns:a16="http://schemas.microsoft.com/office/drawing/2014/main" val="2992704106"/>
                    </a:ext>
                  </a:extLst>
                </a:gridCol>
                <a:gridCol w="1060983">
                  <a:extLst>
                    <a:ext uri="{9D8B030D-6E8A-4147-A177-3AD203B41FA5}">
                      <a16:colId xmlns:a16="http://schemas.microsoft.com/office/drawing/2014/main" val="1247799351"/>
                    </a:ext>
                  </a:extLst>
                </a:gridCol>
                <a:gridCol w="1256428">
                  <a:extLst>
                    <a:ext uri="{9D8B030D-6E8A-4147-A177-3AD203B41FA5}">
                      <a16:colId xmlns:a16="http://schemas.microsoft.com/office/drawing/2014/main" val="4125520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Weight (kg)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9602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 (Not 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649539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51293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04720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 (Obese)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493873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706722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707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48F310-2FF8-8947-849E-330B6B5952A1}"/>
              </a:ext>
            </a:extLst>
          </p:cNvPr>
          <p:cNvSpPr txBox="1"/>
          <p:nvPr/>
        </p:nvSpPr>
        <p:spPr>
          <a:xfrm>
            <a:off x="1880569" y="383695"/>
            <a:ext cx="2387213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Split 1: Is weight ≤ 13 kg?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466224-382D-2BD0-07D2-4447D7A1E398}"/>
              </a:ext>
            </a:extLst>
          </p:cNvPr>
          <p:cNvSpPr txBox="1"/>
          <p:nvPr/>
        </p:nvSpPr>
        <p:spPr>
          <a:xfrm>
            <a:off x="1472231" y="2924452"/>
            <a:ext cx="3203890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Tree says:</a:t>
            </a:r>
          </a:p>
          <a:p>
            <a:r>
              <a:rPr lang="en-IN" sz="1400" dirty="0"/>
              <a:t>When weight &lt;= 13, P(Obese) = 0/3 = 0</a:t>
            </a:r>
          </a:p>
          <a:p>
            <a:r>
              <a:rPr lang="en-IN" sz="1400" dirty="0"/>
              <a:t>When weight &gt; 13, P(Obese) = 3/3 = 1</a:t>
            </a:r>
            <a:endParaRPr lang="en-GB" sz="1400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45619A5-27B1-EF68-C6C8-C3FD10A560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9393246"/>
              </p:ext>
            </p:extLst>
          </p:nvPr>
        </p:nvGraphicFramePr>
        <p:xfrm>
          <a:off x="4737779" y="806092"/>
          <a:ext cx="3203890" cy="21031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640778">
                  <a:extLst>
                    <a:ext uri="{9D8B030D-6E8A-4147-A177-3AD203B41FA5}">
                      <a16:colId xmlns:a16="http://schemas.microsoft.com/office/drawing/2014/main" val="3424128733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2572653747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1460886761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4096754459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1277989782"/>
                    </a:ext>
                  </a:extLst>
                </a:gridCol>
              </a:tblGrid>
              <a:tr h="381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Left (≤14)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Right (&gt;14)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38893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101129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619035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82605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85487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9480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79204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1D0FB11-A598-3879-46E0-7976966858B0}"/>
              </a:ext>
            </a:extLst>
          </p:cNvPr>
          <p:cNvSpPr txBox="1"/>
          <p:nvPr/>
        </p:nvSpPr>
        <p:spPr>
          <a:xfrm>
            <a:off x="5146117" y="383695"/>
            <a:ext cx="2387213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Split 2: Is weight ≤ 14 kg?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D8C755-C6CE-BBF8-0128-018FCAA141FB}"/>
              </a:ext>
            </a:extLst>
          </p:cNvPr>
          <p:cNvSpPr txBox="1"/>
          <p:nvPr/>
        </p:nvSpPr>
        <p:spPr>
          <a:xfrm>
            <a:off x="4737779" y="2924452"/>
            <a:ext cx="3203890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Tree says :</a:t>
            </a:r>
          </a:p>
          <a:p>
            <a:r>
              <a:rPr lang="en-IN" sz="1400" dirty="0"/>
              <a:t>When weight &lt;= 14, P(Obese) = 0/3 = 0</a:t>
            </a:r>
          </a:p>
          <a:p>
            <a:r>
              <a:rPr lang="en-IN" sz="1400" dirty="0"/>
              <a:t>When weight &gt; 14, P(Obese) = 3/3 = 1</a:t>
            </a:r>
            <a:endParaRPr lang="en-GB" sz="1400" dirty="0"/>
          </a:p>
        </p:txBody>
      </p:sp>
      <p:graphicFrame>
        <p:nvGraphicFramePr>
          <p:cNvPr id="11" name="Content Placeholder 5">
            <a:extLst>
              <a:ext uri="{FF2B5EF4-FFF2-40B4-BE49-F238E27FC236}">
                <a16:creationId xmlns:a16="http://schemas.microsoft.com/office/drawing/2014/main" id="{912BCC02-13B0-ADFD-AF15-06BB6AF0EC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500731"/>
              </p:ext>
            </p:extLst>
          </p:nvPr>
        </p:nvGraphicFramePr>
        <p:xfrm>
          <a:off x="8003327" y="806092"/>
          <a:ext cx="3203890" cy="21031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640778">
                  <a:extLst>
                    <a:ext uri="{9D8B030D-6E8A-4147-A177-3AD203B41FA5}">
                      <a16:colId xmlns:a16="http://schemas.microsoft.com/office/drawing/2014/main" val="3424128733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2572653747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1460886761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4096754459"/>
                    </a:ext>
                  </a:extLst>
                </a:gridCol>
                <a:gridCol w="640778">
                  <a:extLst>
                    <a:ext uri="{9D8B030D-6E8A-4147-A177-3AD203B41FA5}">
                      <a16:colId xmlns:a16="http://schemas.microsoft.com/office/drawing/2014/main" val="1277989782"/>
                    </a:ext>
                  </a:extLst>
                </a:gridCol>
              </a:tblGrid>
              <a:tr h="381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Left (≤13)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Right (&gt;13)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38893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101129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619035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82605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85487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94803"/>
                  </a:ext>
                </a:extLst>
              </a:tr>
              <a:tr h="224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-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79204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FF98308-227C-1264-D635-B3354A4293C0}"/>
              </a:ext>
            </a:extLst>
          </p:cNvPr>
          <p:cNvSpPr txBox="1"/>
          <p:nvPr/>
        </p:nvSpPr>
        <p:spPr>
          <a:xfrm>
            <a:off x="8411665" y="383695"/>
            <a:ext cx="2387213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Split 3: Is weight ≤ 12 kg?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0916A0-6AC5-7F77-3514-9FA9E9A96FBE}"/>
              </a:ext>
            </a:extLst>
          </p:cNvPr>
          <p:cNvSpPr txBox="1"/>
          <p:nvPr/>
        </p:nvSpPr>
        <p:spPr>
          <a:xfrm>
            <a:off x="8003327" y="2924452"/>
            <a:ext cx="3203890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Tree says :</a:t>
            </a:r>
          </a:p>
          <a:p>
            <a:r>
              <a:rPr lang="en-IN" sz="1400" dirty="0"/>
              <a:t>When weight &lt;= 12, P(Obese) = 0/3 = 0</a:t>
            </a:r>
          </a:p>
          <a:p>
            <a:r>
              <a:rPr lang="en-IN" sz="1400" dirty="0"/>
              <a:t>When weight &gt; 12, P(Obese) = 3/3 = 1</a:t>
            </a:r>
            <a:endParaRPr lang="en-GB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0112DF-7340-59FF-D1DA-D938287B129B}"/>
              </a:ext>
            </a:extLst>
          </p:cNvPr>
          <p:cNvSpPr txBox="1"/>
          <p:nvPr/>
        </p:nvSpPr>
        <p:spPr>
          <a:xfrm>
            <a:off x="6953105" y="6276278"/>
            <a:ext cx="3125365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Prediction for a new dog (weight = 14)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33CFDBD-9278-C6B6-DA3D-B01234E64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85144"/>
              </p:ext>
            </p:extLst>
          </p:nvPr>
        </p:nvGraphicFramePr>
        <p:xfrm>
          <a:off x="6953105" y="4032254"/>
          <a:ext cx="2784208" cy="121920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392104">
                  <a:extLst>
                    <a:ext uri="{9D8B030D-6E8A-4147-A177-3AD203B41FA5}">
                      <a16:colId xmlns:a16="http://schemas.microsoft.com/office/drawing/2014/main" val="1210086484"/>
                    </a:ext>
                  </a:extLst>
                </a:gridCol>
                <a:gridCol w="1392104">
                  <a:extLst>
                    <a:ext uri="{9D8B030D-6E8A-4147-A177-3AD203B41FA5}">
                      <a16:colId xmlns:a16="http://schemas.microsoft.com/office/drawing/2014/main" val="1627989634"/>
                    </a:ext>
                  </a:extLst>
                </a:gridCol>
              </a:tblGrid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285242"/>
                  </a:ext>
                </a:extLst>
              </a:tr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629043"/>
                  </a:ext>
                </a:extLst>
              </a:tr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Not 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495631"/>
                  </a:ext>
                </a:extLst>
              </a:tr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26222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CC9C074-4A78-2CF9-35BC-30DAE49F6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802742"/>
              </p:ext>
            </p:extLst>
          </p:nvPr>
        </p:nvGraphicFramePr>
        <p:xfrm>
          <a:off x="3642766" y="4032254"/>
          <a:ext cx="3125366" cy="1219200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880373">
                  <a:extLst>
                    <a:ext uri="{9D8B030D-6E8A-4147-A177-3AD203B41FA5}">
                      <a16:colId xmlns:a16="http://schemas.microsoft.com/office/drawing/2014/main" val="1210086484"/>
                    </a:ext>
                  </a:extLst>
                </a:gridCol>
                <a:gridCol w="2244993">
                  <a:extLst>
                    <a:ext uri="{9D8B030D-6E8A-4147-A177-3AD203B41FA5}">
                      <a16:colId xmlns:a16="http://schemas.microsoft.com/office/drawing/2014/main" val="1627989634"/>
                    </a:ext>
                  </a:extLst>
                </a:gridCol>
              </a:tblGrid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285242"/>
                  </a:ext>
                </a:extLst>
              </a:tr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weight &lt;= 13 -&gt; 0, else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629043"/>
                  </a:ext>
                </a:extLst>
              </a:tr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weight &lt;= 14 -&gt; 0, else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495631"/>
                  </a:ext>
                </a:extLst>
              </a:tr>
              <a:tr h="247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Tree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weight &lt;= 12 -&gt; 0, else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26222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7E22E66-315C-B2D5-80B7-B5D08479DE31}"/>
              </a:ext>
            </a:extLst>
          </p:cNvPr>
          <p:cNvSpPr txBox="1"/>
          <p:nvPr/>
        </p:nvSpPr>
        <p:spPr>
          <a:xfrm>
            <a:off x="584296" y="6276278"/>
            <a:ext cx="2151923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Original 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25908C-5B5E-7159-3392-30C4C1888750}"/>
              </a:ext>
            </a:extLst>
          </p:cNvPr>
          <p:cNvSpPr txBox="1"/>
          <p:nvPr/>
        </p:nvSpPr>
        <p:spPr>
          <a:xfrm>
            <a:off x="4070155" y="6276278"/>
            <a:ext cx="2151923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Random Forest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F28178-7076-541E-655A-4F801775F996}"/>
                  </a:ext>
                </a:extLst>
              </p:cNvPr>
              <p:cNvSpPr txBox="1"/>
              <p:nvPr/>
            </p:nvSpPr>
            <p:spPr>
              <a:xfrm>
                <a:off x="10078470" y="4032254"/>
                <a:ext cx="1810185" cy="147527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 dirty="0">
                    <a:solidFill>
                      <a:srgbClr val="FF0000"/>
                    </a:solidFill>
                  </a:rPr>
                  <a:t>Final Random Forest Output</a:t>
                </a:r>
              </a:p>
              <a:p>
                <a:pPr algn="ctr"/>
                <a:endParaRPr lang="en-GB" sz="14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GB" sz="1400" dirty="0">
                    <a:solidFill>
                      <a:srgbClr val="FF0000"/>
                    </a:solidFill>
                  </a:rPr>
                  <a:t>P(Obese)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400" dirty="0">
                    <a:solidFill>
                      <a:srgbClr val="FF0000"/>
                    </a:solidFill>
                  </a:rPr>
                  <a:t> ≈ 0.66</a:t>
                </a:r>
              </a:p>
              <a:p>
                <a:pPr algn="ctr"/>
                <a:endParaRPr lang="en-GB" sz="14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GB" sz="1400" dirty="0">
                    <a:solidFill>
                      <a:srgbClr val="FF0000"/>
                    </a:solidFill>
                  </a:rPr>
                  <a:t>66%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F28178-7076-541E-655A-4F801775F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8470" y="4032254"/>
                <a:ext cx="1810185" cy="1475276"/>
              </a:xfrm>
              <a:prstGeom prst="rect">
                <a:avLst/>
              </a:prstGeom>
              <a:blipFill>
                <a:blip r:embed="rId2"/>
                <a:stretch>
                  <a:fillRect t="-413" b="-37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row: Up 19">
            <a:extLst>
              <a:ext uri="{FF2B5EF4-FFF2-40B4-BE49-F238E27FC236}">
                <a16:creationId xmlns:a16="http://schemas.microsoft.com/office/drawing/2014/main" id="{70583CC4-696F-345C-7035-771F206C1BC2}"/>
              </a:ext>
            </a:extLst>
          </p:cNvPr>
          <p:cNvSpPr/>
          <p:nvPr/>
        </p:nvSpPr>
        <p:spPr>
          <a:xfrm>
            <a:off x="1814840" y="3735910"/>
            <a:ext cx="286186" cy="22354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EEE5AD32-391A-A588-8B5C-117C64AE065A}"/>
              </a:ext>
            </a:extLst>
          </p:cNvPr>
          <p:cNvSpPr/>
          <p:nvPr/>
        </p:nvSpPr>
        <p:spPr>
          <a:xfrm rot="10800000">
            <a:off x="5345634" y="3747596"/>
            <a:ext cx="286186" cy="22354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421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3242D-CEA5-0124-F655-671F336B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44" y="136586"/>
            <a:ext cx="3217270" cy="837617"/>
          </a:xfrm>
        </p:spPr>
        <p:txBody>
          <a:bodyPr>
            <a:noAutofit/>
          </a:bodyPr>
          <a:lstStyle/>
          <a:p>
            <a:r>
              <a:rPr lang="en-IN" sz="3200" dirty="0"/>
              <a:t>K-Nearest Neighbours (KNN)</a:t>
            </a:r>
            <a:endParaRPr lang="en-GB" sz="32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CA6DDC7-1215-6B8F-94D0-8299D775F4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6290735"/>
              </p:ext>
            </p:extLst>
          </p:nvPr>
        </p:nvGraphicFramePr>
        <p:xfrm>
          <a:off x="216965" y="4675257"/>
          <a:ext cx="3489496" cy="21336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872374">
                  <a:extLst>
                    <a:ext uri="{9D8B030D-6E8A-4147-A177-3AD203B41FA5}">
                      <a16:colId xmlns:a16="http://schemas.microsoft.com/office/drawing/2014/main" val="1962405"/>
                    </a:ext>
                  </a:extLst>
                </a:gridCol>
                <a:gridCol w="872374">
                  <a:extLst>
                    <a:ext uri="{9D8B030D-6E8A-4147-A177-3AD203B41FA5}">
                      <a16:colId xmlns:a16="http://schemas.microsoft.com/office/drawing/2014/main" val="2052798113"/>
                    </a:ext>
                  </a:extLst>
                </a:gridCol>
                <a:gridCol w="872374">
                  <a:extLst>
                    <a:ext uri="{9D8B030D-6E8A-4147-A177-3AD203B41FA5}">
                      <a16:colId xmlns:a16="http://schemas.microsoft.com/office/drawing/2014/main" val="898958121"/>
                    </a:ext>
                  </a:extLst>
                </a:gridCol>
                <a:gridCol w="872374">
                  <a:extLst>
                    <a:ext uri="{9D8B030D-6E8A-4147-A177-3AD203B41FA5}">
                      <a16:colId xmlns:a16="http://schemas.microsoft.com/office/drawing/2014/main" val="120610361"/>
                    </a:ext>
                  </a:extLst>
                </a:gridCol>
              </a:tblGrid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Weight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499775"/>
                  </a:ext>
                </a:extLst>
              </a:tr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6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832505"/>
                  </a:ext>
                </a:extLst>
              </a:tr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554093"/>
                  </a:ext>
                </a:extLst>
              </a:tr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6132073"/>
                  </a:ext>
                </a:extLst>
              </a:tr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272985"/>
                  </a:ext>
                </a:extLst>
              </a:tr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619064"/>
                  </a:ext>
                </a:extLst>
              </a:tr>
              <a:tr h="292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9192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B3FA9E4-F8A7-EA5F-C318-6724D7857A7B}"/>
              </a:ext>
            </a:extLst>
          </p:cNvPr>
          <p:cNvSpPr txBox="1"/>
          <p:nvPr/>
        </p:nvSpPr>
        <p:spPr>
          <a:xfrm>
            <a:off x="3371414" y="320519"/>
            <a:ext cx="4181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“You are the average of your </a:t>
            </a:r>
            <a:r>
              <a:rPr lang="en-US" b="1" dirty="0" err="1">
                <a:solidFill>
                  <a:srgbClr val="FF0000"/>
                </a:solidFill>
              </a:rPr>
              <a:t>neighbours</a:t>
            </a:r>
            <a:r>
              <a:rPr lang="en-US" b="1" dirty="0">
                <a:solidFill>
                  <a:srgbClr val="FF0000"/>
                </a:solidFill>
              </a:rPr>
              <a:t>”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FBE4B-090E-0B79-C0E1-F25FAAB3E29D}"/>
              </a:ext>
            </a:extLst>
          </p:cNvPr>
          <p:cNvSpPr txBox="1"/>
          <p:nvPr/>
        </p:nvSpPr>
        <p:spPr>
          <a:xfrm>
            <a:off x="216965" y="3321896"/>
            <a:ext cx="344063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1: Choose K</a:t>
            </a:r>
            <a:r>
              <a:rPr lang="en-IN" sz="1400" dirty="0"/>
              <a:t> (e.g. 3)</a:t>
            </a:r>
          </a:p>
          <a:p>
            <a:r>
              <a:rPr lang="en-IN" sz="1400" dirty="0"/>
              <a:t>Meaning: Look at the 3 closest dogs</a:t>
            </a:r>
            <a:endParaRPr lang="en-GB" sz="1400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382AFEAD-2340-1A88-01D0-79AAE88BFE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0224069"/>
              </p:ext>
            </p:extLst>
          </p:nvPr>
        </p:nvGraphicFramePr>
        <p:xfrm>
          <a:off x="216966" y="1091256"/>
          <a:ext cx="3154448" cy="213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37037">
                  <a:extLst>
                    <a:ext uri="{9D8B030D-6E8A-4147-A177-3AD203B41FA5}">
                      <a16:colId xmlns:a16="http://schemas.microsoft.com/office/drawing/2014/main" val="2992704106"/>
                    </a:ext>
                  </a:extLst>
                </a:gridCol>
                <a:gridCol w="1060983">
                  <a:extLst>
                    <a:ext uri="{9D8B030D-6E8A-4147-A177-3AD203B41FA5}">
                      <a16:colId xmlns:a16="http://schemas.microsoft.com/office/drawing/2014/main" val="1247799351"/>
                    </a:ext>
                  </a:extLst>
                </a:gridCol>
                <a:gridCol w="1256428">
                  <a:extLst>
                    <a:ext uri="{9D8B030D-6E8A-4147-A177-3AD203B41FA5}">
                      <a16:colId xmlns:a16="http://schemas.microsoft.com/office/drawing/2014/main" val="4125520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Weight (kg)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9602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 (Not 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649539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51293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04720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 (Obese)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493873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706722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707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188A0A2-EAE4-205D-D134-3CB6E0A2EF64}"/>
              </a:ext>
            </a:extLst>
          </p:cNvPr>
          <p:cNvSpPr txBox="1"/>
          <p:nvPr/>
        </p:nvSpPr>
        <p:spPr>
          <a:xfrm>
            <a:off x="216965" y="3916079"/>
            <a:ext cx="344063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2: A new dog arrives</a:t>
            </a:r>
            <a:r>
              <a:rPr lang="en-IN" sz="1400" dirty="0"/>
              <a:t> (weight = 14 kg)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508852-BC93-FC26-A2AB-201E659D6CAA}"/>
              </a:ext>
            </a:extLst>
          </p:cNvPr>
          <p:cNvSpPr txBox="1"/>
          <p:nvPr/>
        </p:nvSpPr>
        <p:spPr>
          <a:xfrm>
            <a:off x="216965" y="4316608"/>
            <a:ext cx="344063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3: Compute distances to all dogs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30E81E-662C-D7FF-D9E9-04092A7D3937}"/>
              </a:ext>
            </a:extLst>
          </p:cNvPr>
          <p:cNvSpPr txBox="1"/>
          <p:nvPr/>
        </p:nvSpPr>
        <p:spPr>
          <a:xfrm>
            <a:off x="4375682" y="1062765"/>
            <a:ext cx="344063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4: Pick 3 nearest neighbours</a:t>
            </a:r>
            <a:endParaRPr lang="en-IN" sz="1400" dirty="0"/>
          </a:p>
          <a:p>
            <a:r>
              <a:rPr lang="en-IN" sz="1400" dirty="0"/>
              <a:t>Sort by distance</a:t>
            </a:r>
            <a:endParaRPr lang="en-GB" sz="14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2226625-F17A-94C8-243A-AB93C092A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526273"/>
              </p:ext>
            </p:extLst>
          </p:nvPr>
        </p:nvGraphicFramePr>
        <p:xfrm>
          <a:off x="4375682" y="1613431"/>
          <a:ext cx="3440636" cy="1219200"/>
        </p:xfrm>
        <a:graphic>
          <a:graphicData uri="http://schemas.openxmlformats.org/drawingml/2006/table">
            <a:tbl>
              <a:tblPr>
                <a:tableStyleId>{8FD4443E-F989-4FC4-A0C8-D5A2AF1F390B}</a:tableStyleId>
              </a:tblPr>
              <a:tblGrid>
                <a:gridCol w="1720318">
                  <a:extLst>
                    <a:ext uri="{9D8B030D-6E8A-4147-A177-3AD203B41FA5}">
                      <a16:colId xmlns:a16="http://schemas.microsoft.com/office/drawing/2014/main" val="2600094225"/>
                    </a:ext>
                  </a:extLst>
                </a:gridCol>
                <a:gridCol w="1720318">
                  <a:extLst>
                    <a:ext uri="{9D8B030D-6E8A-4147-A177-3AD203B41FA5}">
                      <a16:colId xmlns:a16="http://schemas.microsoft.com/office/drawing/2014/main" val="34768297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083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 (15)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529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 (12)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680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 (10)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844592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CF71FAB-0DF6-F545-D287-EDF4355ACB96}"/>
              </a:ext>
            </a:extLst>
          </p:cNvPr>
          <p:cNvSpPr txBox="1"/>
          <p:nvPr/>
        </p:nvSpPr>
        <p:spPr>
          <a:xfrm>
            <a:off x="4375681" y="2905780"/>
            <a:ext cx="3440635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5: Voting</a:t>
            </a:r>
            <a:endParaRPr lang="en-IN" sz="1400" dirty="0"/>
          </a:p>
          <a:p>
            <a:r>
              <a:rPr lang="en-IN" sz="1400" dirty="0"/>
              <a:t>Obese = 1 vote, Not obese = 2 votes</a:t>
            </a:r>
          </a:p>
          <a:p>
            <a:r>
              <a:rPr lang="en-IN" sz="1400" dirty="0"/>
              <a:t>Final prediction: Not obese</a:t>
            </a:r>
            <a:endParaRPr lang="en-GB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097217-08C1-0008-5F05-147C786DE094}"/>
                  </a:ext>
                </a:extLst>
              </p:cNvPr>
              <p:cNvSpPr txBox="1"/>
              <p:nvPr/>
            </p:nvSpPr>
            <p:spPr>
              <a:xfrm>
                <a:off x="4375680" y="3717593"/>
                <a:ext cx="3440635" cy="6135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/>
                  <a:t>Step 6: Probability interpretation</a:t>
                </a:r>
                <a:endParaRPr lang="en-IN" sz="1400" dirty="0"/>
              </a:p>
              <a:p>
                <a:r>
                  <a:rPr lang="en-GB" sz="1400" dirty="0">
                    <a:solidFill>
                      <a:schemeClr val="tx1"/>
                    </a:solidFill>
                  </a:rPr>
                  <a:t>P(Obese)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400" dirty="0">
                    <a:solidFill>
                      <a:schemeClr val="tx1"/>
                    </a:solidFill>
                  </a:rPr>
                  <a:t> ≈ 0.33</a:t>
                </a:r>
                <a:endParaRPr lang="en-GB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097217-08C1-0008-5F05-147C786DE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680" y="3717593"/>
                <a:ext cx="3440635" cy="613501"/>
              </a:xfrm>
              <a:prstGeom prst="rect">
                <a:avLst/>
              </a:prstGeom>
              <a:blipFill>
                <a:blip r:embed="rId2"/>
                <a:stretch>
                  <a:fillRect l="-532" t="-2000" b="-3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986D8FE-A7E0-17D2-CCEB-2ECDF69C53A6}"/>
              </a:ext>
            </a:extLst>
          </p:cNvPr>
          <p:cNvSpPr txBox="1"/>
          <p:nvPr/>
        </p:nvSpPr>
        <p:spPr>
          <a:xfrm>
            <a:off x="8290384" y="1062765"/>
            <a:ext cx="344063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What if K = 5?</a:t>
            </a:r>
            <a:endParaRPr lang="en-IN" sz="1400" dirty="0"/>
          </a:p>
          <a:p>
            <a:r>
              <a:rPr lang="en-IN" sz="1400" dirty="0"/>
              <a:t>Meaning: Look at 5 nearest dogs</a:t>
            </a:r>
            <a:endParaRPr lang="en-GB" sz="14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09331F7-4297-7006-7615-7C75512DB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133700"/>
              </p:ext>
            </p:extLst>
          </p:nvPr>
        </p:nvGraphicFramePr>
        <p:xfrm>
          <a:off x="8632117" y="1613431"/>
          <a:ext cx="2061478" cy="18288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030739">
                  <a:extLst>
                    <a:ext uri="{9D8B030D-6E8A-4147-A177-3AD203B41FA5}">
                      <a16:colId xmlns:a16="http://schemas.microsoft.com/office/drawing/2014/main" val="3160939910"/>
                    </a:ext>
                  </a:extLst>
                </a:gridCol>
                <a:gridCol w="1030739">
                  <a:extLst>
                    <a:ext uri="{9D8B030D-6E8A-4147-A177-3AD203B41FA5}">
                      <a16:colId xmlns:a16="http://schemas.microsoft.com/office/drawing/2014/main" val="535562131"/>
                    </a:ext>
                  </a:extLst>
                </a:gridCol>
              </a:tblGrid>
              <a:tr h="285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8200223"/>
                  </a:ext>
                </a:extLst>
              </a:tr>
              <a:tr h="285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104655"/>
                  </a:ext>
                </a:extLst>
              </a:tr>
              <a:tr h="285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225917"/>
                  </a:ext>
                </a:extLst>
              </a:tr>
              <a:tr h="285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518192"/>
                  </a:ext>
                </a:extLst>
              </a:tr>
              <a:tr h="285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889803"/>
                  </a:ext>
                </a:extLst>
              </a:tr>
              <a:tr h="285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82379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3332ABE-A096-8E09-0B3D-22669F664653}"/>
              </a:ext>
            </a:extLst>
          </p:cNvPr>
          <p:cNvSpPr txBox="1"/>
          <p:nvPr/>
        </p:nvSpPr>
        <p:spPr>
          <a:xfrm>
            <a:off x="8290384" y="3485192"/>
            <a:ext cx="3440635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Voting</a:t>
            </a:r>
            <a:endParaRPr lang="en-IN" sz="1400" dirty="0"/>
          </a:p>
          <a:p>
            <a:r>
              <a:rPr lang="en-IN" sz="1400" dirty="0"/>
              <a:t>Obese = 2 vote, Not obese = 3 votes</a:t>
            </a:r>
          </a:p>
          <a:p>
            <a:r>
              <a:rPr lang="en-IN" sz="1400" dirty="0"/>
              <a:t>Final prediction: Not obese</a:t>
            </a:r>
            <a:endParaRPr lang="en-GB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E0110A8-96A2-BBD2-C1F8-9C0A063641FE}"/>
                  </a:ext>
                </a:extLst>
              </p:cNvPr>
              <p:cNvSpPr txBox="1"/>
              <p:nvPr/>
            </p:nvSpPr>
            <p:spPr>
              <a:xfrm>
                <a:off x="8290383" y="4268297"/>
                <a:ext cx="3440635" cy="61350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/>
                  <a:t>Probability interpretation</a:t>
                </a:r>
                <a:endParaRPr lang="en-IN" sz="1400" dirty="0"/>
              </a:p>
              <a:p>
                <a:r>
                  <a:rPr lang="en-GB" sz="1400" dirty="0">
                    <a:solidFill>
                      <a:schemeClr val="tx1"/>
                    </a:solidFill>
                  </a:rPr>
                  <a:t>P(Obese)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1400" dirty="0">
                    <a:solidFill>
                      <a:schemeClr val="tx1"/>
                    </a:solidFill>
                  </a:rPr>
                  <a:t> ≈ 0.40</a:t>
                </a:r>
                <a:endParaRPr lang="en-GB" sz="1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E0110A8-96A2-BBD2-C1F8-9C0A06364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383" y="4268297"/>
                <a:ext cx="3440635" cy="613501"/>
              </a:xfrm>
              <a:prstGeom prst="rect">
                <a:avLst/>
              </a:prstGeom>
              <a:blipFill>
                <a:blip r:embed="rId3"/>
                <a:stretch>
                  <a:fillRect l="-532" t="-1980" b="-2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F45A014-2902-D423-5D74-C52914308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896075"/>
              </p:ext>
            </p:extLst>
          </p:nvPr>
        </p:nvGraphicFramePr>
        <p:xfrm>
          <a:off x="4190415" y="5648511"/>
          <a:ext cx="3811164" cy="914400"/>
        </p:xfrm>
        <a:graphic>
          <a:graphicData uri="http://schemas.openxmlformats.org/drawingml/2006/table">
            <a:tbl>
              <a:tblPr firstRow="1">
                <a:tableStyleId>{125E5076-3810-47DD-B79F-674D7AD40C01}</a:tableStyleId>
              </a:tblPr>
              <a:tblGrid>
                <a:gridCol w="1905582">
                  <a:extLst>
                    <a:ext uri="{9D8B030D-6E8A-4147-A177-3AD203B41FA5}">
                      <a16:colId xmlns:a16="http://schemas.microsoft.com/office/drawing/2014/main" val="1992201352"/>
                    </a:ext>
                  </a:extLst>
                </a:gridCol>
                <a:gridCol w="1905582">
                  <a:extLst>
                    <a:ext uri="{9D8B030D-6E8A-4147-A177-3AD203B41FA5}">
                      <a16:colId xmlns:a16="http://schemas.microsoft.com/office/drawing/2014/main" val="20563559"/>
                    </a:ext>
                  </a:extLst>
                </a:gridCol>
              </a:tblGrid>
              <a:tr h="20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959049"/>
                  </a:ext>
                </a:extLst>
              </a:tr>
              <a:tr h="20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Small K (e.g.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Very noisy, overfits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2887871"/>
                  </a:ext>
                </a:extLst>
              </a:tr>
              <a:tr h="20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Large 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Smooth, may underfit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42448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2D20DD3-7B9C-4034-4601-25B0A14693B1}"/>
              </a:ext>
            </a:extLst>
          </p:cNvPr>
          <p:cNvSpPr txBox="1"/>
          <p:nvPr/>
        </p:nvSpPr>
        <p:spPr>
          <a:xfrm>
            <a:off x="8157759" y="5628657"/>
            <a:ext cx="3440635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How KNN learns? It does not!</a:t>
            </a:r>
          </a:p>
          <a:p>
            <a:r>
              <a:rPr lang="en-GB" sz="1400" dirty="0"/>
              <a:t>Training = Storing the data</a:t>
            </a:r>
          </a:p>
          <a:p>
            <a:r>
              <a:rPr lang="en-GB" sz="1400" dirty="0"/>
              <a:t>Prediction = Computing the distances</a:t>
            </a:r>
          </a:p>
          <a:p>
            <a:r>
              <a:rPr lang="en-GB" sz="1400" dirty="0"/>
              <a:t>Called a “lazy learner”</a:t>
            </a:r>
          </a:p>
        </p:txBody>
      </p:sp>
    </p:spTree>
    <p:extLst>
      <p:ext uri="{BB962C8B-B14F-4D97-AF65-F5344CB8AC3E}">
        <p14:creationId xmlns:p14="http://schemas.microsoft.com/office/powerpoint/2010/main" val="1598239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E79AB-3687-FEB7-621F-A20A363D0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Naïve Bayes: Recap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58E73-EFFB-E500-C6F2-F9BA225F9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9D0430-2103-712A-792D-64A285DDA24B}"/>
                  </a:ext>
                </a:extLst>
              </p:cNvPr>
              <p:cNvSpPr txBox="1"/>
              <p:nvPr/>
            </p:nvSpPr>
            <p:spPr>
              <a:xfrm>
                <a:off x="838200" y="1853761"/>
                <a:ext cx="4134852" cy="157523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Reminder of Bayes Theorem …</a:t>
                </a:r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IN" sz="2000" b="1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endChr m:val="|"/>
                              <m:ctrlPr>
                                <a:rPr lang="en-I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000" b="1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9D0430-2103-712A-792D-64A285DDA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53761"/>
                <a:ext cx="4134852" cy="1575239"/>
              </a:xfrm>
              <a:prstGeom prst="rect">
                <a:avLst/>
              </a:prstGeom>
              <a:blipFill>
                <a:blip r:embed="rId2"/>
                <a:stretch>
                  <a:fillRect l="-1327" t="-19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480297-05E9-F4F0-5C86-60CFFE45A442}"/>
                  </a:ext>
                </a:extLst>
              </p:cNvPr>
              <p:cNvSpPr txBox="1"/>
              <p:nvPr/>
            </p:nvSpPr>
            <p:spPr>
              <a:xfrm>
                <a:off x="703395" y="4401916"/>
                <a:ext cx="10785209" cy="157523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Reminder of Bayes Theorem …</a:t>
                </a:r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𝑷𝒖𝒓𝒄𝒉𝒂𝒔𝒆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sz="2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b="1" i="1" smtClean="0">
                          <a:latin typeface="Cambria Math" panose="02040503050406030204" pitchFamily="18" charset="0"/>
                        </a:rPr>
                        <m:t>𝑪𝒖𝒔𝒕𝒐𝒎𝒆𝒓</m:t>
                      </m:r>
                      <m:r>
                        <a:rPr lang="en-IN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000" b="1" i="1" smtClean="0">
                          <a:latin typeface="Cambria Math" panose="02040503050406030204" pitchFamily="18" charset="0"/>
                        </a:rPr>
                        <m:t>𝑭𝒆𝒂𝒕𝒖𝒓𝒆𝒔</m:t>
                      </m:r>
                      <m:r>
                        <a:rPr lang="en-IN" sz="2000" b="1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endChr m:val="|"/>
                              <m:ctrlPr>
                                <a:rPr lang="en-IN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  <m:t>𝑪𝒖𝒔𝒕𝒐𝒎𝒆𝒓</m:t>
                              </m:r>
                              <m: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  <m:t>𝑭𝒆𝒂𝒕𝒖𝒓𝒆𝒔</m:t>
                              </m:r>
                              <m: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𝑷𝒖𝒓𝒄𝒉𝒂𝒔𝒆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𝑷𝒖𝒓𝒄𝒉𝒂𝒔𝒆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𝑪𝒖𝒔𝒕𝒐𝒎𝒆𝒓</m:t>
                          </m:r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1" i="1" smtClean="0">
                              <a:latin typeface="Cambria Math" panose="02040503050406030204" pitchFamily="18" charset="0"/>
                            </a:rPr>
                            <m:t>𝑭𝒆𝒂𝒕𝒖𝒓𝒆𝒔</m:t>
                          </m:r>
                          <m:r>
                            <a:rPr lang="en-I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000" b="1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480297-05E9-F4F0-5C86-60CFFE45A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95" y="4401916"/>
                <a:ext cx="10785209" cy="1575239"/>
              </a:xfrm>
              <a:prstGeom prst="rect">
                <a:avLst/>
              </a:prstGeom>
              <a:blipFill>
                <a:blip r:embed="rId3"/>
                <a:stretch>
                  <a:fillRect l="-452" t="-19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6CC9E5-2495-4549-552D-E6AE93B5F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582838"/>
              </p:ext>
            </p:extLst>
          </p:nvPr>
        </p:nvGraphicFramePr>
        <p:xfrm>
          <a:off x="6366481" y="1027906"/>
          <a:ext cx="4751430" cy="33458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0286">
                  <a:extLst>
                    <a:ext uri="{9D8B030D-6E8A-4147-A177-3AD203B41FA5}">
                      <a16:colId xmlns:a16="http://schemas.microsoft.com/office/drawing/2014/main" val="331311263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2077185985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3009242686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1578407940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2524111458"/>
                    </a:ext>
                  </a:extLst>
                </a:gridCol>
              </a:tblGrid>
              <a:tr h="328354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Newsletter?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Social Media?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Website?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Purchase?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94044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252211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807117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586837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51386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749021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150591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42069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586315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032624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196276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 noProof="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996752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 noProof="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984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438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C90B8-DA6C-7202-FC22-43EA0AD89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63" y="18255"/>
            <a:ext cx="2644896" cy="1325563"/>
          </a:xfrm>
        </p:spPr>
        <p:txBody>
          <a:bodyPr/>
          <a:lstStyle/>
          <a:p>
            <a:r>
              <a:rPr lang="en-IN" dirty="0"/>
              <a:t>Naïve Bayes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31116-6987-5A1E-A0B6-06642AA7A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915531-323F-E929-E11E-7FB6E1C6E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673522"/>
              </p:ext>
            </p:extLst>
          </p:nvPr>
        </p:nvGraphicFramePr>
        <p:xfrm>
          <a:off x="77363" y="3021398"/>
          <a:ext cx="4751430" cy="33458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0286">
                  <a:extLst>
                    <a:ext uri="{9D8B030D-6E8A-4147-A177-3AD203B41FA5}">
                      <a16:colId xmlns:a16="http://schemas.microsoft.com/office/drawing/2014/main" val="331311263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2077185985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3009242686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1578407940"/>
                    </a:ext>
                  </a:extLst>
                </a:gridCol>
                <a:gridCol w="950286">
                  <a:extLst>
                    <a:ext uri="{9D8B030D-6E8A-4147-A177-3AD203B41FA5}">
                      <a16:colId xmlns:a16="http://schemas.microsoft.com/office/drawing/2014/main" val="2524111458"/>
                    </a:ext>
                  </a:extLst>
                </a:gridCol>
              </a:tblGrid>
              <a:tr h="328354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Newsletter?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Social Media?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Website?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Purchase?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94044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252211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807117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586837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51386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749021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150591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42069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586315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032624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196276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 noProof="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996752"/>
                  </a:ext>
                </a:extLst>
              </a:tr>
              <a:tr h="200661"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 noProof="0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9849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0EBB0F5-1D58-6EFC-3BAC-5866A590DDC9}"/>
              </a:ext>
            </a:extLst>
          </p:cNvPr>
          <p:cNvSpPr txBox="1"/>
          <p:nvPr/>
        </p:nvSpPr>
        <p:spPr>
          <a:xfrm>
            <a:off x="1485609" y="18255"/>
            <a:ext cx="4278833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1: Calculate base/unconditional probabilities</a:t>
            </a:r>
          </a:p>
          <a:p>
            <a:endParaRPr lang="en-GB" sz="1400" dirty="0"/>
          </a:p>
          <a:p>
            <a:r>
              <a:rPr lang="en-US" sz="1400" dirty="0"/>
              <a:t>Total customers = 10</a:t>
            </a:r>
          </a:p>
          <a:p>
            <a:r>
              <a:rPr lang="en-US" sz="1400" dirty="0"/>
              <a:t>Count (Purchased = 1) = 5</a:t>
            </a:r>
          </a:p>
          <a:p>
            <a:r>
              <a:rPr lang="en-US" sz="1400" dirty="0"/>
              <a:t>Count (Purchased = 0) = 5</a:t>
            </a:r>
          </a:p>
          <a:p>
            <a:endParaRPr lang="en-GB" sz="1400" dirty="0"/>
          </a:p>
          <a:p>
            <a:r>
              <a:rPr lang="en-US" sz="1400" dirty="0"/>
              <a:t>P(Purchased = 1) = 5/10 = 0.5</a:t>
            </a:r>
          </a:p>
          <a:p>
            <a:r>
              <a:rPr lang="en-US" sz="1400" dirty="0"/>
              <a:t>P(Purchased = 0) = 5/10 = 0.5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E7E96-7833-60CE-19EB-1F7A1466DD49}"/>
              </a:ext>
            </a:extLst>
          </p:cNvPr>
          <p:cNvSpPr txBox="1"/>
          <p:nvPr/>
        </p:nvSpPr>
        <p:spPr>
          <a:xfrm>
            <a:off x="5813304" y="18255"/>
            <a:ext cx="4278833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2: Calculate conditional probabilities for each class</a:t>
            </a:r>
            <a:endParaRPr lang="en-GB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748F1D0-A550-7222-02DE-235846AA2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948103"/>
              </p:ext>
            </p:extLst>
          </p:nvPr>
        </p:nvGraphicFramePr>
        <p:xfrm>
          <a:off x="5829589" y="377939"/>
          <a:ext cx="5596919" cy="1133723"/>
        </p:xfrm>
        <a:graphic>
          <a:graphicData uri="http://schemas.openxmlformats.org/drawingml/2006/table">
            <a:tbl>
              <a:tblPr firstRow="1">
                <a:tableStyleId>{E8B1032C-EA38-4F05-BA0D-38AFFFC7BED3}</a:tableStyleId>
              </a:tblPr>
              <a:tblGrid>
                <a:gridCol w="1171327">
                  <a:extLst>
                    <a:ext uri="{9D8B030D-6E8A-4147-A177-3AD203B41FA5}">
                      <a16:colId xmlns:a16="http://schemas.microsoft.com/office/drawing/2014/main" val="169176195"/>
                    </a:ext>
                  </a:extLst>
                </a:gridCol>
                <a:gridCol w="2531938">
                  <a:extLst>
                    <a:ext uri="{9D8B030D-6E8A-4147-A177-3AD203B41FA5}">
                      <a16:colId xmlns:a16="http://schemas.microsoft.com/office/drawing/2014/main" val="3875242345"/>
                    </a:ext>
                  </a:extLst>
                </a:gridCol>
                <a:gridCol w="991012">
                  <a:extLst>
                    <a:ext uri="{9D8B030D-6E8A-4147-A177-3AD203B41FA5}">
                      <a16:colId xmlns:a16="http://schemas.microsoft.com/office/drawing/2014/main" val="3945146293"/>
                    </a:ext>
                  </a:extLst>
                </a:gridCol>
                <a:gridCol w="902642">
                  <a:extLst>
                    <a:ext uri="{9D8B030D-6E8A-4147-A177-3AD203B41FA5}">
                      <a16:colId xmlns:a16="http://schemas.microsoft.com/office/drawing/2014/main" val="2306417662"/>
                    </a:ext>
                  </a:extLst>
                </a:gridCol>
              </a:tblGrid>
              <a:tr h="310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Count for Purchase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Purchase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Probability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475128"/>
                  </a:ext>
                </a:extLst>
              </a:tr>
              <a:tr h="24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Subscribed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3 (customers 3, 6, 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3/5 = 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757677"/>
                  </a:ext>
                </a:extLst>
              </a:tr>
              <a:tr h="24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Follows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 (No customer, so considering as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1/5 = 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063935"/>
                  </a:ext>
                </a:extLst>
              </a:tr>
              <a:tr h="24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Visited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 (customers 6, 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2/5 = 0.4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9589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08BBA96-D5D4-8975-8A59-419EE5B4A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458282"/>
              </p:ext>
            </p:extLst>
          </p:nvPr>
        </p:nvGraphicFramePr>
        <p:xfrm>
          <a:off x="5829590" y="2884998"/>
          <a:ext cx="5596919" cy="1133723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171327">
                  <a:extLst>
                    <a:ext uri="{9D8B030D-6E8A-4147-A177-3AD203B41FA5}">
                      <a16:colId xmlns:a16="http://schemas.microsoft.com/office/drawing/2014/main" val="169176195"/>
                    </a:ext>
                  </a:extLst>
                </a:gridCol>
                <a:gridCol w="2531938">
                  <a:extLst>
                    <a:ext uri="{9D8B030D-6E8A-4147-A177-3AD203B41FA5}">
                      <a16:colId xmlns:a16="http://schemas.microsoft.com/office/drawing/2014/main" val="3875242345"/>
                    </a:ext>
                  </a:extLst>
                </a:gridCol>
                <a:gridCol w="991012">
                  <a:extLst>
                    <a:ext uri="{9D8B030D-6E8A-4147-A177-3AD203B41FA5}">
                      <a16:colId xmlns:a16="http://schemas.microsoft.com/office/drawing/2014/main" val="3945146293"/>
                    </a:ext>
                  </a:extLst>
                </a:gridCol>
                <a:gridCol w="902642">
                  <a:extLst>
                    <a:ext uri="{9D8B030D-6E8A-4147-A177-3AD203B41FA5}">
                      <a16:colId xmlns:a16="http://schemas.microsoft.com/office/drawing/2014/main" val="2306417662"/>
                    </a:ext>
                  </a:extLst>
                </a:gridCol>
              </a:tblGrid>
              <a:tr h="3107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Count for Purchase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Purchase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Probability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475128"/>
                  </a:ext>
                </a:extLst>
              </a:tr>
              <a:tr h="24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Subscribed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3 (customers 2, 5, 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3/5 = 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757677"/>
                  </a:ext>
                </a:extLst>
              </a:tr>
              <a:tr h="24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Follows =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 (customers 2, 5, 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3/5 = 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063935"/>
                  </a:ext>
                </a:extLst>
              </a:tr>
              <a:tr h="24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Visited =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 (customers 2, 8, 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3/5 = 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9589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B3A6850-68F6-3D73-E0E2-75F0B345D227}"/>
              </a:ext>
            </a:extLst>
          </p:cNvPr>
          <p:cNvSpPr txBox="1"/>
          <p:nvPr/>
        </p:nvSpPr>
        <p:spPr>
          <a:xfrm>
            <a:off x="6391495" y="1563569"/>
            <a:ext cx="4278833" cy="116955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Customer 11: (1, 0, 1)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P(Purchase = 1 | (1, 0, 1)) </a:t>
            </a:r>
          </a:p>
          <a:p>
            <a:r>
              <a:rPr lang="en-IN" sz="1400" dirty="0">
                <a:solidFill>
                  <a:schemeClr val="bg1"/>
                </a:solidFill>
              </a:rPr>
              <a:t>= </a:t>
            </a:r>
            <a:r>
              <a:rPr lang="en-US" sz="1400" dirty="0">
                <a:solidFill>
                  <a:schemeClr val="bg1"/>
                </a:solidFill>
              </a:rPr>
              <a:t>P(1) × P(Sub = 1 ∣ 1) × P(Follows = 0 ∣ 1) × P(Visit = 1 ∣ 1)</a:t>
            </a:r>
          </a:p>
          <a:p>
            <a:r>
              <a:rPr lang="en-US" sz="1400" dirty="0">
                <a:solidFill>
                  <a:schemeClr val="bg1"/>
                </a:solidFill>
              </a:rPr>
              <a:t>= </a:t>
            </a:r>
            <a:r>
              <a:rPr lang="en-IN" sz="1400" dirty="0">
                <a:solidFill>
                  <a:schemeClr val="bg1"/>
                </a:solidFill>
              </a:rPr>
              <a:t>0.5 × 0.6 × 0.2 × 0.4 = </a:t>
            </a:r>
            <a:r>
              <a:rPr lang="en-IN" sz="1400" b="1" dirty="0">
                <a:solidFill>
                  <a:schemeClr val="bg1"/>
                </a:solidFill>
              </a:rPr>
              <a:t>0.024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C243B7-BEB1-4BE4-04F9-6C219E328AC7}"/>
              </a:ext>
            </a:extLst>
          </p:cNvPr>
          <p:cNvSpPr txBox="1"/>
          <p:nvPr/>
        </p:nvSpPr>
        <p:spPr>
          <a:xfrm>
            <a:off x="6391495" y="4109559"/>
            <a:ext cx="4278833" cy="116955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Customer 11: (1, 0, 1)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P(Purchase = 0 | (1, 0, 1)) </a:t>
            </a:r>
          </a:p>
          <a:p>
            <a:r>
              <a:rPr lang="en-IN" sz="1400" dirty="0">
                <a:solidFill>
                  <a:schemeClr val="bg1"/>
                </a:solidFill>
              </a:rPr>
              <a:t>= </a:t>
            </a:r>
            <a:r>
              <a:rPr lang="en-US" sz="1400" dirty="0">
                <a:solidFill>
                  <a:schemeClr val="bg1"/>
                </a:solidFill>
              </a:rPr>
              <a:t>P(1) × P(Sub = 1 ∣ 0) × P(Follows = 0 ∣ 0) × P(Visit = 1 ∣ 0)</a:t>
            </a:r>
          </a:p>
          <a:p>
            <a:r>
              <a:rPr lang="en-US" sz="1400" dirty="0">
                <a:solidFill>
                  <a:schemeClr val="bg1"/>
                </a:solidFill>
              </a:rPr>
              <a:t>= </a:t>
            </a:r>
            <a:r>
              <a:rPr lang="en-IN" sz="1400" dirty="0">
                <a:solidFill>
                  <a:schemeClr val="bg1"/>
                </a:solidFill>
              </a:rPr>
              <a:t>0.5 × 0.6 × 0.6 × 0.6 = </a:t>
            </a:r>
            <a:r>
              <a:rPr lang="en-IN" sz="1400" b="1" dirty="0">
                <a:solidFill>
                  <a:schemeClr val="bg1"/>
                </a:solidFill>
              </a:rPr>
              <a:t>0.108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4E709D-1DC2-DA19-219E-55F2D05B6F7F}"/>
              </a:ext>
            </a:extLst>
          </p:cNvPr>
          <p:cNvSpPr txBox="1"/>
          <p:nvPr/>
        </p:nvSpPr>
        <p:spPr>
          <a:xfrm>
            <a:off x="6391496" y="5515689"/>
            <a:ext cx="4278832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Conclusion: </a:t>
            </a:r>
          </a:p>
          <a:p>
            <a:r>
              <a:rPr lang="en-IN" dirty="0"/>
              <a:t>Since 0.108 &gt; 0.024,</a:t>
            </a:r>
          </a:p>
          <a:p>
            <a:r>
              <a:rPr lang="en-IN" dirty="0"/>
              <a:t>Prediction: Customer 11 will NOT purchase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0445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1607-636D-0EC7-602B-66B3FFF5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83" y="69802"/>
            <a:ext cx="2784499" cy="1325563"/>
          </a:xfrm>
        </p:spPr>
        <p:txBody>
          <a:bodyPr>
            <a:noAutofit/>
          </a:bodyPr>
          <a:lstStyle/>
          <a:p>
            <a:r>
              <a:rPr lang="en-IN" sz="2800" dirty="0"/>
              <a:t>Support Vector Machines (SVM)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A9121-07F5-220F-2DB1-F0054155A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B46AEA-4A05-CBF7-60A9-18D873E6E377}"/>
              </a:ext>
            </a:extLst>
          </p:cNvPr>
          <p:cNvSpPr txBox="1"/>
          <p:nvPr/>
        </p:nvSpPr>
        <p:spPr>
          <a:xfrm>
            <a:off x="3064286" y="69802"/>
            <a:ext cx="8655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“Find a boundary that separates obese and not-obese dogs with the </a:t>
            </a:r>
            <a:r>
              <a:rPr lang="en-US" b="1" i="1" dirty="0">
                <a:solidFill>
                  <a:srgbClr val="FF0000"/>
                </a:solidFill>
              </a:rPr>
              <a:t>maximum margin”</a:t>
            </a:r>
            <a:endParaRPr lang="en-GB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0E3B5FC-754A-DA84-62B1-42627CFF2D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5515698"/>
              </p:ext>
            </p:extLst>
          </p:nvPr>
        </p:nvGraphicFramePr>
        <p:xfrm>
          <a:off x="105283" y="1188978"/>
          <a:ext cx="3154448" cy="213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37037">
                  <a:extLst>
                    <a:ext uri="{9D8B030D-6E8A-4147-A177-3AD203B41FA5}">
                      <a16:colId xmlns:a16="http://schemas.microsoft.com/office/drawing/2014/main" val="2992704106"/>
                    </a:ext>
                  </a:extLst>
                </a:gridCol>
                <a:gridCol w="1060983">
                  <a:extLst>
                    <a:ext uri="{9D8B030D-6E8A-4147-A177-3AD203B41FA5}">
                      <a16:colId xmlns:a16="http://schemas.microsoft.com/office/drawing/2014/main" val="1247799351"/>
                    </a:ext>
                  </a:extLst>
                </a:gridCol>
                <a:gridCol w="1256428">
                  <a:extLst>
                    <a:ext uri="{9D8B030D-6E8A-4147-A177-3AD203B41FA5}">
                      <a16:colId xmlns:a16="http://schemas.microsoft.com/office/drawing/2014/main" val="4125520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Weight (kg)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Obese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9602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 (Not 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649539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512936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04720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 (Obese)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493873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706722"/>
                  </a:ext>
                </a:extLst>
              </a:tr>
              <a:tr h="272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707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42D090-4F5E-AC7F-9304-F68DB85B3F33}"/>
              </a:ext>
            </a:extLst>
          </p:cNvPr>
          <p:cNvSpPr txBox="1"/>
          <p:nvPr/>
        </p:nvSpPr>
        <p:spPr>
          <a:xfrm>
            <a:off x="105283" y="3622699"/>
            <a:ext cx="3266131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1: Define a boundary</a:t>
            </a:r>
          </a:p>
          <a:p>
            <a:r>
              <a:rPr lang="en-GB" dirty="0"/>
              <a:t>Example: Weight = 13.5 kg</a:t>
            </a:r>
          </a:p>
          <a:p>
            <a:r>
              <a:rPr lang="en-GB" dirty="0"/>
              <a:t>Left -&gt; Not obese</a:t>
            </a:r>
          </a:p>
          <a:p>
            <a:r>
              <a:rPr lang="en-GB" dirty="0"/>
              <a:t>Right -&gt; Obese</a:t>
            </a:r>
          </a:p>
          <a:p>
            <a:r>
              <a:rPr lang="en-GB" dirty="0"/>
              <a:t>But why not 12.5, 13, 14, …?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59A55-3CC3-6D0E-3C99-215128308D64}"/>
              </a:ext>
            </a:extLst>
          </p:cNvPr>
          <p:cNvSpPr txBox="1"/>
          <p:nvPr/>
        </p:nvSpPr>
        <p:spPr>
          <a:xfrm>
            <a:off x="3586634" y="644545"/>
            <a:ext cx="3266131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2: Margin Intuition</a:t>
            </a:r>
          </a:p>
          <a:p>
            <a:r>
              <a:rPr lang="en-GB" dirty="0"/>
              <a:t>SVM looks at the closest dogs from each class</a:t>
            </a:r>
          </a:p>
          <a:p>
            <a:r>
              <a:rPr lang="en-GB" dirty="0"/>
              <a:t>Closest dogs to the boundary</a:t>
            </a:r>
          </a:p>
          <a:p>
            <a:pPr marL="285750" indent="-285750">
              <a:buFontTx/>
              <a:buChar char="-"/>
            </a:pPr>
            <a:r>
              <a:rPr lang="en-GB" dirty="0"/>
              <a:t>Not obese -&gt; D3 (12 kg)</a:t>
            </a:r>
          </a:p>
          <a:p>
            <a:pPr marL="285750" indent="-285750">
              <a:buFontTx/>
              <a:buChar char="-"/>
            </a:pPr>
            <a:r>
              <a:rPr lang="en-GB" dirty="0"/>
              <a:t>Obese -&gt; D4 (15 kg)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5359B4-057C-B26F-7200-6E61649B7CD6}"/>
              </a:ext>
            </a:extLst>
          </p:cNvPr>
          <p:cNvSpPr txBox="1"/>
          <p:nvPr/>
        </p:nvSpPr>
        <p:spPr>
          <a:xfrm>
            <a:off x="3586634" y="2681715"/>
            <a:ext cx="3839086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4: Maximum Margin Decision</a:t>
            </a:r>
          </a:p>
          <a:p>
            <a:r>
              <a:rPr lang="en-US" dirty="0"/>
              <a:t>Distance between closest opposite-class points: Margin = 15 – 12 = 3</a:t>
            </a:r>
          </a:p>
          <a:p>
            <a:r>
              <a:rPr lang="en-US" dirty="0"/>
              <a:t>SVM places the boundary exactly at the middle: Boundary = 13.5</a:t>
            </a:r>
          </a:p>
          <a:p>
            <a:r>
              <a:rPr lang="en-US" dirty="0"/>
              <a:t>This</a:t>
            </a:r>
          </a:p>
          <a:p>
            <a:pPr marL="285750" indent="-285750">
              <a:buFontTx/>
              <a:buChar char="-"/>
            </a:pPr>
            <a:r>
              <a:rPr lang="en-US" dirty="0"/>
              <a:t>Maximizes separation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Minimizes sensitivity to noise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24BC0-F018-9A69-6AC0-610BD35BE3FE}"/>
              </a:ext>
            </a:extLst>
          </p:cNvPr>
          <p:cNvSpPr txBox="1"/>
          <p:nvPr/>
        </p:nvSpPr>
        <p:spPr>
          <a:xfrm>
            <a:off x="7383838" y="633365"/>
            <a:ext cx="326613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5: Final SVM rule</a:t>
            </a:r>
          </a:p>
          <a:p>
            <a:r>
              <a:rPr lang="en-US" dirty="0"/>
              <a:t>IF weight &lt; 13.5 → Not Obese</a:t>
            </a:r>
          </a:p>
          <a:p>
            <a:r>
              <a:rPr lang="en-US" dirty="0"/>
              <a:t>ELSE → Obese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BF8C35-D257-5649-B879-05785AD6F979}"/>
              </a:ext>
            </a:extLst>
          </p:cNvPr>
          <p:cNvSpPr txBox="1"/>
          <p:nvPr/>
        </p:nvSpPr>
        <p:spPr>
          <a:xfrm>
            <a:off x="7760766" y="1844874"/>
            <a:ext cx="3266131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6: Why “Support Vectors”?</a:t>
            </a:r>
          </a:p>
          <a:p>
            <a:r>
              <a:rPr lang="en-US" dirty="0"/>
              <a:t>Because </a:t>
            </a:r>
          </a:p>
          <a:p>
            <a:pPr marL="285750" indent="-285750">
              <a:buFontTx/>
              <a:buChar char="-"/>
            </a:pPr>
            <a:r>
              <a:rPr lang="en-US" dirty="0"/>
              <a:t>Only D3 and D4 determine the boundary</a:t>
            </a:r>
          </a:p>
          <a:p>
            <a:pPr marL="285750" indent="-285750">
              <a:buFontTx/>
              <a:buChar char="-"/>
            </a:pPr>
            <a:r>
              <a:rPr lang="en-US" dirty="0"/>
              <a:t>Other points do not matter</a:t>
            </a:r>
          </a:p>
          <a:p>
            <a:endParaRPr lang="en-US" dirty="0"/>
          </a:p>
          <a:p>
            <a:r>
              <a:rPr lang="en-US" dirty="0"/>
              <a:t>If we remove D1 or D6, the boundary remains the same</a:t>
            </a:r>
          </a:p>
          <a:p>
            <a:r>
              <a:rPr lang="en-US" dirty="0"/>
              <a:t>If we move D3 or D4, boundary moves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E706B4-73FE-D5E5-B802-185BC1017FC1}"/>
              </a:ext>
            </a:extLst>
          </p:cNvPr>
          <p:cNvSpPr txBox="1"/>
          <p:nvPr/>
        </p:nvSpPr>
        <p:spPr>
          <a:xfrm>
            <a:off x="6363573" y="5121836"/>
            <a:ext cx="475581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Step 8: What if data is not perfectly separable?</a:t>
            </a:r>
          </a:p>
          <a:p>
            <a:r>
              <a:rPr lang="en-US" dirty="0"/>
              <a:t>Consider dog with Weight = 13 but Obese</a:t>
            </a:r>
          </a:p>
          <a:p>
            <a:r>
              <a:rPr lang="en-US" dirty="0"/>
              <a:t>Messy data -&gt; Perfect separation is not possible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916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33C6-A1F6-9D3C-0801-F61E00C78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91B67-772B-8ABA-AC68-5AB5629ED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Confusion matrix</a:t>
            </a:r>
            <a:r>
              <a:rPr lang="en-IN" noProof="0" dirty="0"/>
              <a:t>: A table that summarizes how well a classification model performs — by comparing actual labels with predicted labels</a:t>
            </a:r>
          </a:p>
          <a:p>
            <a:r>
              <a:rPr lang="en-IN" noProof="0" dirty="0"/>
              <a:t>Tells us where our model is getting confused — i.e. which classes it is mixing up</a:t>
            </a:r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BFE84E-C2F2-9882-1656-730ADE1DE19B}"/>
              </a:ext>
            </a:extLst>
          </p:cNvPr>
          <p:cNvGraphicFramePr>
            <a:graphicFrameLocks noGrp="1"/>
          </p:cNvGraphicFramePr>
          <p:nvPr/>
        </p:nvGraphicFramePr>
        <p:xfrm>
          <a:off x="1002792" y="3699542"/>
          <a:ext cx="10515600" cy="109728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664046297"/>
                    </a:ext>
                  </a:extLst>
                </a:gridCol>
                <a:gridCol w="9022080">
                  <a:extLst>
                    <a:ext uri="{9D8B030D-6E8A-4147-A177-3AD203B41FA5}">
                      <a16:colId xmlns:a16="http://schemas.microsoft.com/office/drawing/2014/main" val="31507985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407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H</a:t>
                      </a:r>
                      <a:r>
                        <a:rPr lang="en-IN" b="1" baseline="-25000" noProof="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Null hypothesis</a:t>
                      </a:r>
                      <a:r>
                        <a:rPr lang="en-IN" noProof="0" dirty="0"/>
                        <a:t> — the “default” or “no effect” assumption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697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H</a:t>
                      </a:r>
                      <a:r>
                        <a:rPr lang="en-IN" b="1" baseline="-25000" noProof="0" dirty="0"/>
                        <a:t>1</a:t>
                      </a:r>
                      <a:endParaRPr lang="en-IN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Alternative hypothesis</a:t>
                      </a:r>
                      <a:r>
                        <a:rPr lang="en-IN" noProof="0" dirty="0"/>
                        <a:t> — the competing claim, suggesting a difference or effect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27137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9BABA5-F4E5-62AA-18FE-A82A0F179696}"/>
              </a:ext>
            </a:extLst>
          </p:cNvPr>
          <p:cNvGraphicFramePr>
            <a:graphicFrameLocks noGrp="1"/>
          </p:cNvGraphicFramePr>
          <p:nvPr/>
        </p:nvGraphicFramePr>
        <p:xfrm>
          <a:off x="1002792" y="4943126"/>
          <a:ext cx="10515600" cy="109728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020568">
                  <a:extLst>
                    <a:ext uri="{9D8B030D-6E8A-4147-A177-3AD203B41FA5}">
                      <a16:colId xmlns:a16="http://schemas.microsoft.com/office/drawing/2014/main" val="2674913571"/>
                    </a:ext>
                  </a:extLst>
                </a:gridCol>
                <a:gridCol w="7495032">
                  <a:extLst>
                    <a:ext uri="{9D8B030D-6E8A-4147-A177-3AD203B41FA5}">
                      <a16:colId xmlns:a16="http://schemas.microsoft.com/office/drawing/2014/main" val="34734830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Hypothesis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Statement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1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H</a:t>
                      </a:r>
                      <a:r>
                        <a:rPr lang="en-IN" b="1" baseline="-25000" noProof="0" dirty="0"/>
                        <a:t>0</a:t>
                      </a:r>
                      <a:r>
                        <a:rPr lang="en-IN" b="1" noProof="0" dirty="0"/>
                        <a:t>: Email is NOT spam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Default assumption: the email is legitimate (ham)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5812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H</a:t>
                      </a:r>
                      <a:r>
                        <a:rPr lang="en-IN" b="1" baseline="-25000" noProof="0" dirty="0"/>
                        <a:t>1</a:t>
                      </a:r>
                      <a:r>
                        <a:rPr lang="en-IN" b="1" noProof="0" dirty="0"/>
                        <a:t>: Email IS spam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Alternative assumption: the email is spam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08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693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7255-FC10-8EC6-5F67-7F7F9BD4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Confusion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61B770-EA36-5FB9-600F-8ACCE48574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noProof="0" dirty="0"/>
                  <a:t>Model decision = Hypothesis Test</a:t>
                </a:r>
              </a:p>
              <a:p>
                <a:pPr lvl="1"/>
                <a:r>
                  <a:rPr lang="en-IN" noProof="0" dirty="0"/>
                  <a:t>When the model predicts a probability (say </a:t>
                </a:r>
                <a14:m>
                  <m:oMath xmlns:m="http://schemas.openxmlformats.org/officeDocument/2006/math">
                    <m:r>
                      <a:rPr lang="en-IN" i="1" noProof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 noProof="0"/>
                          <m:t>Spam</m:t>
                        </m:r>
                      </m:e>
                    </m:d>
                    <m:r>
                      <a:rPr lang="en-IN" noProof="0" smtClean="0">
                        <a:latin typeface="Cambria Math" panose="02040503050406030204" pitchFamily="18" charset="0"/>
                      </a:rPr>
                      <m:t>=0.8</m:t>
                    </m:r>
                    <m:r>
                      <a:rPr lang="en-IN" b="0" i="0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noProof="0" dirty="0"/>
              </a:p>
              <a:p>
                <a:pPr lvl="2"/>
                <a:r>
                  <a:rPr lang="en-IN" noProof="0" dirty="0"/>
                  <a:t>If </a:t>
                </a:r>
                <a14:m>
                  <m:oMath xmlns:m="http://schemas.openxmlformats.org/officeDocument/2006/math">
                    <m:r>
                      <a:rPr lang="en-IN" i="1" noProof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 noProof="0"/>
                          <m:t>Spam</m:t>
                        </m:r>
                      </m:e>
                    </m:d>
                    <m:r>
                      <a:rPr lang="en-IN" noProof="0" smtClean="0">
                        <a:latin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en-IN" noProof="0" dirty="0"/>
                  <a:t>→ we </a:t>
                </a:r>
                <a:r>
                  <a:rPr lang="en-IN" b="1" noProof="0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noProof="0" dirty="0"/>
                  <a:t>(decide email </a:t>
                </a:r>
                <a:r>
                  <a:rPr lang="en-IN" b="1" noProof="0" dirty="0"/>
                  <a:t>is spam</a:t>
                </a:r>
                <a:r>
                  <a:rPr lang="en-IN" noProof="0" dirty="0"/>
                  <a:t>)</a:t>
                </a:r>
              </a:p>
              <a:p>
                <a:pPr lvl="2"/>
                <a:r>
                  <a:rPr lang="en-IN" noProof="0" dirty="0"/>
                  <a:t>If </a:t>
                </a:r>
                <a14:m>
                  <m:oMath xmlns:m="http://schemas.openxmlformats.org/officeDocument/2006/math">
                    <m:r>
                      <a:rPr lang="en-IN" i="1" noProof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 noProof="0"/>
                          <m:t>Spam</m:t>
                        </m:r>
                      </m:e>
                    </m:d>
                    <m:r>
                      <a:rPr lang="en-IN" noProof="0" smtClean="0">
                        <a:latin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en-IN" noProof="0" dirty="0"/>
                  <a:t>→ we </a:t>
                </a:r>
                <a:r>
                  <a:rPr lang="en-IN" b="1" noProof="0" dirty="0"/>
                  <a:t>fail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noProof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0" noProof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noProof="0" dirty="0"/>
                  <a:t>decide email </a:t>
                </a:r>
                <a:r>
                  <a:rPr lang="en-IN" b="1" noProof="0" dirty="0"/>
                  <a:t>is not spam</a:t>
                </a:r>
                <a:r>
                  <a:rPr lang="en-IN" noProof="0" dirty="0"/>
                  <a:t>)</a:t>
                </a:r>
              </a:p>
              <a:p>
                <a:r>
                  <a:rPr lang="en-IN" noProof="0" dirty="0"/>
                  <a:t>Connecting to Confusion Matrix</a:t>
                </a:r>
              </a:p>
              <a:p>
                <a:endParaRPr lang="en-IN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61B770-EA36-5FB9-600F-8ACCE4857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BD8F96-8101-D1DE-43AD-70CA541E8B2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905123"/>
          <a:ext cx="10856977" cy="210312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457768">
                  <a:extLst>
                    <a:ext uri="{9D8B030D-6E8A-4147-A177-3AD203B41FA5}">
                      <a16:colId xmlns:a16="http://schemas.microsoft.com/office/drawing/2014/main" val="1948497012"/>
                    </a:ext>
                  </a:extLst>
                </a:gridCol>
                <a:gridCol w="2662319">
                  <a:extLst>
                    <a:ext uri="{9D8B030D-6E8A-4147-A177-3AD203B41FA5}">
                      <a16:colId xmlns:a16="http://schemas.microsoft.com/office/drawing/2014/main" val="2673245698"/>
                    </a:ext>
                  </a:extLst>
                </a:gridCol>
                <a:gridCol w="2775610">
                  <a:extLst>
                    <a:ext uri="{9D8B030D-6E8A-4147-A177-3AD203B41FA5}">
                      <a16:colId xmlns:a16="http://schemas.microsoft.com/office/drawing/2014/main" val="3680328543"/>
                    </a:ext>
                  </a:extLst>
                </a:gridCol>
                <a:gridCol w="2961280">
                  <a:extLst>
                    <a:ext uri="{9D8B030D-6E8A-4147-A177-3AD203B41FA5}">
                      <a16:colId xmlns:a16="http://schemas.microsoft.com/office/drawing/2014/main" val="3396256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Actual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Model Decision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What happened (statistically)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Type of Error / Correctness</a:t>
                      </a:r>
                      <a:endParaRPr lang="en-IN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985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Not spam (H₀ true)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Predicted not spam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Correctly accepted H₀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True Negative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566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Not spam (H₀ true)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Predicted spam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Wrongly rejected H₀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False Positive (Type I error)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214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Spam (H₁ true)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Predicted spam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Correctly rejected H₀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True Positive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311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Spam (H₁ true)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Predicted not spam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Failed to reject H₀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False Negative (Type II error)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618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861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EF3E-1EE4-5EF8-4D15-92FB4DEFB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5600" cy="722375"/>
          </a:xfrm>
        </p:spPr>
        <p:txBody>
          <a:bodyPr/>
          <a:lstStyle/>
          <a:p>
            <a:r>
              <a:rPr lang="en-IN" noProof="0" dirty="0"/>
              <a:t>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48DB3-03FB-0117-CCA4-64C26F912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0976"/>
            <a:ext cx="10515600" cy="5225987"/>
          </a:xfrm>
        </p:spPr>
        <p:txBody>
          <a:bodyPr/>
          <a:lstStyle/>
          <a:p>
            <a:r>
              <a:rPr lang="en-IN" noProof="0" dirty="0"/>
              <a:t>Structure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19EC20-A1E0-557B-008E-03B7666A89EA}"/>
              </a:ext>
            </a:extLst>
          </p:cNvPr>
          <p:cNvGraphicFramePr>
            <a:graphicFrameLocks noGrp="1"/>
          </p:cNvGraphicFramePr>
          <p:nvPr/>
        </p:nvGraphicFramePr>
        <p:xfrm>
          <a:off x="1011936" y="1477550"/>
          <a:ext cx="10515600" cy="240792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353056">
                  <a:extLst>
                    <a:ext uri="{9D8B030D-6E8A-4147-A177-3AD203B41FA5}">
                      <a16:colId xmlns:a16="http://schemas.microsoft.com/office/drawing/2014/main" val="3820426989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3567010568"/>
                    </a:ext>
                  </a:extLst>
                </a:gridCol>
                <a:gridCol w="4276344">
                  <a:extLst>
                    <a:ext uri="{9D8B030D-6E8A-4147-A177-3AD203B41FA5}">
                      <a16:colId xmlns:a16="http://schemas.microsoft.com/office/drawing/2014/main" val="3248122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Predicted: 0 (Ham / Not Spam)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Predicted: 1 (Spam)</a:t>
                      </a:r>
                      <a:endParaRPr lang="en-IN" sz="20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794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Actual: 0 (Ham)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TN – True Negative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(Correctly predicted Not Spam)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FP – False Positive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(Predicted Spam but actually Not Spam)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7312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Actual: 1 (Spam)</a:t>
                      </a:r>
                      <a:endParaRPr lang="en-IN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FN – False Negative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(Predicted Not Spam but actually Spam)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TP – True Positive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(Correctly predicted Spam)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4435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94D6DB-0910-7058-F161-76CD421D9FA2}"/>
              </a:ext>
            </a:extLst>
          </p:cNvPr>
          <p:cNvGraphicFramePr>
            <a:graphicFrameLocks noGrp="1"/>
          </p:cNvGraphicFramePr>
          <p:nvPr/>
        </p:nvGraphicFramePr>
        <p:xfrm>
          <a:off x="925068" y="4764024"/>
          <a:ext cx="10515600" cy="109728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94274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404784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413429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Predicted: 0 (Ham)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Predicted: 1 (Spam)</a:t>
                      </a:r>
                      <a:endParaRPr lang="en-IN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2375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Actual: 0 (Ham)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90 (</a:t>
                      </a:r>
                      <a:r>
                        <a:rPr lang="en-IN" b="1" noProof="0" dirty="0"/>
                        <a:t>TN</a:t>
                      </a:r>
                      <a:r>
                        <a:rPr lang="en-IN" noProof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 (</a:t>
                      </a:r>
                      <a:r>
                        <a:rPr lang="en-IN" b="1" noProof="0" dirty="0"/>
                        <a:t>FP</a:t>
                      </a:r>
                      <a:r>
                        <a:rPr lang="en-IN" noProof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5491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Actual: 1 (Spam)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20 (</a:t>
                      </a:r>
                      <a:r>
                        <a:rPr lang="en-IN" b="1" noProof="0" dirty="0"/>
                        <a:t>FN</a:t>
                      </a:r>
                      <a:r>
                        <a:rPr lang="en-IN" noProof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80 (</a:t>
                      </a:r>
                      <a:r>
                        <a:rPr lang="en-IN" b="1" noProof="0" dirty="0"/>
                        <a:t>TP</a:t>
                      </a:r>
                      <a:r>
                        <a:rPr lang="en-IN" noProof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6636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560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B8A48-9CFE-27C4-8692-C1DB338A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Metrics Derived From Confusion Matrix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866547-671F-404C-1A49-FD260AC0D9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8" y="1825624"/>
          <a:ext cx="11119105" cy="450290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892808">
                  <a:extLst>
                    <a:ext uri="{9D8B030D-6E8A-4147-A177-3AD203B41FA5}">
                      <a16:colId xmlns:a16="http://schemas.microsoft.com/office/drawing/2014/main" val="3777908112"/>
                    </a:ext>
                  </a:extLst>
                </a:gridCol>
                <a:gridCol w="2554834">
                  <a:extLst>
                    <a:ext uri="{9D8B030D-6E8A-4147-A177-3AD203B41FA5}">
                      <a16:colId xmlns:a16="http://schemas.microsoft.com/office/drawing/2014/main" val="3489602681"/>
                    </a:ext>
                  </a:extLst>
                </a:gridCol>
                <a:gridCol w="2776118">
                  <a:extLst>
                    <a:ext uri="{9D8B030D-6E8A-4147-A177-3AD203B41FA5}">
                      <a16:colId xmlns:a16="http://schemas.microsoft.com/office/drawing/2014/main" val="169128107"/>
                    </a:ext>
                  </a:extLst>
                </a:gridCol>
                <a:gridCol w="2715768">
                  <a:extLst>
                    <a:ext uri="{9D8B030D-6E8A-4147-A177-3AD203B41FA5}">
                      <a16:colId xmlns:a16="http://schemas.microsoft.com/office/drawing/2014/main" val="3058661579"/>
                    </a:ext>
                  </a:extLst>
                </a:gridCol>
                <a:gridCol w="1179577">
                  <a:extLst>
                    <a:ext uri="{9D8B030D-6E8A-4147-A177-3AD203B41FA5}">
                      <a16:colId xmlns:a16="http://schemas.microsoft.com/office/drawing/2014/main" val="2937560234"/>
                    </a:ext>
                  </a:extLst>
                </a:gridCol>
              </a:tblGrid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Metric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Formula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Meaning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Example (TN=90, FP=10, FN=20, TP=80)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Value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952395341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Accuracy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(TP + TN) / 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(TP + TN + FP + FN)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Overall correctness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(80+90)/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(80+90+10+20)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0.85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531903368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Precision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TP / (TP + FP)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Of predicted positives, how many were correct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80/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(80+10)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0.89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083190969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Recall (Sensitivity)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TP / (TP + FN)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Of actual positives, how many were caught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80/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(80+20)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0.80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730556513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Specificity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TN / (TN + FP)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Of actual negatives, how many were correct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90/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(90+10)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0.90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831012174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F1 Score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2 × (Precision × Recall) / (Precision + Recall)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Balance between precision and recall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noProof="0" dirty="0"/>
                        <a:t>2×(0.89×0.80)/</a:t>
                      </a:r>
                    </a:p>
                    <a:p>
                      <a:pPr>
                        <a:buNone/>
                      </a:pPr>
                      <a:r>
                        <a:rPr lang="en-IN" sz="2000" noProof="0" dirty="0"/>
                        <a:t>(0.89+0.80)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noProof="0" dirty="0"/>
                        <a:t>0.84</a:t>
                      </a:r>
                      <a:endParaRPr lang="en-IN" sz="2000" noProof="0" dirty="0"/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950212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628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15140-5886-CF99-6558-EE390C729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504"/>
            <a:ext cx="10515600" cy="1145406"/>
          </a:xfrm>
        </p:spPr>
        <p:txBody>
          <a:bodyPr>
            <a:normAutofit/>
          </a:bodyPr>
          <a:lstStyle/>
          <a:p>
            <a:r>
              <a:rPr lang="en-IN" noProof="0" dirty="0"/>
              <a:t>Interpretation of Python Classification Report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8163AC-E3E4-C9D4-C9EF-C1C4BC7D0C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88758" y="1260910"/>
          <a:ext cx="11463688" cy="5820046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319193">
                  <a:extLst>
                    <a:ext uri="{9D8B030D-6E8A-4147-A177-3AD203B41FA5}">
                      <a16:colId xmlns:a16="http://schemas.microsoft.com/office/drawing/2014/main" val="1097948249"/>
                    </a:ext>
                  </a:extLst>
                </a:gridCol>
                <a:gridCol w="2208882">
                  <a:extLst>
                    <a:ext uri="{9D8B030D-6E8A-4147-A177-3AD203B41FA5}">
                      <a16:colId xmlns:a16="http://schemas.microsoft.com/office/drawing/2014/main" val="2100280629"/>
                    </a:ext>
                  </a:extLst>
                </a:gridCol>
                <a:gridCol w="1268061">
                  <a:extLst>
                    <a:ext uri="{9D8B030D-6E8A-4147-A177-3AD203B41FA5}">
                      <a16:colId xmlns:a16="http://schemas.microsoft.com/office/drawing/2014/main" val="3810151233"/>
                    </a:ext>
                  </a:extLst>
                </a:gridCol>
                <a:gridCol w="1206704">
                  <a:extLst>
                    <a:ext uri="{9D8B030D-6E8A-4147-A177-3AD203B41FA5}">
                      <a16:colId xmlns:a16="http://schemas.microsoft.com/office/drawing/2014/main" val="549585900"/>
                    </a:ext>
                  </a:extLst>
                </a:gridCol>
                <a:gridCol w="5460848">
                  <a:extLst>
                    <a:ext uri="{9D8B030D-6E8A-4147-A177-3AD203B41FA5}">
                      <a16:colId xmlns:a16="http://schemas.microsoft.com/office/drawing/2014/main" val="1867178990"/>
                    </a:ext>
                  </a:extLst>
                </a:gridCol>
              </a:tblGrid>
              <a:tr h="6269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Metric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Definition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0 Value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1 Value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Interpretation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extLst>
                  <a:ext uri="{0D108BD9-81ED-4DB2-BD59-A6C34878D82A}">
                    <a16:rowId xmlns:a16="http://schemas.microsoft.com/office/drawing/2014/main" val="3423276977"/>
                  </a:ext>
                </a:extLst>
              </a:tr>
              <a:tr h="9550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Support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 actual number of occurrences of each class in the test set.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150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81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There are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150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instances of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0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and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81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instances of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1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. The dataset is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imbalanced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, with Class 0 having almost twice as many samples as Class 1.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extLst>
                  <a:ext uri="{0D108BD9-81ED-4DB2-BD59-A6C34878D82A}">
                    <a16:rowId xmlns:a16="http://schemas.microsoft.com/office/drawing/2014/main" val="2535223645"/>
                  </a:ext>
                </a:extLst>
              </a:tr>
              <a:tr h="1216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Precision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 proportion of positive identifications that were actually correct. 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0.80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0.73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When the model predicts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0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, it is correct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80%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of the time. When it predicts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1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, it is correct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73%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of the time. The model is better at precisely predicting Class 0.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extLst>
                  <a:ext uri="{0D108BD9-81ED-4DB2-BD59-A6C34878D82A}">
                    <a16:rowId xmlns:a16="http://schemas.microsoft.com/office/drawing/2014/main" val="3295693307"/>
                  </a:ext>
                </a:extLst>
              </a:tr>
              <a:tr h="12162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Recall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 proportion of actual positives that were correctly identified.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0.88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0.60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 model correctly identifies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88%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of all actual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0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instances. It only correctly identifies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60%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of all actual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1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instances. This is a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significant weakness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for Class 1.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extLst>
                  <a:ext uri="{0D108BD9-81ED-4DB2-BD59-A6C34878D82A}">
                    <a16:rowId xmlns:a16="http://schemas.microsoft.com/office/drawing/2014/main" val="4094096697"/>
                  </a:ext>
                </a:extLst>
              </a:tr>
              <a:tr h="18054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F1-Score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 harmonic mean of Precision and Recall. A balanced measure, especially useful for imbalanced datasets. 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0.84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0.66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The model's performance on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0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(0.84) is notably better than its performance on </a:t>
                      </a:r>
                      <a:r>
                        <a:rPr lang="en-IN" sz="1800" b="1" noProof="0" dirty="0">
                          <a:solidFill>
                            <a:srgbClr val="1B1C1D"/>
                          </a:solidFill>
                          <a:effectLst/>
                        </a:rPr>
                        <a:t>Class 1</a:t>
                      </a:r>
                      <a:r>
                        <a:rPr lang="en-IN" sz="1800" noProof="0" dirty="0">
                          <a:solidFill>
                            <a:srgbClr val="1B1C1D"/>
                          </a:solidFill>
                          <a:effectLst/>
                        </a:rPr>
                        <a:t> (0.66), reflecting the higher recall for Class 0 and lower recall for Class 1.</a:t>
                      </a:r>
                      <a:endParaRPr lang="en-IN" sz="18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26361" marR="26361" marT="17574" marB="17574" anchor="ctr"/>
                </a:tc>
                <a:extLst>
                  <a:ext uri="{0D108BD9-81ED-4DB2-BD59-A6C34878D82A}">
                    <a16:rowId xmlns:a16="http://schemas.microsoft.com/office/drawing/2014/main" val="2391339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761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DA17-932D-D577-E92B-F4A0952AD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Hyperparameter Tuning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AB206-C77A-4B1D-7D1A-A1632D165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Hyperparameter</a:t>
            </a:r>
            <a:r>
              <a:rPr lang="en-IN" dirty="0"/>
              <a:t>: Settings we choose, not values learnt from data</a:t>
            </a:r>
          </a:p>
          <a:p>
            <a:r>
              <a:rPr lang="en-IN" dirty="0"/>
              <a:t>They control how a model learns</a:t>
            </a:r>
          </a:p>
          <a:p>
            <a:pPr lvl="1"/>
            <a:r>
              <a:rPr lang="en-IN" dirty="0"/>
              <a:t>K in KNN, C in SVM, Depth in Decision Trees</a:t>
            </a:r>
          </a:p>
          <a:p>
            <a:r>
              <a:rPr lang="en-IN" dirty="0"/>
              <a:t>Hyperparameter Optimization Methods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DBBB92-8289-E323-A760-A44E65182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613321"/>
              </p:ext>
            </p:extLst>
          </p:nvPr>
        </p:nvGraphicFramePr>
        <p:xfrm>
          <a:off x="789339" y="3821555"/>
          <a:ext cx="10515600" cy="146304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114405">
                  <a:extLst>
                    <a:ext uri="{9D8B030D-6E8A-4147-A177-3AD203B41FA5}">
                      <a16:colId xmlns:a16="http://schemas.microsoft.com/office/drawing/2014/main" val="1587069880"/>
                    </a:ext>
                  </a:extLst>
                </a:gridCol>
                <a:gridCol w="4895995">
                  <a:extLst>
                    <a:ext uri="{9D8B030D-6E8A-4147-A177-3AD203B41FA5}">
                      <a16:colId xmlns:a16="http://schemas.microsoft.com/office/drawing/2014/main" val="21232722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59673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it means (simple)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When to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2954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Manual Search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You change values yourself based on 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Small models, learning 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531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Grid Search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Try </a:t>
                      </a:r>
                      <a:r>
                        <a:rPr lang="en-US" b="1"/>
                        <a:t>all possible combinations</a:t>
                      </a:r>
                      <a:r>
                        <a:rPr lang="en-US"/>
                        <a:t> of parameters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When parameters are few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023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Random Search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Try </a:t>
                      </a:r>
                      <a:r>
                        <a:rPr lang="en-US" b="1"/>
                        <a:t>random combinations</a:t>
                      </a:r>
                      <a:r>
                        <a:rPr lang="en-US"/>
                        <a:t> within a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When parameters are many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3850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119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3104</Words>
  <Application>Microsoft Office PowerPoint</Application>
  <PresentationFormat>Widescreen</PresentationFormat>
  <Paragraphs>865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Google Sans Text</vt:lpstr>
      <vt:lpstr>Office Theme</vt:lpstr>
      <vt:lpstr>Machine Learning - Classification</vt:lpstr>
      <vt:lpstr>Logistic Regression: Predict Obesity for a Dog</vt:lpstr>
      <vt:lpstr>Entropy</vt:lpstr>
      <vt:lpstr>Decision Tree</vt:lpstr>
      <vt:lpstr>Gini Index/Coefficient/Impurity</vt:lpstr>
      <vt:lpstr>Random Forest</vt:lpstr>
      <vt:lpstr>K-Nearest Neighbours (KNN)</vt:lpstr>
      <vt:lpstr>Naïve Bayes: Recap</vt:lpstr>
      <vt:lpstr>Naïve Bayes</vt:lpstr>
      <vt:lpstr>Support Vector Machines (SVM)</vt:lpstr>
      <vt:lpstr>Confusion Matrix</vt:lpstr>
      <vt:lpstr>Confusion Matrix</vt:lpstr>
      <vt:lpstr>Confusion Matrix</vt:lpstr>
      <vt:lpstr>Metrics Derived From Confusion Matrix</vt:lpstr>
      <vt:lpstr>Interpretation of Python Classification Report</vt:lpstr>
      <vt:lpstr>Hyperparameter Tuning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9</cp:revision>
  <dcterms:created xsi:type="dcterms:W3CDTF">2026-01-19T06:24:41Z</dcterms:created>
  <dcterms:modified xsi:type="dcterms:W3CDTF">2026-01-19T10:50:24Z</dcterms:modified>
</cp:coreProperties>
</file>