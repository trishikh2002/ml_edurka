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19FB-B50E-16C9-7012-EF1100943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817BB-EDE9-27CC-97C4-FACDCD9FE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B3C9-659E-E5B3-0F93-2CA136D2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D164-7434-D00E-B378-89D006E2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7B59B-B40D-14CE-82B3-09C0A180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1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D21A-2560-681C-9F69-1A521435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2D05-B1D9-6F3B-0729-232F1F6AE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85DFB-9AC3-2F76-2A92-CAD901F3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1A69C-C67E-04D5-34EC-122321A1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44497-DEC8-FF3F-2504-D14DE912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73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BB96-FF1F-85A3-34B7-CD230FEE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26E67-4091-AEBC-7267-6E0E60CE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0165-47AA-9663-E481-DE61207E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AB2B-EE30-7873-01C7-9F5A0D7A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801C-7AB0-BFB9-D71A-7C8DDBAB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28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D66F-14F8-EBA6-4A38-93172EAC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FD5C-0488-4C13-1D59-4195D5AE3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1AEBD-A48C-E732-2FFF-E61FA3C1F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230BA-DACB-1EF1-42D1-2FCB7227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A43CA-4442-797B-7EAF-CEA48535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9CE95-07DD-B334-508A-934F7346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26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6E69-D96A-E5C0-CCF1-1AE54E50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A517E-CFC7-6693-D36B-B453AA29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86F78-6837-9906-71EE-AFFCDD043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7CEB0-A82C-990C-F70B-1A69B0C8B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1F11F-11B5-F8F3-CAC0-F1A88DBE5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B44C6-1A68-552A-16ED-B160C21D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AB102-145B-3617-71A3-D1D6CF66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ACC68-CA35-210E-807B-0D6538DA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07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064B-034D-514A-1D37-0227E2FA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2ECB9-3A71-36D1-AC54-CBFB669C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C4842-3721-AD14-3F32-49FED959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51D9-FD24-5B60-A40B-65DEAF6D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48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F4A5C-8E33-0254-822A-5C3B49CD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C9EE4-71F8-4BBC-4812-7D4A3622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BB627-924A-8436-D8B7-CDD669B7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53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354F-C4E3-5CEC-0957-F5B2C3AF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617D-E084-C05D-6B64-AF8B6135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F81CD-B7A1-8374-5409-FFF7F0BA5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C0B2F-E5EB-69B3-6F59-7B178DDB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A9C13-E6D1-37F2-FB91-2B6C5502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815AD-90FE-2C06-255F-ADCB0CF2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97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1C6B-CFDF-FD8C-B34A-6853FC65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3B41D-7E89-8D2B-9E12-426F32DC6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6FE0C-7C90-03C7-B902-487157AA5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CC32F-2E07-A60B-883A-A3AAEA17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24BE1-8E2D-B70B-419E-002B37E5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0899F-7557-7B57-6CB4-E9C31C7A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76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6234-1232-F725-3F9D-2AA586A2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A5405-57DB-D3AA-BDC7-30DB0E67C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B1DC-07BE-C0A3-FC44-2DB2F04B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F1CF-9E6F-A981-91AD-D8AFBCB5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FAD0C-CDF5-FA8B-0144-90269F69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9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0283B-1588-067E-6558-27744DFA0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9DC75-6A2B-7844-25E0-8F3F2A4CD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CF405-24B7-3377-39BD-D3D45256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5CA2E-D028-08A6-A6E1-4E538F56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AC91D-B69F-5DEE-ACE3-79C1876C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43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A54BD-95CD-426F-4094-CD4108A6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167C9-5864-9D95-E798-9F9EC9723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AB47-1C3E-0924-B066-7181EC4B4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78F56-4E38-4D99-BB90-73A404CFCF41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A1157-1D75-5043-74AF-EBE7B6165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0D8E-96F1-10D2-8B27-837DFC0A9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6503C-B66F-42E0-B791-C91774248D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16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F240-64BE-30A9-9A81-BC615131E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Machine Learning</a:t>
            </a:r>
            <a:br>
              <a:rPr lang="en-IN"/>
            </a:br>
            <a:r>
              <a:rPr lang="en-IN"/>
              <a:t>Module </a:t>
            </a:r>
            <a:r>
              <a:rPr lang="en-IN" dirty="0"/>
              <a:t>1: Additional Material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B992D-EF7C-DA74-A81A-4BF97B4A4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IN" dirty="0"/>
              <a:t>(https://www.linkedin.com/in/atulkahate/)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4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57B8-216B-216B-C640-4D3B72F2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 Methods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7FE4B-C5DF-ED12-4AB3-F1E94573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Filter methods (Before the model is built)</a:t>
            </a:r>
          </a:p>
          <a:p>
            <a:pPr lvl="1"/>
            <a:r>
              <a:rPr lang="en-IN" dirty="0"/>
              <a:t>Correlation coefficient</a:t>
            </a:r>
          </a:p>
          <a:p>
            <a:pPr lvl="1"/>
            <a:r>
              <a:rPr lang="en-IN" dirty="0"/>
              <a:t>Chi-square test</a:t>
            </a:r>
          </a:p>
          <a:p>
            <a:pPr lvl="1"/>
            <a:r>
              <a:rPr lang="en-IN" dirty="0"/>
              <a:t>Variance threshold</a:t>
            </a:r>
          </a:p>
          <a:p>
            <a:r>
              <a:rPr lang="en-IN" dirty="0"/>
              <a:t>Wrapper methods (After the model is built)</a:t>
            </a:r>
          </a:p>
          <a:p>
            <a:pPr lvl="1"/>
            <a:r>
              <a:rPr lang="en-IN" dirty="0"/>
              <a:t>Forward selection</a:t>
            </a:r>
          </a:p>
          <a:p>
            <a:pPr lvl="1"/>
            <a:r>
              <a:rPr lang="en-IN" dirty="0"/>
              <a:t>Backward selection</a:t>
            </a:r>
          </a:p>
          <a:p>
            <a:pPr lvl="1"/>
            <a:r>
              <a:rPr lang="en-IN" dirty="0"/>
              <a:t>Recursive feature elimination</a:t>
            </a:r>
          </a:p>
          <a:p>
            <a:r>
              <a:rPr lang="en-IN" dirty="0"/>
              <a:t>Embedded methods (During the model building)</a:t>
            </a:r>
          </a:p>
          <a:p>
            <a:pPr lvl="1"/>
            <a:r>
              <a:rPr lang="en-IN" dirty="0"/>
              <a:t>LASSO (L1 Regularization)</a:t>
            </a:r>
          </a:p>
          <a:p>
            <a:pPr lvl="1"/>
            <a:r>
              <a:rPr lang="en-IN" dirty="0"/>
              <a:t>Decision tree</a:t>
            </a:r>
          </a:p>
          <a:p>
            <a:pPr lvl="1"/>
            <a:r>
              <a:rPr lang="en-IN" dirty="0"/>
              <a:t>Elastic 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366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8840-9FAA-7256-B6A9-029CDAC1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 Methods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417BD1-F662-ABB1-44D8-F122BDC7C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688629"/>
              </p:ext>
            </p:extLst>
          </p:nvPr>
        </p:nvGraphicFramePr>
        <p:xfrm>
          <a:off x="838200" y="2309654"/>
          <a:ext cx="10515600" cy="3383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81360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19388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7754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20114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does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232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Correlation Coefficient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linear relationship between feature and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house price prediction</a:t>
                      </a:r>
                      <a:r>
                        <a:rPr lang="en-US"/>
                        <a:t>, remove one of area or number_of_rooms if both are highly correlated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63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Chi-Square Test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Tests dependency between feature and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spam detection</a:t>
                      </a:r>
                      <a:r>
                        <a:rPr lang="en-US"/>
                        <a:t>, test if word “free” is dependent on spam/not-spam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29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Variance Threshold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Removes features with very low 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 </a:t>
                      </a:r>
                      <a:r>
                        <a:rPr lang="en-US" b="1" dirty="0"/>
                        <a:t>sensor data</a:t>
                      </a:r>
                      <a:r>
                        <a:rPr lang="en-US" dirty="0"/>
                        <a:t>, remove sensors that show almost constant readings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19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40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B884-7BAC-1F75-C255-26926C86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Wrapper Methods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CFB9C2-FFCD-8201-CF56-44376DDAA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353531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347504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73857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8026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9265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it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19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Forward Selection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Starts with no features and adds one at a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Any ML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student performance prediction</a:t>
                      </a:r>
                      <a:r>
                        <a:rPr lang="en-US"/>
                        <a:t>, start with attendance, then add study_hours, then previous_scores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02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Backward Elimination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Starts with all features and removes least useful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Regression /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medical diagnosis</a:t>
                      </a:r>
                      <a:r>
                        <a:rPr lang="en-US"/>
                        <a:t>, remove least impactful test results step-by-step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57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Recursive Feature Elimination (RFE)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Recursively removes least important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Linear / Tree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 </a:t>
                      </a:r>
                      <a:r>
                        <a:rPr lang="en-US" b="1" dirty="0"/>
                        <a:t>text classification</a:t>
                      </a:r>
                      <a:r>
                        <a:rPr lang="en-US" dirty="0"/>
                        <a:t>, remove least important TF-IDF words iteratively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028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1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C181-DE6A-3EF1-BDEA-B150E454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Methods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46D280-FE87-1C39-72F2-1DFF14381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102062"/>
              </p:ext>
            </p:extLst>
          </p:nvPr>
        </p:nvGraphicFramePr>
        <p:xfrm>
          <a:off x="838200" y="2309654"/>
          <a:ext cx="10515600" cy="31089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852132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10398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433590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92624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it selects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292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LASSO (L1 Regularization)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Forces some coefficients to zero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salary prediction</a:t>
                      </a:r>
                      <a:r>
                        <a:rPr lang="en-US"/>
                        <a:t>, LASSO drops irrelevant features like employee_id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22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Decision Tree Feature Importance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Selects features used in splits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Tree-based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 </a:t>
                      </a:r>
                      <a:r>
                        <a:rPr lang="en-US" b="1"/>
                        <a:t>loan approval</a:t>
                      </a:r>
                      <a:r>
                        <a:rPr lang="en-US"/>
                        <a:t>, tree selects credit_score over zip_code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893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Elastic Net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Combines L1 + L2 regularization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Linear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 </a:t>
                      </a:r>
                      <a:r>
                        <a:rPr lang="en-US" b="1" dirty="0"/>
                        <a:t>gene expression data</a:t>
                      </a:r>
                      <a:r>
                        <a:rPr lang="en-US" dirty="0"/>
                        <a:t>, handles correlated genes effectively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108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7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2E5-9D56-1449-A081-19628BEC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Multicollinearity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01C81-39AC-192B-D4C3-7A1824996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Multicollinearity</a:t>
            </a:r>
            <a:r>
              <a:rPr lang="en-IN" dirty="0"/>
              <a:t>: </a:t>
            </a:r>
            <a:r>
              <a:rPr lang="en-US" dirty="0"/>
              <a:t>Two or more input features are strongly correlated with each other</a:t>
            </a:r>
          </a:p>
          <a:p>
            <a:r>
              <a:rPr lang="en-US" dirty="0"/>
              <a:t>Example: House size in square feet and Number of rooms</a:t>
            </a:r>
          </a:p>
          <a:p>
            <a:r>
              <a:rPr lang="en-US" dirty="0"/>
              <a:t>Usually increase together -&gt; High correlation</a:t>
            </a:r>
          </a:p>
          <a:p>
            <a:r>
              <a:rPr lang="en-US" dirty="0"/>
              <a:t>Problem: Model gets confused about which one is more important</a:t>
            </a:r>
          </a:p>
          <a:p>
            <a:r>
              <a:rPr lang="en-US" b="1" dirty="0"/>
              <a:t>Variance Inflation Factor (VIF)</a:t>
            </a:r>
            <a:r>
              <a:rPr lang="en-US" dirty="0"/>
              <a:t>: Measures how much a feature is explained by other features</a:t>
            </a:r>
          </a:p>
          <a:p>
            <a:pPr lvl="1"/>
            <a:r>
              <a:rPr lang="en-US" dirty="0"/>
              <a:t>Tells us: Is this feature important or redundant?</a:t>
            </a:r>
          </a:p>
          <a:p>
            <a:r>
              <a:rPr lang="en-US" dirty="0"/>
              <a:t>Here, R</a:t>
            </a:r>
            <a:r>
              <a:rPr lang="en-US" baseline="-25000" dirty="0"/>
              <a:t>i</a:t>
            </a:r>
            <a:r>
              <a:rPr lang="en-US" baseline="30000" dirty="0"/>
              <a:t>2</a:t>
            </a:r>
            <a:r>
              <a:rPr lang="en-US" dirty="0"/>
              <a:t> = R</a:t>
            </a:r>
            <a:r>
              <a:rPr lang="en-US" baseline="30000" dirty="0"/>
              <a:t>2</a:t>
            </a:r>
            <a:r>
              <a:rPr lang="en-US" dirty="0"/>
              <a:t> is when feature </a:t>
            </a:r>
            <a:r>
              <a:rPr lang="en-US" dirty="0" err="1"/>
              <a:t>i</a:t>
            </a:r>
            <a:r>
              <a:rPr lang="en-US" dirty="0"/>
              <a:t> is predicted using all other features</a:t>
            </a:r>
          </a:p>
          <a:p>
            <a:r>
              <a:rPr lang="en-US" dirty="0"/>
              <a:t>Each feature will get its own VIF value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B121D-8001-BF0F-C895-805C2B73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354" y="4381007"/>
            <a:ext cx="1781910" cy="8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0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3409-274D-FB95-AF77-5741D50D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VIF Calculation Step-by-Step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E5D9-6CC9-BC66-D005-A6093A0C3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For each feature x</a:t>
            </a:r>
            <a:r>
              <a:rPr lang="en-IN" baseline="-25000" dirty="0"/>
              <a:t>i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Treat x</a:t>
            </a:r>
            <a:r>
              <a:rPr lang="en-IN" baseline="-25000" dirty="0"/>
              <a:t>i</a:t>
            </a:r>
            <a:r>
              <a:rPr lang="en-IN" dirty="0"/>
              <a:t> as the </a:t>
            </a:r>
            <a:r>
              <a:rPr lang="en-IN" b="1" dirty="0"/>
              <a:t>target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Use all the other features as </a:t>
            </a:r>
            <a:r>
              <a:rPr lang="en-IN" b="1" dirty="0"/>
              <a:t>predictors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Compute </a:t>
            </a:r>
            <a:r>
              <a:rPr lang="en-IN" b="1" dirty="0"/>
              <a:t>R</a:t>
            </a:r>
            <a:r>
              <a:rPr lang="en-IN" b="1" baseline="30000" dirty="0"/>
              <a:t>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Plug this R</a:t>
            </a:r>
            <a:r>
              <a:rPr lang="en-IN" baseline="30000" dirty="0"/>
              <a:t>2</a:t>
            </a:r>
            <a:r>
              <a:rPr lang="en-IN" dirty="0"/>
              <a:t> into VIF formula</a:t>
            </a: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37C069-5131-9E33-602B-63672729B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02704"/>
              </p:ext>
            </p:extLst>
          </p:nvPr>
        </p:nvGraphicFramePr>
        <p:xfrm>
          <a:off x="1159287" y="4079473"/>
          <a:ext cx="9764652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882326">
                  <a:extLst>
                    <a:ext uri="{9D8B030D-6E8A-4147-A177-3AD203B41FA5}">
                      <a16:colId xmlns:a16="http://schemas.microsoft.com/office/drawing/2014/main" val="926637608"/>
                    </a:ext>
                  </a:extLst>
                </a:gridCol>
                <a:gridCol w="4882326">
                  <a:extLst>
                    <a:ext uri="{9D8B030D-6E8A-4147-A177-3AD203B41FA5}">
                      <a16:colId xmlns:a16="http://schemas.microsoft.com/office/drawing/2014/main" val="3319111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VIF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39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VIF = 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correlation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2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1 &lt; VIF &lt; 5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Moderate correlation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8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VIF &gt; 5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 multicollinearity (problem)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12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68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8F77-F050-A283-3910-7B7971DA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63"/>
            <a:ext cx="10515600" cy="597274"/>
          </a:xfrm>
        </p:spPr>
        <p:txBody>
          <a:bodyPr>
            <a:normAutofit fontScale="90000"/>
          </a:bodyPr>
          <a:lstStyle/>
          <a:p>
            <a:r>
              <a:rPr lang="en-IN" dirty="0"/>
              <a:t>VIF Example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7AC4D3-2583-1C74-FE1E-EBCEF1C40D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683736"/>
              </p:ext>
            </p:extLst>
          </p:nvPr>
        </p:nvGraphicFramePr>
        <p:xfrm>
          <a:off x="293749" y="681037"/>
          <a:ext cx="3901324" cy="173778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75331">
                  <a:extLst>
                    <a:ext uri="{9D8B030D-6E8A-4147-A177-3AD203B41FA5}">
                      <a16:colId xmlns:a16="http://schemas.microsoft.com/office/drawing/2014/main" val="3720047484"/>
                    </a:ext>
                  </a:extLst>
                </a:gridCol>
                <a:gridCol w="975331">
                  <a:extLst>
                    <a:ext uri="{9D8B030D-6E8A-4147-A177-3AD203B41FA5}">
                      <a16:colId xmlns:a16="http://schemas.microsoft.com/office/drawing/2014/main" val="1255986131"/>
                    </a:ext>
                  </a:extLst>
                </a:gridCol>
                <a:gridCol w="975331">
                  <a:extLst>
                    <a:ext uri="{9D8B030D-6E8A-4147-A177-3AD203B41FA5}">
                      <a16:colId xmlns:a16="http://schemas.microsoft.com/office/drawing/2014/main" val="1138668313"/>
                    </a:ext>
                  </a:extLst>
                </a:gridCol>
                <a:gridCol w="975331">
                  <a:extLst>
                    <a:ext uri="{9D8B030D-6E8A-4147-A177-3AD203B41FA5}">
                      <a16:colId xmlns:a16="http://schemas.microsoft.com/office/drawing/2014/main" val="3450072328"/>
                    </a:ext>
                  </a:extLst>
                </a:gridCol>
              </a:tblGrid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X₁ (Size)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X₂ (Rooms)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X₃ (Age)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532390"/>
                  </a:ext>
                </a:extLst>
              </a:tr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45668"/>
                  </a:ext>
                </a:extLst>
              </a:tr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194685"/>
                  </a:ext>
                </a:extLst>
              </a:tr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121725"/>
                  </a:ext>
                </a:extLst>
              </a:tr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939422"/>
                  </a:ext>
                </a:extLst>
              </a:tr>
              <a:tr h="28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822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54F1DF-46CE-3ACC-B57B-56F81F6027C6}"/>
              </a:ext>
            </a:extLst>
          </p:cNvPr>
          <p:cNvSpPr txBox="1"/>
          <p:nvPr/>
        </p:nvSpPr>
        <p:spPr>
          <a:xfrm>
            <a:off x="293749" y="2596617"/>
            <a:ext cx="389492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Choose a feature (say X</a:t>
            </a:r>
            <a:r>
              <a:rPr lang="en-IN" sz="1400" b="1" baseline="-25000" dirty="0"/>
              <a:t>1</a:t>
            </a:r>
            <a:r>
              <a:rPr lang="en-IN" sz="1400" b="1" dirty="0"/>
              <a:t> = Size)</a:t>
            </a:r>
          </a:p>
          <a:p>
            <a:endParaRPr lang="en-IN" sz="1400" dirty="0"/>
          </a:p>
          <a:p>
            <a:r>
              <a:rPr lang="en-IN" sz="1400" dirty="0"/>
              <a:t>To compute VIF(Size)</a:t>
            </a:r>
          </a:p>
          <a:p>
            <a:pPr marL="342900" indent="-342900">
              <a:buAutoNum type="arabicParenBoth"/>
            </a:pPr>
            <a:r>
              <a:rPr lang="en-IN" sz="1400" dirty="0"/>
              <a:t>Use Rooms and Age to predict Size</a:t>
            </a:r>
          </a:p>
          <a:p>
            <a:pPr marL="342900" indent="-342900">
              <a:buAutoNum type="arabicParenBoth"/>
            </a:pPr>
            <a:r>
              <a:rPr lang="en-IN" sz="1400" dirty="0"/>
              <a:t>Compute R</a:t>
            </a:r>
            <a:r>
              <a:rPr lang="en-IN" sz="1400" baseline="30000" dirty="0"/>
              <a:t>2</a:t>
            </a:r>
            <a:r>
              <a:rPr lang="en-IN" sz="1400" dirty="0"/>
              <a:t> for the regression, suppose = 0.90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86A0A-BEC4-A648-1956-FE9E635966AD}"/>
                  </a:ext>
                </a:extLst>
              </p:cNvPr>
              <p:cNvSpPr txBox="1"/>
              <p:nvPr/>
            </p:nvSpPr>
            <p:spPr>
              <a:xfrm>
                <a:off x="293748" y="3854402"/>
                <a:ext cx="3894925" cy="16905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Step 2: Apply VIF formula</a:t>
                </a:r>
              </a:p>
              <a:p>
                <a:endParaRPr lang="en-IN" sz="1400" dirty="0"/>
              </a:p>
              <a:p>
                <a:r>
                  <a:rPr lang="en-IN" sz="1400" dirty="0"/>
                  <a:t>VIF(Size)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1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1 −0.90</m:t>
                        </m:r>
                      </m:den>
                    </m:f>
                  </m:oMath>
                </a14:m>
                <a:r>
                  <a:rPr lang="en-GB" sz="1400" dirty="0"/>
                  <a:t> = 10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Interpretation: VIF = 10 =&gt; Very high multicollinearity</a:t>
                </a:r>
              </a:p>
              <a:p>
                <a:r>
                  <a:rPr lang="en-GB" sz="1400" dirty="0"/>
                  <a:t>Size is strongly explained by Rooms and Age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86A0A-BEC4-A648-1956-FE9E63596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48" y="3854402"/>
                <a:ext cx="3894925" cy="1690527"/>
              </a:xfrm>
              <a:prstGeom prst="rect">
                <a:avLst/>
              </a:prstGeom>
              <a:blipFill>
                <a:blip r:embed="rId2"/>
                <a:stretch>
                  <a:fillRect l="-469" t="-360" b="-2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A367DA-009D-91F0-9450-B7305636C283}"/>
              </a:ext>
            </a:extLst>
          </p:cNvPr>
          <p:cNvSpPr txBox="1"/>
          <p:nvPr/>
        </p:nvSpPr>
        <p:spPr>
          <a:xfrm>
            <a:off x="4431815" y="1123999"/>
            <a:ext cx="389492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3: Repeat for other features</a:t>
            </a:r>
          </a:p>
          <a:p>
            <a:endParaRPr lang="en-IN" sz="1400" dirty="0"/>
          </a:p>
          <a:p>
            <a:r>
              <a:rPr lang="en-IN" sz="1400" dirty="0"/>
              <a:t>Suppose we get VIF(Rooms) = 6.67 and VIF (Age) = 1.25</a:t>
            </a:r>
          </a:p>
          <a:p>
            <a:endParaRPr lang="en-GB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B5267A-9AB7-0F14-A601-47B3C35EF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217784"/>
              </p:ext>
            </p:extLst>
          </p:nvPr>
        </p:nvGraphicFramePr>
        <p:xfrm>
          <a:off x="4431815" y="2596617"/>
          <a:ext cx="7361152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12269">
                  <a:extLst>
                    <a:ext uri="{9D8B030D-6E8A-4147-A177-3AD203B41FA5}">
                      <a16:colId xmlns:a16="http://schemas.microsoft.com/office/drawing/2014/main" val="1086419814"/>
                    </a:ext>
                  </a:extLst>
                </a:gridCol>
                <a:gridCol w="2368307">
                  <a:extLst>
                    <a:ext uri="{9D8B030D-6E8A-4147-A177-3AD203B41FA5}">
                      <a16:colId xmlns:a16="http://schemas.microsoft.com/office/drawing/2014/main" val="2397446196"/>
                    </a:ext>
                  </a:extLst>
                </a:gridCol>
                <a:gridCol w="1093849">
                  <a:extLst>
                    <a:ext uri="{9D8B030D-6E8A-4147-A177-3AD203B41FA5}">
                      <a16:colId xmlns:a16="http://schemas.microsoft.com/office/drawing/2014/main" val="1685532469"/>
                    </a:ext>
                  </a:extLst>
                </a:gridCol>
                <a:gridCol w="2586727">
                  <a:extLst>
                    <a:ext uri="{9D8B030D-6E8A-4147-A177-3AD203B41FA5}">
                      <a16:colId xmlns:a16="http://schemas.microsoft.com/office/drawing/2014/main" val="308946482"/>
                    </a:ext>
                  </a:extLst>
                </a:gridCol>
              </a:tblGrid>
              <a:tr h="17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R² with other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422298"/>
                  </a:ext>
                </a:extLst>
              </a:tr>
              <a:tr h="17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Highly correlated 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388562"/>
                  </a:ext>
                </a:extLst>
              </a:tr>
              <a:tr h="17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Highly correlated 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031612"/>
                  </a:ext>
                </a:extLst>
              </a:tr>
              <a:tr h="17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Safe ✔️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2164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CC798D-FDE3-3CEB-209B-A0685B3E976D}"/>
              </a:ext>
            </a:extLst>
          </p:cNvPr>
          <p:cNvSpPr txBox="1"/>
          <p:nvPr/>
        </p:nvSpPr>
        <p:spPr>
          <a:xfrm>
            <a:off x="5491635" y="4375378"/>
            <a:ext cx="3894925" cy="138499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Final conclusion</a:t>
            </a:r>
          </a:p>
          <a:p>
            <a:endParaRPr lang="en-IN" sz="1400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Problematic features</a:t>
            </a:r>
            <a:r>
              <a:rPr lang="en-IN" sz="1400" dirty="0">
                <a:solidFill>
                  <a:srgbClr val="FF0000"/>
                </a:solidFill>
              </a:rPr>
              <a:t>: Size, Rooms</a:t>
            </a:r>
          </a:p>
          <a:p>
            <a:r>
              <a:rPr lang="en-IN" sz="1400" b="1" dirty="0">
                <a:solidFill>
                  <a:srgbClr val="FF0000"/>
                </a:solidFill>
              </a:rPr>
              <a:t>Safe feature</a:t>
            </a:r>
            <a:r>
              <a:rPr lang="en-IN" sz="1400" dirty="0">
                <a:solidFill>
                  <a:srgbClr val="FF0000"/>
                </a:solidFill>
              </a:rPr>
              <a:t>: Age</a:t>
            </a:r>
          </a:p>
          <a:p>
            <a:endParaRPr lang="en-IN" sz="1400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Action</a:t>
            </a:r>
            <a:r>
              <a:rPr lang="en-IN" sz="1400" dirty="0">
                <a:solidFill>
                  <a:srgbClr val="FF0000"/>
                </a:solidFill>
              </a:rPr>
              <a:t>: Remove either Size or Rooms (not both)</a:t>
            </a:r>
            <a:endParaRPr lang="en-GB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33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134A-FE6A-5E38-1011-06B017F5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Transformation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412A-F5D6-36EE-A701-698B4AAD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Logarithm (log)</a:t>
            </a:r>
            <a:r>
              <a:rPr lang="en-IN" dirty="0"/>
              <a:t>: Answers the question – “</a:t>
            </a:r>
            <a:r>
              <a:rPr lang="en-US" dirty="0"/>
              <a:t>How many times do I need to multiply a base number to get another number?”</a:t>
            </a:r>
          </a:p>
          <a:p>
            <a:r>
              <a:rPr lang="en-US" dirty="0" err="1"/>
              <a:t>log</a:t>
            </a:r>
            <a:r>
              <a:rPr lang="en-US" baseline="-25000" dirty="0" err="1"/>
              <a:t>b</a:t>
            </a:r>
            <a:r>
              <a:rPr lang="en-US" dirty="0"/>
              <a:t> (x) = y means b</a:t>
            </a:r>
            <a:r>
              <a:rPr lang="en-US" baseline="30000" dirty="0"/>
              <a:t>y</a:t>
            </a:r>
            <a:r>
              <a:rPr lang="en-US" dirty="0"/>
              <a:t> = x … e.g. log</a:t>
            </a:r>
            <a:r>
              <a:rPr lang="en-US" baseline="-25000" dirty="0"/>
              <a:t>10</a:t>
            </a:r>
            <a:r>
              <a:rPr lang="en-US" dirty="0"/>
              <a:t> (100) = 2 because 10</a:t>
            </a:r>
            <a:r>
              <a:rPr lang="en-US" baseline="30000" dirty="0"/>
              <a:t>2</a:t>
            </a:r>
            <a:r>
              <a:rPr lang="en-US" dirty="0"/>
              <a:t> = 100</a:t>
            </a:r>
          </a:p>
          <a:p>
            <a:r>
              <a:rPr lang="en-US" dirty="0"/>
              <a:t>Log = Inverse of exponentiation </a:t>
            </a:r>
          </a:p>
          <a:p>
            <a:r>
              <a:rPr lang="en-US" dirty="0"/>
              <a:t>Generally, base is taken as e ~ 2.718 (Above, we have taken it as 10)</a:t>
            </a:r>
          </a:p>
          <a:p>
            <a:r>
              <a:rPr lang="en-US" dirty="0"/>
              <a:t>Use: Big numbers grow too fast, log compresses them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4EA578-7D99-2E46-4EF5-6C3659F62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9483"/>
              </p:ext>
            </p:extLst>
          </p:nvPr>
        </p:nvGraphicFramePr>
        <p:xfrm>
          <a:off x="1033644" y="4713270"/>
          <a:ext cx="10515600" cy="18288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303894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35442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1437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ln(value)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80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63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53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67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13.8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794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76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Widescreen</PresentationFormat>
  <Paragraphs>172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Machine Learning Module 1: Additional Material</vt:lpstr>
      <vt:lpstr>Feature Selection Methods</vt:lpstr>
      <vt:lpstr>Filter Methods</vt:lpstr>
      <vt:lpstr>Wrapper Methods</vt:lpstr>
      <vt:lpstr>Embedded Methods</vt:lpstr>
      <vt:lpstr>Handling Multicollinearity </vt:lpstr>
      <vt:lpstr>VIF Calculation Step-by-Step</vt:lpstr>
      <vt:lpstr>VIF Example</vt:lpstr>
      <vt:lpstr>Log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3</cp:revision>
  <dcterms:created xsi:type="dcterms:W3CDTF">2026-01-17T11:44:34Z</dcterms:created>
  <dcterms:modified xsi:type="dcterms:W3CDTF">2026-01-17T11:57:04Z</dcterms:modified>
</cp:coreProperties>
</file>