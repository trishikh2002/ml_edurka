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5" r:id="rId3"/>
    <p:sldId id="257" r:id="rId4"/>
    <p:sldId id="258" r:id="rId5"/>
    <p:sldId id="259" r:id="rId6"/>
    <p:sldId id="260" r:id="rId7"/>
    <p:sldId id="266" r:id="rId8"/>
    <p:sldId id="261" r:id="rId9"/>
    <p:sldId id="262" r:id="rId10"/>
    <p:sldId id="263" r:id="rId11"/>
    <p:sldId id="264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C64CA-9C3E-99A8-A8B3-8D3264BB8D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DEC244-01EB-9A46-5C44-E7BFC32F15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82A8D6-1351-447F-B8B8-014DB2255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70AFFE-C92E-BA2F-A972-B1A01772E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BCE9F-F670-AEE1-D9B4-B8CC4C1E9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973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44306-C3C1-A2EC-AFB5-1106F2C74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F0B2D-336F-667A-5ECE-53CA87A43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0EA0DC-C5E0-56F2-6C94-5C504ED5D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84579D-FD32-5778-17F8-1B2CB549A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05761F-9DCF-1BD3-B5C5-F5DD53F82C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4514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0B19B-2A61-71C9-943B-1CE8608EA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96FF3F-EF2C-6CD9-9CB5-5A6F222447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7D1977-55F1-226E-B4AD-8C6A33C3D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B0C9BD-07B5-FE19-A9A0-1B7FC3C40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A74AA7-2546-45F4-AFE0-A81796A30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70392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B894E-204A-97C6-8075-8E53A7D4E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D7984-C67C-7379-E7D8-AAFD0904CE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EC6822-7203-01F6-8AA7-7C88A098C4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5B9DCE-6BD8-5B9B-91F2-DF44B4FB73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FB50AF-B2BD-272F-F623-F2F4DE1B0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AB9AD8-0695-60C2-F919-07F15560A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0474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5F575-AB4B-18A5-3784-990B368E5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A9A69-111D-E1D2-9827-3064B16B7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2C8AD2-CE19-2A89-6996-E54F84EF82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CF613B-E72C-CF58-C95D-CAB21B2D6F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76B41-F417-93A1-434E-E27990BBD0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BD88B0-2AC1-CC32-77F6-D6E5174AE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E43A10-837D-3031-647A-4EC801A31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1D9282-A82B-6E40-DBD7-03D4FA63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4174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4C7E-5B5A-55A2-7E0B-C3A77F68B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0327F32-CEC7-E311-5304-9B6E45533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9D66FC-2FBE-BC71-719B-D564DAE5C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EE6A-8C45-929C-AEEE-7385776DC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3174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A90E1B-1CE2-E757-10D9-5F25DDAC2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80F0FF8-59B3-3B52-E301-DEC934110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36900C-CF18-71F5-065C-1DF0645DF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9686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9B13A-F335-7320-B6B4-9E2BC5CC6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D3EEA-27E1-D47A-0170-832042126A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57D0A2-F0B9-B746-F75C-EB6937E63F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294C8B-6959-74E1-ED59-578A21A6C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8A9240-F1AF-9ED6-768B-944C0774A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EF899C-457D-93E8-4FAF-3928E429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8329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D1C12-926C-1928-53EC-BC6022A4B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9F5310-393E-2E89-E88C-A1CDB852FB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804853-338F-A4E1-71C4-C1D6F4DCC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351C3F-A574-2705-5C7C-7C19F7ED2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5782AC-2B74-E872-D3A4-35397B145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8B6B59-6301-C336-93A7-2A4CB5B36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572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EA468-DBF2-2919-E884-7C22D0B73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9805D0-9C8F-0390-896E-CCAA7A994D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D76417-32DB-FEB7-6288-B368816D2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C3CEF-1958-B244-739E-823FE198A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3F3D5B-63F5-CCC8-3DF5-6FEE6DC1D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9189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812453-07E1-5747-D0BA-1B20806335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6DF6D5-4CDD-BD40-D394-CAAF3349B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72EACF-89F5-32D2-BCB0-7BC7E3711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2A6B1-85D5-4955-A616-DF87C3C0F9B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32A35-DD23-7ECE-7546-FBACF91AA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8EE28-5D7D-4556-CE88-D12A5A9B7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9739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DDDFAC-9934-E78B-742F-AFA1AA98C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34B62A-4D24-2F71-C369-7700D58A90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56B0E1-2FB5-0FFA-BC1A-8349DC8A99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72A6B1-85D5-4955-A616-DF87C3C0F9B2}" type="datetimeFigureOut">
              <a:rPr lang="en-GB" smtClean="0"/>
              <a:t>01/02/2026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79586D-9BA2-A6A5-59F2-81934353B8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A4CD17-D588-B42D-5B4D-4F554A157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730FA-B482-4B5F-A2C0-C29FC33E51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9824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35E4C-4CC0-6F5D-2BFA-26DD94C472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Unsupervised Machine Learning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1E4295-96BB-1697-6DCB-4A0DB0A156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Atul Kahate</a:t>
            </a:r>
          </a:p>
          <a:p>
            <a:r>
              <a:rPr lang="en-GB" dirty="0"/>
              <a:t>https://www.linkedin.com/in/atulkahate/</a:t>
            </a:r>
          </a:p>
        </p:txBody>
      </p:sp>
    </p:spTree>
    <p:extLst>
      <p:ext uri="{BB962C8B-B14F-4D97-AF65-F5344CB8AC3E}">
        <p14:creationId xmlns:p14="http://schemas.microsoft.com/office/powerpoint/2010/main" val="3540087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5A276-3826-7B50-BAFF-2B8CE2834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K-Means Clustering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92660-FDD6-EBF8-DB1A-2C1D2F1B84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 </a:t>
            </a:r>
            <a:r>
              <a:rPr lang="en-US" b="1" dirty="0"/>
              <a:t>unsupervised machine learning algorithm</a:t>
            </a:r>
            <a:r>
              <a:rPr lang="en-US" dirty="0"/>
              <a:t> used to </a:t>
            </a:r>
            <a:r>
              <a:rPr lang="en-US" b="1" dirty="0"/>
              <a:t>group similar data points into clusters</a:t>
            </a:r>
            <a:r>
              <a:rPr lang="en-US" dirty="0"/>
              <a:t> based on distance</a:t>
            </a:r>
          </a:p>
          <a:p>
            <a:r>
              <a:rPr lang="en-US" dirty="0"/>
              <a:t>Goal</a:t>
            </a:r>
          </a:p>
          <a:p>
            <a:pPr lvl="1"/>
            <a:r>
              <a:rPr lang="en-US" dirty="0"/>
              <a:t>Divide data into K groups (clusters)</a:t>
            </a:r>
          </a:p>
          <a:p>
            <a:pPr lvl="1"/>
            <a:r>
              <a:rPr lang="en-US" dirty="0"/>
              <a:t>Points in the same cluster are similar</a:t>
            </a:r>
          </a:p>
          <a:p>
            <a:pPr lvl="1"/>
            <a:r>
              <a:rPr lang="en-US" dirty="0"/>
              <a:t>Points in different clusters are dissimilar</a:t>
            </a:r>
          </a:p>
          <a:p>
            <a:r>
              <a:rPr lang="en-US"/>
              <a:t>Working</a:t>
            </a:r>
            <a:endParaRPr lang="en-US" dirty="0"/>
          </a:p>
          <a:p>
            <a:pPr lvl="1"/>
            <a:r>
              <a:rPr lang="en-US" dirty="0"/>
              <a:t>Choose K (number of clusters)</a:t>
            </a:r>
          </a:p>
          <a:p>
            <a:pPr lvl="1"/>
            <a:r>
              <a:rPr lang="en-US" dirty="0"/>
              <a:t>Randomly place K centroids</a:t>
            </a:r>
          </a:p>
          <a:p>
            <a:pPr lvl="1"/>
            <a:r>
              <a:rPr lang="en-US" dirty="0"/>
              <a:t>Assign each data point to the nearest centroid</a:t>
            </a:r>
          </a:p>
          <a:p>
            <a:pPr lvl="1"/>
            <a:r>
              <a:rPr lang="en-US" dirty="0"/>
              <a:t>Recompute centroids (mean of points)</a:t>
            </a:r>
          </a:p>
          <a:p>
            <a:pPr lvl="1"/>
            <a:r>
              <a:rPr lang="en-US" dirty="0"/>
              <a:t>Repeat steps 3–4 until centroids stop changing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E30FC8-03C1-0022-0BE0-3F702D9C0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004" y="2249107"/>
            <a:ext cx="4150284" cy="4580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299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83F63-ADB4-A883-0DA8-19F71ED78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24" y="120820"/>
            <a:ext cx="3840443" cy="807539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K-Means Clustering and Elbow Method</a:t>
            </a:r>
            <a:endParaRPr lang="en-GB" sz="320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93F72EF-D873-A72B-06B7-E53020CE14E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890434"/>
              </p:ext>
            </p:extLst>
          </p:nvPr>
        </p:nvGraphicFramePr>
        <p:xfrm>
          <a:off x="174503" y="2750162"/>
          <a:ext cx="2693176" cy="2133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46588">
                  <a:extLst>
                    <a:ext uri="{9D8B030D-6E8A-4147-A177-3AD203B41FA5}">
                      <a16:colId xmlns:a16="http://schemas.microsoft.com/office/drawing/2014/main" val="1737744432"/>
                    </a:ext>
                  </a:extLst>
                </a:gridCol>
                <a:gridCol w="1346588">
                  <a:extLst>
                    <a:ext uri="{9D8B030D-6E8A-4147-A177-3AD203B41FA5}">
                      <a16:colId xmlns:a16="http://schemas.microsoft.com/office/drawing/2014/main" val="866757949"/>
                    </a:ext>
                  </a:extLst>
                </a:gridCol>
              </a:tblGrid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Student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40822569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10708819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37047056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8256064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56616859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69964916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7533456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CCA9645-BC83-9109-1FB9-6F7A74471D1D}"/>
              </a:ext>
            </a:extLst>
          </p:cNvPr>
          <p:cNvSpPr txBox="1"/>
          <p:nvPr/>
        </p:nvSpPr>
        <p:spPr>
          <a:xfrm>
            <a:off x="174503" y="1086961"/>
            <a:ext cx="3748342" cy="11695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K-Means</a:t>
            </a:r>
            <a:r>
              <a:rPr lang="en-IN" sz="1400" dirty="0"/>
              <a:t> = Grouping similar data points together</a:t>
            </a:r>
          </a:p>
          <a:p>
            <a:r>
              <a:rPr lang="en-IN" sz="1400" b="1" dirty="0"/>
              <a:t>K</a:t>
            </a:r>
            <a:r>
              <a:rPr lang="en-IN" sz="1400" dirty="0"/>
              <a:t> = Number of groups (clusters)</a:t>
            </a:r>
          </a:p>
          <a:p>
            <a:r>
              <a:rPr lang="en-IN" sz="1400" b="1" dirty="0"/>
              <a:t>Means</a:t>
            </a:r>
            <a:r>
              <a:rPr lang="en-IN" sz="1400" dirty="0"/>
              <a:t> = Center of each group</a:t>
            </a:r>
          </a:p>
          <a:p>
            <a:r>
              <a:rPr lang="en-IN" sz="1400" dirty="0"/>
              <a:t>Used when no labels are available, i.e. </a:t>
            </a:r>
            <a:r>
              <a:rPr lang="en-IN" sz="1400" b="1" dirty="0"/>
              <a:t>Unsupervised learning</a:t>
            </a:r>
            <a:endParaRPr lang="en-GB" sz="1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96C241-3FB3-862D-B290-BDCDD29A36EF}"/>
              </a:ext>
            </a:extLst>
          </p:cNvPr>
          <p:cNvSpPr txBox="1"/>
          <p:nvPr/>
        </p:nvSpPr>
        <p:spPr>
          <a:xfrm>
            <a:off x="174504" y="2408153"/>
            <a:ext cx="2693176" cy="33855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600" dirty="0"/>
              <a:t>Student data: Make 2 clusters</a:t>
            </a:r>
            <a:endParaRPr lang="en-GB" sz="16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5FE1251-CB8D-701B-0E41-8573C332A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904484"/>
              </p:ext>
            </p:extLst>
          </p:nvPr>
        </p:nvGraphicFramePr>
        <p:xfrm>
          <a:off x="4101324" y="120820"/>
          <a:ext cx="5566188" cy="268224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571729">
                  <a:extLst>
                    <a:ext uri="{9D8B030D-6E8A-4147-A177-3AD203B41FA5}">
                      <a16:colId xmlns:a16="http://schemas.microsoft.com/office/drawing/2014/main" val="3224827542"/>
                    </a:ext>
                  </a:extLst>
                </a:gridCol>
                <a:gridCol w="2246128">
                  <a:extLst>
                    <a:ext uri="{9D8B030D-6E8A-4147-A177-3AD203B41FA5}">
                      <a16:colId xmlns:a16="http://schemas.microsoft.com/office/drawing/2014/main" val="2380185986"/>
                    </a:ext>
                  </a:extLst>
                </a:gridCol>
                <a:gridCol w="2748331">
                  <a:extLst>
                    <a:ext uri="{9D8B030D-6E8A-4147-A177-3AD203B41FA5}">
                      <a16:colId xmlns:a16="http://schemas.microsoft.com/office/drawing/2014/main" val="53505073"/>
                    </a:ext>
                  </a:extLst>
                </a:gridCol>
              </a:tblGrid>
              <a:tr h="280935">
                <a:tc>
                  <a:txBody>
                    <a:bodyPr/>
                    <a:lstStyle/>
                    <a:p>
                      <a:r>
                        <a:rPr lang="en-IN" sz="1400" dirty="0"/>
                        <a:t>Step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Action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Our example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7596000"/>
                  </a:ext>
                </a:extLst>
              </a:tr>
              <a:tr h="280935">
                <a:tc>
                  <a:txBody>
                    <a:bodyPr/>
                    <a:lstStyle/>
                    <a:p>
                      <a:r>
                        <a:rPr lang="en-IN" sz="1400" dirty="0"/>
                        <a:t>1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Choose K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Let K = 2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807096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2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Pick 2 random </a:t>
                      </a:r>
                      <a:r>
                        <a:rPr lang="en-IN" sz="1400" dirty="0" err="1"/>
                        <a:t>centers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Center 1 = 35, </a:t>
                      </a:r>
                    </a:p>
                    <a:p>
                      <a:r>
                        <a:rPr lang="en-IN" sz="1400" dirty="0"/>
                        <a:t>Center 2 = 75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0081185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3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Assign points to nearest </a:t>
                      </a:r>
                      <a:r>
                        <a:rPr lang="en-IN" sz="1400" dirty="0" err="1"/>
                        <a:t>centers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35, 38, 40 -&gt; Cluster 1</a:t>
                      </a:r>
                    </a:p>
                    <a:p>
                      <a:r>
                        <a:rPr lang="en-IN" sz="1400" dirty="0"/>
                        <a:t>75, 78, 82 -&gt; Cluster 2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3502341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4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Recalculate </a:t>
                      </a:r>
                      <a:r>
                        <a:rPr lang="en-IN" sz="1400" dirty="0" err="1"/>
                        <a:t>centers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New Center 1 ≈ 38</a:t>
                      </a:r>
                    </a:p>
                    <a:p>
                      <a:r>
                        <a:rPr lang="en-IN" sz="1400" dirty="0"/>
                        <a:t>New Center 2 ≈ 78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937765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5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Repeat and stop when clusters do not change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NA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9385012"/>
                  </a:ext>
                </a:extLst>
              </a:tr>
            </a:tbl>
          </a:graphicData>
        </a:graphic>
      </p:graphicFrame>
      <p:sp>
        <p:nvSpPr>
          <p:cNvPr id="8" name="Arrow: Up 7">
            <a:extLst>
              <a:ext uri="{FF2B5EF4-FFF2-40B4-BE49-F238E27FC236}">
                <a16:creationId xmlns:a16="http://schemas.microsoft.com/office/drawing/2014/main" id="{CB75DFAE-608E-916A-54BC-0FB7F7E2FA33}"/>
              </a:ext>
            </a:extLst>
          </p:cNvPr>
          <p:cNvSpPr/>
          <p:nvPr/>
        </p:nvSpPr>
        <p:spPr>
          <a:xfrm rot="5400000">
            <a:off x="9798679" y="1300239"/>
            <a:ext cx="502571" cy="425790"/>
          </a:xfrm>
          <a:prstGeom prst="up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04CE9F-DFE5-01C3-D3FC-ECFA7909E1AD}"/>
              </a:ext>
            </a:extLst>
          </p:cNvPr>
          <p:cNvSpPr txBox="1"/>
          <p:nvPr/>
        </p:nvSpPr>
        <p:spPr>
          <a:xfrm>
            <a:off x="10349240" y="928359"/>
            <a:ext cx="1668257" cy="1169551"/>
          </a:xfrm>
          <a:prstGeom prst="rect">
            <a:avLst/>
          </a:prstGeom>
          <a:solidFill>
            <a:schemeClr val="accent6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Final result: </a:t>
            </a:r>
          </a:p>
          <a:p>
            <a:pPr marL="342900" indent="-342900" algn="ctr">
              <a:buAutoNum type="arabicParenBoth"/>
            </a:pPr>
            <a:r>
              <a:rPr lang="en-IN" sz="1400" dirty="0"/>
              <a:t>Low scores cluster and </a:t>
            </a:r>
          </a:p>
          <a:p>
            <a:pPr marL="342900" indent="-342900" algn="ctr">
              <a:buAutoNum type="arabicParenBoth"/>
            </a:pPr>
            <a:r>
              <a:rPr lang="en-IN" sz="1400" dirty="0"/>
              <a:t>High scores cluster</a:t>
            </a:r>
            <a:endParaRPr lang="en-GB" sz="140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8ACE88B-B161-DDE9-D8E0-687862BAC8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0303196"/>
              </p:ext>
            </p:extLst>
          </p:nvPr>
        </p:nvGraphicFramePr>
        <p:xfrm>
          <a:off x="3315573" y="3510291"/>
          <a:ext cx="1926522" cy="19202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605008">
                  <a:extLst>
                    <a:ext uri="{9D8B030D-6E8A-4147-A177-3AD203B41FA5}">
                      <a16:colId xmlns:a16="http://schemas.microsoft.com/office/drawing/2014/main" val="2819539552"/>
                    </a:ext>
                  </a:extLst>
                </a:gridCol>
                <a:gridCol w="1321514">
                  <a:extLst>
                    <a:ext uri="{9D8B030D-6E8A-4147-A177-3AD203B41FA5}">
                      <a16:colId xmlns:a16="http://schemas.microsoft.com/office/drawing/2014/main" val="101988369"/>
                    </a:ext>
                  </a:extLst>
                </a:gridCol>
              </a:tblGrid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Far from </a:t>
                      </a:r>
                      <a:r>
                        <a:rPr lang="en-GB" sz="1200" dirty="0" err="1"/>
                        <a:t>center</a:t>
                      </a:r>
                      <a:r>
                        <a:rPr lang="en-GB" sz="1200" dirty="0"/>
                        <a:t>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15993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very far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983908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20501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4133116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45385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far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638394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far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260809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24B5F2EE-5DD6-4106-221B-9D8D64B95309}"/>
              </a:ext>
            </a:extLst>
          </p:cNvPr>
          <p:cNvSpPr txBox="1"/>
          <p:nvPr/>
        </p:nvSpPr>
        <p:spPr>
          <a:xfrm>
            <a:off x="3315573" y="3090446"/>
            <a:ext cx="192652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/>
              <a:t>K = 1, Center = 58</a:t>
            </a:r>
            <a:endParaRPr lang="en-GB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EC6D72-F337-953F-45A0-19812230CFDD}"/>
              </a:ext>
            </a:extLst>
          </p:cNvPr>
          <p:cNvSpPr txBox="1"/>
          <p:nvPr/>
        </p:nvSpPr>
        <p:spPr>
          <a:xfrm>
            <a:off x="3315573" y="5511822"/>
            <a:ext cx="1926522" cy="5847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rgbClr val="FF0000"/>
                </a:solidFill>
              </a:rPr>
              <a:t>Very bad grouping</a:t>
            </a:r>
          </a:p>
          <a:p>
            <a:pPr algn="ctr"/>
            <a:r>
              <a:rPr lang="en-IN" sz="1600" dirty="0">
                <a:solidFill>
                  <a:srgbClr val="FF0000"/>
                </a:solidFill>
              </a:rPr>
              <a:t>Very high error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24CB65-F64F-3029-208E-A1769E51B9A8}"/>
              </a:ext>
            </a:extLst>
          </p:cNvPr>
          <p:cNvSpPr txBox="1"/>
          <p:nvPr/>
        </p:nvSpPr>
        <p:spPr>
          <a:xfrm>
            <a:off x="5310734" y="3090446"/>
            <a:ext cx="192652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/>
              <a:t>K = 2 (2 groups)</a:t>
            </a:r>
            <a:endParaRPr lang="en-GB" sz="1600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8AEE772E-28A2-2EF7-0201-FF2BD77748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599128"/>
              </p:ext>
            </p:extLst>
          </p:nvPr>
        </p:nvGraphicFramePr>
        <p:xfrm>
          <a:off x="5325855" y="3503311"/>
          <a:ext cx="1926522" cy="11887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677076">
                  <a:extLst>
                    <a:ext uri="{9D8B030D-6E8A-4147-A177-3AD203B41FA5}">
                      <a16:colId xmlns:a16="http://schemas.microsoft.com/office/drawing/2014/main" val="2819539552"/>
                    </a:ext>
                  </a:extLst>
                </a:gridCol>
                <a:gridCol w="1249446">
                  <a:extLst>
                    <a:ext uri="{9D8B030D-6E8A-4147-A177-3AD203B41FA5}">
                      <a16:colId xmlns:a16="http://schemas.microsoft.com/office/drawing/2014/main" val="101988369"/>
                    </a:ext>
                  </a:extLst>
                </a:gridCol>
              </a:tblGrid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15993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35, 38, 40 (Center = 38)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983908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2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75, 78, 82 (Center = 78)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20501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2387F385-08FA-0229-2FA4-CA9F05399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8431440"/>
              </p:ext>
            </p:extLst>
          </p:nvPr>
        </p:nvGraphicFramePr>
        <p:xfrm>
          <a:off x="5325855" y="4761107"/>
          <a:ext cx="1926522" cy="1188720"/>
        </p:xfrm>
        <a:graphic>
          <a:graphicData uri="http://schemas.openxmlformats.org/drawingml/2006/table">
            <a:tbl>
              <a:tblPr firstRow="1">
                <a:tableStyleId>{8FD4443E-F989-4FC4-A0C8-D5A2AF1F390B}</a:tableStyleId>
              </a:tblPr>
              <a:tblGrid>
                <a:gridCol w="963261">
                  <a:extLst>
                    <a:ext uri="{9D8B030D-6E8A-4147-A177-3AD203B41FA5}">
                      <a16:colId xmlns:a16="http://schemas.microsoft.com/office/drawing/2014/main" val="1959647254"/>
                    </a:ext>
                  </a:extLst>
                </a:gridCol>
                <a:gridCol w="963261">
                  <a:extLst>
                    <a:ext uri="{9D8B030D-6E8A-4147-A177-3AD203B41FA5}">
                      <a16:colId xmlns:a16="http://schemas.microsoft.com/office/drawing/2014/main" val="41139273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Are points close to center?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727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Low 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4869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High 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8327533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E650301C-9B2F-3EC6-C266-152C74DCDA23}"/>
              </a:ext>
            </a:extLst>
          </p:cNvPr>
          <p:cNvSpPr txBox="1"/>
          <p:nvPr/>
        </p:nvSpPr>
        <p:spPr>
          <a:xfrm>
            <a:off x="5325855" y="6018903"/>
            <a:ext cx="1926522" cy="5847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rgbClr val="FF0000"/>
                </a:solidFill>
              </a:rPr>
              <a:t>Huge improvement – Error drops a lot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84CDF3D-7755-9C46-29B0-3474A0AB019F}"/>
              </a:ext>
            </a:extLst>
          </p:cNvPr>
          <p:cNvSpPr txBox="1"/>
          <p:nvPr/>
        </p:nvSpPr>
        <p:spPr>
          <a:xfrm>
            <a:off x="7305895" y="3083458"/>
            <a:ext cx="192652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/>
              <a:t>K = 3 (3 groups)</a:t>
            </a:r>
            <a:endParaRPr lang="en-GB" sz="1600" dirty="0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E1FD4B26-CA38-2B7D-B167-84EE3164E2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544744"/>
              </p:ext>
            </p:extLst>
          </p:nvPr>
        </p:nvGraphicFramePr>
        <p:xfrm>
          <a:off x="7321016" y="3496323"/>
          <a:ext cx="1926522" cy="16459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677076">
                  <a:extLst>
                    <a:ext uri="{9D8B030D-6E8A-4147-A177-3AD203B41FA5}">
                      <a16:colId xmlns:a16="http://schemas.microsoft.com/office/drawing/2014/main" val="2819539552"/>
                    </a:ext>
                  </a:extLst>
                </a:gridCol>
                <a:gridCol w="1249446">
                  <a:extLst>
                    <a:ext uri="{9D8B030D-6E8A-4147-A177-3AD203B41FA5}">
                      <a16:colId xmlns:a16="http://schemas.microsoft.com/office/drawing/2014/main" val="101988369"/>
                    </a:ext>
                  </a:extLst>
                </a:gridCol>
              </a:tblGrid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15993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35, 38 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36.5)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983908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2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40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40)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20501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3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75, 78, 82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78)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60072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DC1EE68-9C6E-449C-8E58-FC7EE9B13D7B}"/>
              </a:ext>
            </a:extLst>
          </p:cNvPr>
          <p:cNvSpPr txBox="1"/>
          <p:nvPr/>
        </p:nvSpPr>
        <p:spPr>
          <a:xfrm>
            <a:off x="7321016" y="5250731"/>
            <a:ext cx="1926522" cy="83099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rgbClr val="FF0000"/>
                </a:solidFill>
              </a:rPr>
              <a:t>Only a small improvement – Error drops a little</a:t>
            </a:r>
            <a:endParaRPr lang="en-GB" sz="1600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7285A0C-BEDE-21AB-EDAE-EEED3351B22E}"/>
              </a:ext>
            </a:extLst>
          </p:cNvPr>
          <p:cNvSpPr txBox="1"/>
          <p:nvPr/>
        </p:nvSpPr>
        <p:spPr>
          <a:xfrm>
            <a:off x="9299599" y="3069489"/>
            <a:ext cx="1926522" cy="3385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/>
              <a:t>K = 4 (4 groups)</a:t>
            </a:r>
            <a:endParaRPr lang="en-GB" sz="1600" dirty="0"/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7B2D3B04-B059-7F9E-1722-F5C683AA9B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0625527"/>
              </p:ext>
            </p:extLst>
          </p:nvPr>
        </p:nvGraphicFramePr>
        <p:xfrm>
          <a:off x="9314720" y="3482354"/>
          <a:ext cx="1926522" cy="21031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677076">
                  <a:extLst>
                    <a:ext uri="{9D8B030D-6E8A-4147-A177-3AD203B41FA5}">
                      <a16:colId xmlns:a16="http://schemas.microsoft.com/office/drawing/2014/main" val="2819539552"/>
                    </a:ext>
                  </a:extLst>
                </a:gridCol>
                <a:gridCol w="1249446">
                  <a:extLst>
                    <a:ext uri="{9D8B030D-6E8A-4147-A177-3AD203B41FA5}">
                      <a16:colId xmlns:a16="http://schemas.microsoft.com/office/drawing/2014/main" val="101988369"/>
                    </a:ext>
                  </a:extLst>
                </a:gridCol>
              </a:tblGrid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15993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35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36.5)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9839080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2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38, 40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39)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0620501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3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75, 78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76.5)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600728"/>
                  </a:ext>
                </a:extLst>
              </a:tr>
              <a:tr h="2030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4</a:t>
                      </a:r>
                      <a:endParaRPr lang="en-GB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82</a:t>
                      </a:r>
                    </a:p>
                    <a:p>
                      <a:pPr>
                        <a:buNone/>
                      </a:pPr>
                      <a:r>
                        <a:rPr lang="en-GB" sz="1200" dirty="0"/>
                        <a:t>(Center = 82)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0323615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139300AB-E303-4A00-F6B8-A9BA0F2CA21D}"/>
              </a:ext>
            </a:extLst>
          </p:cNvPr>
          <p:cNvSpPr txBox="1"/>
          <p:nvPr/>
        </p:nvSpPr>
        <p:spPr>
          <a:xfrm>
            <a:off x="9331298" y="5666229"/>
            <a:ext cx="1926522" cy="5847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600" dirty="0">
                <a:solidFill>
                  <a:srgbClr val="FF0000"/>
                </a:solidFill>
              </a:rPr>
              <a:t>No real improvement</a:t>
            </a:r>
            <a:endParaRPr lang="en-GB" sz="1600" dirty="0">
              <a:solidFill>
                <a:srgbClr val="FF0000"/>
              </a:solidFill>
            </a:endParaRP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E7730BA9-8DA2-2936-7B27-82A35994B5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6891481"/>
              </p:ext>
            </p:extLst>
          </p:nvPr>
        </p:nvGraphicFramePr>
        <p:xfrm>
          <a:off x="174503" y="5036834"/>
          <a:ext cx="2533795" cy="10972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698015">
                  <a:extLst>
                    <a:ext uri="{9D8B030D-6E8A-4147-A177-3AD203B41FA5}">
                      <a16:colId xmlns:a16="http://schemas.microsoft.com/office/drawing/2014/main" val="3557043851"/>
                    </a:ext>
                  </a:extLst>
                </a:gridCol>
                <a:gridCol w="1835780">
                  <a:extLst>
                    <a:ext uri="{9D8B030D-6E8A-4147-A177-3AD203B41FA5}">
                      <a16:colId xmlns:a16="http://schemas.microsoft.com/office/drawing/2014/main" val="1052069830"/>
                    </a:ext>
                  </a:extLst>
                </a:gridCol>
              </a:tblGrid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Improvement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5787440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1 →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BIG improvement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442905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2 →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small improvement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368495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/>
                        <a:t>3 →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very tiny improvement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413745"/>
                  </a:ext>
                </a:extLst>
              </a:tr>
            </a:tbl>
          </a:graphicData>
        </a:graphic>
      </p:graphicFrame>
      <p:sp>
        <p:nvSpPr>
          <p:cNvPr id="25" name="Arrow: Striped Right 24">
            <a:extLst>
              <a:ext uri="{FF2B5EF4-FFF2-40B4-BE49-F238E27FC236}">
                <a16:creationId xmlns:a16="http://schemas.microsoft.com/office/drawing/2014/main" id="{AD0DFFC4-422F-D945-E1BE-916545ADAC9F}"/>
              </a:ext>
            </a:extLst>
          </p:cNvPr>
          <p:cNvSpPr/>
          <p:nvPr/>
        </p:nvSpPr>
        <p:spPr>
          <a:xfrm rot="10800000">
            <a:off x="2760358" y="5585474"/>
            <a:ext cx="395833" cy="283598"/>
          </a:xfrm>
          <a:prstGeom prst="striped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62D381-9580-075F-D7BE-B8114FA76801}"/>
              </a:ext>
            </a:extLst>
          </p:cNvPr>
          <p:cNvSpPr txBox="1"/>
          <p:nvPr/>
        </p:nvSpPr>
        <p:spPr>
          <a:xfrm>
            <a:off x="174503" y="6173345"/>
            <a:ext cx="2533794" cy="4616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200" dirty="0"/>
              <a:t>The point where improvement suddenly slows down = </a:t>
            </a:r>
            <a:r>
              <a:rPr lang="en-IN" sz="1200" b="1" dirty="0"/>
              <a:t>Elbow</a:t>
            </a:r>
            <a:endParaRPr lang="en-GB" sz="1200" b="1" dirty="0"/>
          </a:p>
        </p:txBody>
      </p:sp>
    </p:spTree>
    <p:extLst>
      <p:ext uri="{BB962C8B-B14F-4D97-AF65-F5344CB8AC3E}">
        <p14:creationId xmlns:p14="http://schemas.microsoft.com/office/powerpoint/2010/main" val="11219641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93281B7-ED98-668B-C336-D8BA396CAD77}"/>
              </a:ext>
            </a:extLst>
          </p:cNvPr>
          <p:cNvSpPr txBox="1">
            <a:spLocks/>
          </p:cNvSpPr>
          <p:nvPr/>
        </p:nvSpPr>
        <p:spPr>
          <a:xfrm>
            <a:off x="91324" y="120820"/>
            <a:ext cx="3840443" cy="8075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/>
              <a:t>Hierarchical Clustering</a:t>
            </a:r>
            <a:endParaRPr lang="en-GB" sz="320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D2F1597-FC55-A1AB-2405-299534BE07E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53922259"/>
              </p:ext>
            </p:extLst>
          </p:nvPr>
        </p:nvGraphicFramePr>
        <p:xfrm>
          <a:off x="418808" y="1438547"/>
          <a:ext cx="2693176" cy="2133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46588">
                  <a:extLst>
                    <a:ext uri="{9D8B030D-6E8A-4147-A177-3AD203B41FA5}">
                      <a16:colId xmlns:a16="http://schemas.microsoft.com/office/drawing/2014/main" val="1737744432"/>
                    </a:ext>
                  </a:extLst>
                </a:gridCol>
                <a:gridCol w="1346588">
                  <a:extLst>
                    <a:ext uri="{9D8B030D-6E8A-4147-A177-3AD203B41FA5}">
                      <a16:colId xmlns:a16="http://schemas.microsoft.com/office/drawing/2014/main" val="866757949"/>
                    </a:ext>
                  </a:extLst>
                </a:gridCol>
              </a:tblGrid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Student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Marks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40822569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10708819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37047056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58256064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56616859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78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69964916"/>
                  </a:ext>
                </a:extLst>
              </a:tr>
              <a:tr h="1537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82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7533456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54FCA84-AB27-948F-A821-3266813C39E6}"/>
              </a:ext>
            </a:extLst>
          </p:cNvPr>
          <p:cNvSpPr txBox="1"/>
          <p:nvPr/>
        </p:nvSpPr>
        <p:spPr>
          <a:xfrm>
            <a:off x="174503" y="792217"/>
            <a:ext cx="3748342" cy="5232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Start with everyone separate and keep merging the closest ones, step by step</a:t>
            </a:r>
            <a:endParaRPr lang="en-GB" sz="14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DE3467B-86FF-79A4-DF81-708C279DEE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6185768"/>
              </p:ext>
            </p:extLst>
          </p:nvPr>
        </p:nvGraphicFramePr>
        <p:xfrm>
          <a:off x="4101324" y="120820"/>
          <a:ext cx="7671867" cy="216408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527538">
                  <a:extLst>
                    <a:ext uri="{9D8B030D-6E8A-4147-A177-3AD203B41FA5}">
                      <a16:colId xmlns:a16="http://schemas.microsoft.com/office/drawing/2014/main" val="3224827542"/>
                    </a:ext>
                  </a:extLst>
                </a:gridCol>
                <a:gridCol w="1534613">
                  <a:extLst>
                    <a:ext uri="{9D8B030D-6E8A-4147-A177-3AD203B41FA5}">
                      <a16:colId xmlns:a16="http://schemas.microsoft.com/office/drawing/2014/main" val="2380185986"/>
                    </a:ext>
                  </a:extLst>
                </a:gridCol>
                <a:gridCol w="2610577">
                  <a:extLst>
                    <a:ext uri="{9D8B030D-6E8A-4147-A177-3AD203B41FA5}">
                      <a16:colId xmlns:a16="http://schemas.microsoft.com/office/drawing/2014/main" val="53505073"/>
                    </a:ext>
                  </a:extLst>
                </a:gridCol>
                <a:gridCol w="2999139">
                  <a:extLst>
                    <a:ext uri="{9D8B030D-6E8A-4147-A177-3AD203B41FA5}">
                      <a16:colId xmlns:a16="http://schemas.microsoft.com/office/drawing/2014/main" val="2479534878"/>
                    </a:ext>
                  </a:extLst>
                </a:gridCol>
              </a:tblGrid>
              <a:tr h="280935">
                <a:tc>
                  <a:txBody>
                    <a:bodyPr/>
                    <a:lstStyle/>
                    <a:p>
                      <a:r>
                        <a:rPr lang="en-IN" sz="1400" dirty="0"/>
                        <a:t>Step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Action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Our example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Result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7596000"/>
                  </a:ext>
                </a:extLst>
              </a:tr>
              <a:tr h="280935">
                <a:tc>
                  <a:txBody>
                    <a:bodyPr/>
                    <a:lstStyle/>
                    <a:p>
                      <a:r>
                        <a:rPr lang="en-IN" sz="1400" dirty="0"/>
                        <a:t>1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Everyone is alone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35   38   40   75   78   82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807096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2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Find closest pair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38 and 40 -&gt; very close</a:t>
                      </a:r>
                    </a:p>
                    <a:p>
                      <a:r>
                        <a:rPr lang="en-GB" sz="1400" dirty="0"/>
                        <a:t>75 and 78 -&gt; very close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400" dirty="0"/>
                        <a:t>Merge them</a:t>
                      </a:r>
                    </a:p>
                    <a:p>
                      <a:r>
                        <a:rPr lang="en-GB" sz="1400" dirty="0"/>
                        <a:t>(38,40)    (75,78)    35    82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90081185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3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Next closest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35 is closer to (38,40)</a:t>
                      </a:r>
                    </a:p>
                    <a:p>
                      <a:r>
                        <a:rPr lang="en-IN" sz="1400" dirty="0"/>
                        <a:t>82 is closer to (75,78)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Merge again</a:t>
                      </a:r>
                    </a:p>
                    <a:p>
                      <a:r>
                        <a:rPr lang="en-GB" sz="1400" dirty="0"/>
                        <a:t>(35,38,40) (75,78,82)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3502341"/>
                  </a:ext>
                </a:extLst>
              </a:tr>
              <a:tr h="392539">
                <a:tc>
                  <a:txBody>
                    <a:bodyPr/>
                    <a:lstStyle/>
                    <a:p>
                      <a:r>
                        <a:rPr lang="en-IN" sz="1400" dirty="0"/>
                        <a:t>4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Final merge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Now only 2 clusters are left, so merge them</a:t>
                      </a:r>
                      <a:endParaRPr lang="en-GB" sz="1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400" dirty="0"/>
                        <a:t>Final merge</a:t>
                      </a:r>
                    </a:p>
                    <a:p>
                      <a:r>
                        <a:rPr lang="en-GB" sz="1400" dirty="0"/>
                        <a:t>(35,38,40,75,78,82)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93776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C00F31D-363C-7084-2AD9-E7A9C2D39E67}"/>
              </a:ext>
            </a:extLst>
          </p:cNvPr>
          <p:cNvSpPr txBox="1"/>
          <p:nvPr/>
        </p:nvSpPr>
        <p:spPr>
          <a:xfrm>
            <a:off x="4101324" y="2396488"/>
            <a:ext cx="7671866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 err="1"/>
              <a:t>Dendogram</a:t>
            </a:r>
            <a:r>
              <a:rPr lang="en-IN" sz="1400" dirty="0"/>
              <a:t>: A tree-like diagram that shows (a) Who merged with whom, (b) At what distance</a:t>
            </a:r>
            <a:endParaRPr lang="en-GB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F1E634-1BF4-6611-1D4F-B34FD55528A9}"/>
              </a:ext>
            </a:extLst>
          </p:cNvPr>
          <p:cNvSpPr txBox="1"/>
          <p:nvPr/>
        </p:nvSpPr>
        <p:spPr>
          <a:xfrm>
            <a:off x="2128947" y="3834437"/>
            <a:ext cx="4481258" cy="5232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How to choose number of clusters from </a:t>
            </a:r>
            <a:r>
              <a:rPr lang="en-IN" sz="1400" dirty="0" err="1"/>
              <a:t>Dendogram</a:t>
            </a:r>
            <a:r>
              <a:rPr lang="en-IN" sz="1400" dirty="0"/>
              <a:t>?</a:t>
            </a:r>
          </a:p>
          <a:p>
            <a:r>
              <a:rPr lang="en-US" sz="1400" dirty="0"/>
              <a:t>Make a cut before the final large merge</a:t>
            </a:r>
            <a:endParaRPr lang="en-GB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0D5068-F4AA-06D1-E6D7-B2F04063257B}"/>
              </a:ext>
            </a:extLst>
          </p:cNvPr>
          <p:cNvSpPr txBox="1"/>
          <p:nvPr/>
        </p:nvSpPr>
        <p:spPr>
          <a:xfrm>
            <a:off x="2128947" y="4729070"/>
            <a:ext cx="4481258" cy="11695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For our data, if we do this cut</a:t>
            </a:r>
          </a:p>
          <a:p>
            <a:endParaRPr lang="en-GB" sz="1400" dirty="0"/>
          </a:p>
          <a:p>
            <a:r>
              <a:rPr lang="en-GB" sz="1400" dirty="0"/>
              <a:t>(35,38,40) | (75,78,82)</a:t>
            </a:r>
          </a:p>
          <a:p>
            <a:endParaRPr lang="en-GB" sz="1400" dirty="0"/>
          </a:p>
          <a:p>
            <a:r>
              <a:rPr lang="en-GB" sz="1400" dirty="0"/>
              <a:t>We will get 2 clusters (Low scores and High scores)</a:t>
            </a:r>
          </a:p>
        </p:txBody>
      </p:sp>
      <p:sp>
        <p:nvSpPr>
          <p:cNvPr id="13" name="Arrow: Striped Right 12">
            <a:extLst>
              <a:ext uri="{FF2B5EF4-FFF2-40B4-BE49-F238E27FC236}">
                <a16:creationId xmlns:a16="http://schemas.microsoft.com/office/drawing/2014/main" id="{75DA6E80-C4F7-A5F1-D85B-96E7E2A6B98F}"/>
              </a:ext>
            </a:extLst>
          </p:cNvPr>
          <p:cNvSpPr/>
          <p:nvPr/>
        </p:nvSpPr>
        <p:spPr>
          <a:xfrm rot="10800000">
            <a:off x="6699195" y="3954248"/>
            <a:ext cx="395833" cy="283598"/>
          </a:xfrm>
          <a:prstGeom prst="striped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row: Striped Right 13">
            <a:extLst>
              <a:ext uri="{FF2B5EF4-FFF2-40B4-BE49-F238E27FC236}">
                <a16:creationId xmlns:a16="http://schemas.microsoft.com/office/drawing/2014/main" id="{DA456B63-F691-4E28-543D-DD828FBA55EB}"/>
              </a:ext>
            </a:extLst>
          </p:cNvPr>
          <p:cNvSpPr/>
          <p:nvPr/>
        </p:nvSpPr>
        <p:spPr>
          <a:xfrm rot="5400000">
            <a:off x="3903407" y="4413775"/>
            <a:ext cx="395833" cy="283598"/>
          </a:xfrm>
          <a:prstGeom prst="striped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AB2E4A-894B-572E-294D-EBA5A2110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4737" y="2815853"/>
            <a:ext cx="4498453" cy="318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420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2D7A07D-F37D-5B85-D74A-546E3B5134B5}"/>
              </a:ext>
            </a:extLst>
          </p:cNvPr>
          <p:cNvSpPr txBox="1">
            <a:spLocks/>
          </p:cNvSpPr>
          <p:nvPr/>
        </p:nvSpPr>
        <p:spPr>
          <a:xfrm>
            <a:off x="91324" y="120820"/>
            <a:ext cx="3840443" cy="8075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/>
              <a:t>Gaussian Mixture Models (GMM) and Soft Clustering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1CCD7B-6BFA-13A5-838E-1FAED87F770F}"/>
              </a:ext>
            </a:extLst>
          </p:cNvPr>
          <p:cNvSpPr txBox="1"/>
          <p:nvPr/>
        </p:nvSpPr>
        <p:spPr>
          <a:xfrm>
            <a:off x="183425" y="928359"/>
            <a:ext cx="3748342" cy="11695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Hard clustering</a:t>
            </a:r>
            <a:r>
              <a:rPr lang="en-IN" sz="1400" dirty="0"/>
              <a:t> (e.g. K-Means): Each data point belongs to only one cluster</a:t>
            </a:r>
          </a:p>
          <a:p>
            <a:r>
              <a:rPr lang="en-IN" sz="1400" dirty="0"/>
              <a:t>Example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Student A -&gt; Cluster 1 (100%)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Student B -&gt; Cluster 2 (100%)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5D0202-6688-C5A8-0338-03ADD4B13B9F}"/>
              </a:ext>
            </a:extLst>
          </p:cNvPr>
          <p:cNvSpPr txBox="1"/>
          <p:nvPr/>
        </p:nvSpPr>
        <p:spPr>
          <a:xfrm>
            <a:off x="183425" y="2148722"/>
            <a:ext cx="3748342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Soft clustering</a:t>
            </a:r>
            <a:r>
              <a:rPr lang="en-IN" sz="1400" dirty="0"/>
              <a:t>: A data point can belong to multiple clusters with probabilities</a:t>
            </a:r>
          </a:p>
          <a:p>
            <a:r>
              <a:rPr lang="en-IN" sz="1400" dirty="0"/>
              <a:t>Example</a:t>
            </a:r>
          </a:p>
          <a:p>
            <a:r>
              <a:rPr lang="en-IN" sz="1400" dirty="0"/>
              <a:t> Student A -&gt; Cluster 1 (70%), Cluster 2 (30%)</a:t>
            </a:r>
          </a:p>
          <a:p>
            <a:endParaRPr lang="en-IN" sz="1400" dirty="0"/>
          </a:p>
          <a:p>
            <a:r>
              <a:rPr lang="en-IN" sz="1400" dirty="0"/>
              <a:t>Useful when data overlaps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4062143-E840-21C8-C181-809F05FD06FD}"/>
              </a:ext>
            </a:extLst>
          </p:cNvPr>
          <p:cNvSpPr txBox="1"/>
          <p:nvPr/>
        </p:nvSpPr>
        <p:spPr>
          <a:xfrm>
            <a:off x="183425" y="3584529"/>
            <a:ext cx="3748342" cy="224676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Why K-Means is not enough?</a:t>
            </a:r>
          </a:p>
          <a:p>
            <a:r>
              <a:rPr lang="en-IN" sz="1400" dirty="0"/>
              <a:t>K-Means assumes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All clusters have same size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Each data point belongs to exactly one cluster</a:t>
            </a:r>
          </a:p>
          <a:p>
            <a:r>
              <a:rPr lang="en-IN" sz="1400" dirty="0"/>
              <a:t>But real data often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Overlaps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Has different shapes and spreads</a:t>
            </a:r>
          </a:p>
          <a:p>
            <a:endParaRPr lang="en-IN" sz="1400" dirty="0"/>
          </a:p>
          <a:p>
            <a:r>
              <a:rPr lang="en-IN" sz="1400" dirty="0"/>
              <a:t>=&gt; </a:t>
            </a:r>
            <a:r>
              <a:rPr lang="en-IN" sz="1400" b="1" dirty="0"/>
              <a:t>Gaussian Mixture Models (GMM)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F001FF-084A-1677-CCA6-AE54BD0B767C}"/>
              </a:ext>
            </a:extLst>
          </p:cNvPr>
          <p:cNvSpPr txBox="1"/>
          <p:nvPr/>
        </p:nvSpPr>
        <p:spPr>
          <a:xfrm>
            <a:off x="4023868" y="1221525"/>
            <a:ext cx="7926153" cy="41857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Gaussian Mixture Model (GMM)</a:t>
            </a:r>
          </a:p>
          <a:p>
            <a:endParaRPr lang="en-IN" sz="1400" b="1" dirty="0"/>
          </a:p>
          <a:p>
            <a:r>
              <a:rPr lang="en-IN" sz="1400" dirty="0"/>
              <a:t>GMM assumes that the data is generated from a mixture of multiple Gaussian (Normal) distributions</a:t>
            </a:r>
          </a:p>
          <a:p>
            <a:endParaRPr lang="en-IN" sz="1400" dirty="0"/>
          </a:p>
          <a:p>
            <a:r>
              <a:rPr lang="en-IN" sz="1400" dirty="0"/>
              <a:t>Each cluster = one Gaussian (which has its own mean, standard deviation, and importance)</a:t>
            </a:r>
          </a:p>
          <a:p>
            <a:endParaRPr lang="en-IN" sz="1400" dirty="0"/>
          </a:p>
          <a:p>
            <a:r>
              <a:rPr lang="en-IN" sz="1400" dirty="0"/>
              <a:t>Consider student marks: 35, 38, 40, 75, 78, 82</a:t>
            </a:r>
          </a:p>
          <a:p>
            <a:endParaRPr lang="en-IN" sz="1400" dirty="0"/>
          </a:p>
          <a:p>
            <a:r>
              <a:rPr lang="en-IN" sz="1400" dirty="0"/>
              <a:t>Instead of forcing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Low scores -&gt; Cluster 1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High scores -&gt; Cluster 2</a:t>
            </a:r>
          </a:p>
          <a:p>
            <a:endParaRPr lang="en-IN" sz="1400" dirty="0"/>
          </a:p>
          <a:p>
            <a:r>
              <a:rPr lang="en-IN" sz="1400" dirty="0"/>
              <a:t>GMM says that some marks may come from two overlapping clusters</a:t>
            </a:r>
          </a:p>
          <a:p>
            <a:endParaRPr lang="en-IN" sz="1400" dirty="0"/>
          </a:p>
          <a:p>
            <a:r>
              <a:rPr lang="en-IN" sz="1400" dirty="0"/>
              <a:t>Example: For student with marks 40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Probability of Low-score cluster = 85%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Probability of High-score cluster = 15%</a:t>
            </a:r>
          </a:p>
          <a:p>
            <a:pPr marL="285750" indent="-285750">
              <a:buFontTx/>
              <a:buChar char="-"/>
            </a:pPr>
            <a:endParaRPr lang="en-IN" sz="1400" dirty="0"/>
          </a:p>
          <a:p>
            <a:r>
              <a:rPr lang="en-IN" sz="1400" dirty="0"/>
              <a:t>This is </a:t>
            </a:r>
            <a:r>
              <a:rPr lang="en-IN" sz="1400" b="1" dirty="0"/>
              <a:t>soft clustering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20926628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C1F07EE-3D1C-2F5B-E081-5BD2307D2101}"/>
              </a:ext>
            </a:extLst>
          </p:cNvPr>
          <p:cNvSpPr txBox="1">
            <a:spLocks/>
          </p:cNvSpPr>
          <p:nvPr/>
        </p:nvSpPr>
        <p:spPr>
          <a:xfrm>
            <a:off x="91324" y="120820"/>
            <a:ext cx="3840443" cy="8075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/>
              <a:t>Association Rule Mining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E6C441-EAA7-0AC5-34B7-5A99B5A37EC8}"/>
              </a:ext>
            </a:extLst>
          </p:cNvPr>
          <p:cNvSpPr txBox="1"/>
          <p:nvPr/>
        </p:nvSpPr>
        <p:spPr>
          <a:xfrm>
            <a:off x="137373" y="767816"/>
            <a:ext cx="3840443" cy="5232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Finds patterns of data that occur together in large datasets – Market Basket Analysis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A45AC8-59AC-2301-3FE5-5D9116997943}"/>
              </a:ext>
            </a:extLst>
          </p:cNvPr>
          <p:cNvSpPr txBox="1"/>
          <p:nvPr/>
        </p:nvSpPr>
        <p:spPr>
          <a:xfrm>
            <a:off x="137373" y="1414812"/>
            <a:ext cx="3840443" cy="30777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“Customers who buy bread often also buy butter”</a:t>
            </a:r>
            <a:endParaRPr lang="en-GB" sz="14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AF38E77-4215-95DE-6DFA-9E5676149D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604840"/>
              </p:ext>
            </p:extLst>
          </p:nvPr>
        </p:nvGraphicFramePr>
        <p:xfrm>
          <a:off x="272225" y="1846365"/>
          <a:ext cx="3538938" cy="10972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974914">
                  <a:extLst>
                    <a:ext uri="{9D8B030D-6E8A-4147-A177-3AD203B41FA5}">
                      <a16:colId xmlns:a16="http://schemas.microsoft.com/office/drawing/2014/main" val="3557043851"/>
                    </a:ext>
                  </a:extLst>
                </a:gridCol>
                <a:gridCol w="2564024">
                  <a:extLst>
                    <a:ext uri="{9D8B030D-6E8A-4147-A177-3AD203B41FA5}">
                      <a16:colId xmlns:a16="http://schemas.microsoft.com/office/drawing/2014/main" val="1052069830"/>
                    </a:ext>
                  </a:extLst>
                </a:gridCol>
              </a:tblGrid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Term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5787440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/>
                        <a:t>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 single product (Milk)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442905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/>
                        <a:t>Transaction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A set of items together (Bread, Butter)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368495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b="1" dirty="0"/>
                        <a:t>Itemset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One or more items (Bread, Milk)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4137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838823E-C2D8-83F9-7195-7F2DA7EEDCEF}"/>
              </a:ext>
            </a:extLst>
          </p:cNvPr>
          <p:cNvSpPr txBox="1"/>
          <p:nvPr/>
        </p:nvSpPr>
        <p:spPr>
          <a:xfrm>
            <a:off x="139314" y="3193587"/>
            <a:ext cx="3840443" cy="95410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Association Rule</a:t>
            </a:r>
            <a:r>
              <a:rPr lang="en-IN" sz="1400" dirty="0"/>
              <a:t>: A -&gt; B (If A is bought, B also will be bought)</a:t>
            </a:r>
          </a:p>
          <a:p>
            <a:endParaRPr lang="en-IN" sz="1400" dirty="0"/>
          </a:p>
          <a:p>
            <a:r>
              <a:rPr lang="en-GB" sz="1400" dirty="0"/>
              <a:t>Bread → Butter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48F3E8-841E-2E9F-219D-09F753316053}"/>
              </a:ext>
            </a:extLst>
          </p:cNvPr>
          <p:cNvSpPr txBox="1"/>
          <p:nvPr/>
        </p:nvSpPr>
        <p:spPr>
          <a:xfrm>
            <a:off x="137373" y="4281328"/>
            <a:ext cx="3840443" cy="11695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Key measures</a:t>
            </a:r>
          </a:p>
          <a:p>
            <a:pPr marL="285750" indent="-285750">
              <a:buFontTx/>
              <a:buChar char="-"/>
            </a:pPr>
            <a:r>
              <a:rPr lang="en-IN" sz="1400" b="1" dirty="0"/>
              <a:t>Support</a:t>
            </a:r>
            <a:r>
              <a:rPr lang="en-IN" sz="1400" dirty="0"/>
              <a:t>: How often items appear together</a:t>
            </a:r>
          </a:p>
          <a:p>
            <a:pPr marL="285750" indent="-285750">
              <a:buFontTx/>
              <a:buChar char="-"/>
            </a:pPr>
            <a:r>
              <a:rPr lang="en-GB" sz="1400" b="1" dirty="0"/>
              <a:t>Confidence</a:t>
            </a:r>
            <a:r>
              <a:rPr lang="en-GB" sz="1400" dirty="0"/>
              <a:t>: How often B is bought when A is bought</a:t>
            </a:r>
          </a:p>
          <a:p>
            <a:pPr marL="285750" indent="-285750">
              <a:buFontTx/>
              <a:buChar char="-"/>
            </a:pPr>
            <a:r>
              <a:rPr lang="en-GB" sz="1400" b="1" dirty="0"/>
              <a:t>Lift</a:t>
            </a:r>
            <a:r>
              <a:rPr lang="en-GB" sz="1400" dirty="0"/>
              <a:t>: How much better than chance the rule 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C8DC6F8-C86E-C7CF-1D60-2504F36BCE3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02841358"/>
                  </p:ext>
                </p:extLst>
              </p:nvPr>
            </p:nvGraphicFramePr>
            <p:xfrm>
              <a:off x="4302777" y="2816442"/>
              <a:ext cx="7818936" cy="1749743"/>
            </p:xfrm>
            <a:graphic>
              <a:graphicData uri="http://schemas.openxmlformats.org/drawingml/2006/table">
                <a:tbl>
                  <a:tblPr firstRow="1">
                    <a:tableStyleId>{7E9639D4-E3E2-4D34-9284-5A2195B3D0D7}</a:tableStyleId>
                  </a:tblPr>
                  <a:tblGrid>
                    <a:gridCol w="1124970">
                      <a:extLst>
                        <a:ext uri="{9D8B030D-6E8A-4147-A177-3AD203B41FA5}">
                          <a16:colId xmlns:a16="http://schemas.microsoft.com/office/drawing/2014/main" val="3557043851"/>
                        </a:ext>
                      </a:extLst>
                    </a:gridCol>
                    <a:gridCol w="2903743">
                      <a:extLst>
                        <a:ext uri="{9D8B030D-6E8A-4147-A177-3AD203B41FA5}">
                          <a16:colId xmlns:a16="http://schemas.microsoft.com/office/drawing/2014/main" val="1052069830"/>
                        </a:ext>
                      </a:extLst>
                    </a:gridCol>
                    <a:gridCol w="2450034">
                      <a:extLst>
                        <a:ext uri="{9D8B030D-6E8A-4147-A177-3AD203B41FA5}">
                          <a16:colId xmlns:a16="http://schemas.microsoft.com/office/drawing/2014/main" val="3366825258"/>
                        </a:ext>
                      </a:extLst>
                    </a:gridCol>
                    <a:gridCol w="1340189">
                      <a:extLst>
                        <a:ext uri="{9D8B030D-6E8A-4147-A177-3AD203B41FA5}">
                          <a16:colId xmlns:a16="http://schemas.microsoft.com/office/drawing/2014/main" val="1761567636"/>
                        </a:ext>
                      </a:extLst>
                    </a:gridCol>
                  </a:tblGrid>
                  <a:tr h="2018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dirty="0"/>
                            <a:t>Measure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dirty="0"/>
                            <a:t>Formula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Example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Example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95787440"/>
                      </a:ext>
                    </a:extLst>
                  </a:tr>
                  <a:tr h="2018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b="1" dirty="0"/>
                            <a:t>Support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dirty="0"/>
                            <a:t>Support (A -&gt; B)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𝑇𝑟𝑎𝑛𝑠𝑎𝑐𝑡𝑖𝑜𝑛𝑠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𝑤𝑖𝑡h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𝑎𝑛𝑑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num>
                                <m:den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𝑇𝑜𝑡𝑎𝑙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𝑇𝑟𝑎𝑛𝑠𝑎𝑐𝑡𝑖𝑜𝑛𝑠</m:t>
                                  </m:r>
                                </m:den>
                              </m:f>
                            </m:oMath>
                          </a14:m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{Bread, Butter} appears in 2 out of 4 baskets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2 / 4 = 0.50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07442905"/>
                      </a:ext>
                    </a:extLst>
                  </a:tr>
                  <a:tr h="2018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b="1" dirty="0"/>
                            <a:t>Confidence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1200" dirty="0"/>
                            <a:t>Confidence (A -&gt; B)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𝑆𝑢𝑝𝑝𝑜𝑟𝑡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num>
                                <m:den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𝑆𝑢𝑝𝑝𝑜𝑟𝑡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den>
                              </m:f>
                            </m:oMath>
                          </a14:m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Bread bought in 3 baskets</a:t>
                          </a:r>
                        </a:p>
                        <a:p>
                          <a:pPr>
                            <a:buNone/>
                          </a:pPr>
                          <a:r>
                            <a:rPr lang="en-IN" sz="1200" dirty="0"/>
                            <a:t>Bread and butter together in 2 baskets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2 / 3 = 0.66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1368495"/>
                      </a:ext>
                    </a:extLst>
                  </a:tr>
                  <a:tr h="201885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b="1" dirty="0"/>
                            <a:t>Lift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1200" dirty="0"/>
                            <a:t>Lift (A -&gt; B) =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GB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𝐶𝑜𝑛𝑓𝑖𝑑𝑒𝑛𝑐𝑒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→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num>
                                <m:den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𝑆𝑢𝑝𝑝𝑜𝑟𝑡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𝑜𝑓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IN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den>
                              </m:f>
                            </m:oMath>
                          </a14:m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Division of the above two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0.67 / 0.50 = 1.34 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741374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C8DC6F8-C86E-C7CF-1D60-2504F36BCE3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02841358"/>
                  </p:ext>
                </p:extLst>
              </p:nvPr>
            </p:nvGraphicFramePr>
            <p:xfrm>
              <a:off x="4302777" y="2816442"/>
              <a:ext cx="7818936" cy="1749743"/>
            </p:xfrm>
            <a:graphic>
              <a:graphicData uri="http://schemas.openxmlformats.org/drawingml/2006/table">
                <a:tbl>
                  <a:tblPr firstRow="1">
                    <a:tableStyleId>{7E9639D4-E3E2-4D34-9284-5A2195B3D0D7}</a:tableStyleId>
                  </a:tblPr>
                  <a:tblGrid>
                    <a:gridCol w="1124970">
                      <a:extLst>
                        <a:ext uri="{9D8B030D-6E8A-4147-A177-3AD203B41FA5}">
                          <a16:colId xmlns:a16="http://schemas.microsoft.com/office/drawing/2014/main" val="3557043851"/>
                        </a:ext>
                      </a:extLst>
                    </a:gridCol>
                    <a:gridCol w="2903743">
                      <a:extLst>
                        <a:ext uri="{9D8B030D-6E8A-4147-A177-3AD203B41FA5}">
                          <a16:colId xmlns:a16="http://schemas.microsoft.com/office/drawing/2014/main" val="1052069830"/>
                        </a:ext>
                      </a:extLst>
                    </a:gridCol>
                    <a:gridCol w="2450034">
                      <a:extLst>
                        <a:ext uri="{9D8B030D-6E8A-4147-A177-3AD203B41FA5}">
                          <a16:colId xmlns:a16="http://schemas.microsoft.com/office/drawing/2014/main" val="3366825258"/>
                        </a:ext>
                      </a:extLst>
                    </a:gridCol>
                    <a:gridCol w="1340189">
                      <a:extLst>
                        <a:ext uri="{9D8B030D-6E8A-4147-A177-3AD203B41FA5}">
                          <a16:colId xmlns:a16="http://schemas.microsoft.com/office/drawing/2014/main" val="1761567636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dirty="0"/>
                            <a:t>Measure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dirty="0"/>
                            <a:t>Formula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Example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Example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195787440"/>
                      </a:ext>
                    </a:extLst>
                  </a:tr>
                  <a:tr h="45720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b="1" dirty="0"/>
                            <a:t>Support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94" t="-62667" r="-130818" b="-2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{Bread, Butter} appears in 2 out of 4 baskets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2 / 4 = 0.50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407442905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b="1" dirty="0"/>
                            <a:t>Confidence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94" t="-115094" r="-130818" b="-6037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Bread bought in 3 baskets</a:t>
                          </a:r>
                        </a:p>
                        <a:p>
                          <a:pPr>
                            <a:buNone/>
                          </a:pPr>
                          <a:r>
                            <a:rPr lang="en-IN" sz="1200" dirty="0"/>
                            <a:t>Bread and butter together in 2 baskets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2 / 3 = 0.66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71368495"/>
                      </a:ext>
                    </a:extLst>
                  </a:tr>
                  <a:tr h="37814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GB" sz="1200" b="1" dirty="0"/>
                            <a:t>Lift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8994" t="-367742" r="-130818" b="-322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Division of the above two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IN" sz="1200" dirty="0"/>
                            <a:t>0.67 / 0.50 = 1.34 </a:t>
                          </a:r>
                          <a:endParaRPr lang="en-GB" sz="1200" dirty="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207413745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6854A00-74CC-7D46-0119-456140F6B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860039"/>
              </p:ext>
            </p:extLst>
          </p:nvPr>
        </p:nvGraphicFramePr>
        <p:xfrm>
          <a:off x="5177239" y="767816"/>
          <a:ext cx="5816501" cy="15240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290995">
                  <a:extLst>
                    <a:ext uri="{9D8B030D-6E8A-4147-A177-3AD203B41FA5}">
                      <a16:colId xmlns:a16="http://schemas.microsoft.com/office/drawing/2014/main" val="1420555917"/>
                    </a:ext>
                  </a:extLst>
                </a:gridCol>
                <a:gridCol w="4525506">
                  <a:extLst>
                    <a:ext uri="{9D8B030D-6E8A-4147-A177-3AD203B41FA5}">
                      <a16:colId xmlns:a16="http://schemas.microsoft.com/office/drawing/2014/main" val="118724893"/>
                    </a:ext>
                  </a:extLst>
                </a:gridCol>
              </a:tblGrid>
              <a:tr h="303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Transaction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873368"/>
                  </a:ext>
                </a:extLst>
              </a:tr>
              <a:tr h="303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240952"/>
                  </a:ext>
                </a:extLst>
              </a:tr>
              <a:tr h="303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728520"/>
                  </a:ext>
                </a:extLst>
              </a:tr>
              <a:tr h="303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Milk, 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9376813"/>
                  </a:ext>
                </a:extLst>
              </a:tr>
              <a:tr h="3036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2955495"/>
                  </a:ext>
                </a:extLst>
              </a:tr>
            </a:tbl>
          </a:graphicData>
        </a:graphic>
      </p:graphicFrame>
      <p:sp>
        <p:nvSpPr>
          <p:cNvPr id="12" name="Arrow: Striped Right 11">
            <a:extLst>
              <a:ext uri="{FF2B5EF4-FFF2-40B4-BE49-F238E27FC236}">
                <a16:creationId xmlns:a16="http://schemas.microsoft.com/office/drawing/2014/main" id="{C2DC17DA-892F-C3DD-5126-CE20FAF42594}"/>
              </a:ext>
            </a:extLst>
          </p:cNvPr>
          <p:cNvSpPr/>
          <p:nvPr/>
        </p:nvSpPr>
        <p:spPr>
          <a:xfrm rot="5400000">
            <a:off x="7644769" y="2412330"/>
            <a:ext cx="395833" cy="283598"/>
          </a:xfrm>
          <a:prstGeom prst="striped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Arrow: Striped Right 12">
            <a:extLst>
              <a:ext uri="{FF2B5EF4-FFF2-40B4-BE49-F238E27FC236}">
                <a16:creationId xmlns:a16="http://schemas.microsoft.com/office/drawing/2014/main" id="{39E676FB-6273-5312-47AF-2817D05DCD14}"/>
              </a:ext>
            </a:extLst>
          </p:cNvPr>
          <p:cNvSpPr/>
          <p:nvPr/>
        </p:nvSpPr>
        <p:spPr>
          <a:xfrm rot="5400000">
            <a:off x="4685800" y="4424385"/>
            <a:ext cx="395833" cy="283598"/>
          </a:xfrm>
          <a:prstGeom prst="striped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C3249CF-AD7C-DAB9-5A04-FB6CBC797E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555518"/>
              </p:ext>
            </p:extLst>
          </p:nvPr>
        </p:nvGraphicFramePr>
        <p:xfrm>
          <a:off x="4302777" y="4778061"/>
          <a:ext cx="2803018" cy="109728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883476">
                  <a:extLst>
                    <a:ext uri="{9D8B030D-6E8A-4147-A177-3AD203B41FA5}">
                      <a16:colId xmlns:a16="http://schemas.microsoft.com/office/drawing/2014/main" val="3557043851"/>
                    </a:ext>
                  </a:extLst>
                </a:gridCol>
                <a:gridCol w="1919542">
                  <a:extLst>
                    <a:ext uri="{9D8B030D-6E8A-4147-A177-3AD203B41FA5}">
                      <a16:colId xmlns:a16="http://schemas.microsoft.com/office/drawing/2014/main" val="1052069830"/>
                    </a:ext>
                  </a:extLst>
                </a:gridCol>
              </a:tblGrid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Lift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Interpretation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5787440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&gt;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Positive association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7442905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=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No association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368495"/>
                  </a:ext>
                </a:extLst>
              </a:tr>
              <a:tr h="2018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&lt;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Negative association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413745"/>
                  </a:ext>
                </a:extLst>
              </a:tr>
            </a:tbl>
          </a:graphicData>
        </a:graphic>
      </p:graphicFrame>
      <p:sp>
        <p:nvSpPr>
          <p:cNvPr id="15" name="Arrow: Striped Right 14">
            <a:extLst>
              <a:ext uri="{FF2B5EF4-FFF2-40B4-BE49-F238E27FC236}">
                <a16:creationId xmlns:a16="http://schemas.microsoft.com/office/drawing/2014/main" id="{729CF38D-4FE2-91D4-600E-2BB7CBE09178}"/>
              </a:ext>
            </a:extLst>
          </p:cNvPr>
          <p:cNvSpPr/>
          <p:nvPr/>
        </p:nvSpPr>
        <p:spPr>
          <a:xfrm rot="5400000">
            <a:off x="11483308" y="4547922"/>
            <a:ext cx="395833" cy="283598"/>
          </a:xfrm>
          <a:prstGeom prst="stripedRight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21ADDC-6201-F22D-C5EA-BFDEC5D027FA}"/>
              </a:ext>
            </a:extLst>
          </p:cNvPr>
          <p:cNvSpPr txBox="1"/>
          <p:nvPr/>
        </p:nvSpPr>
        <p:spPr>
          <a:xfrm>
            <a:off x="8281270" y="4921234"/>
            <a:ext cx="3840443" cy="5232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Bread buyers are 1.34 times more likely to buy butter than a random customer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238583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85BFF-7303-346D-CBC1-30FF01774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Apriori</a:t>
            </a:r>
            <a:r>
              <a:rPr lang="en-IN" dirty="0"/>
              <a:t> Algorithm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823F9-DF00-F901-162C-EA4E13FBA4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 </a:t>
            </a:r>
            <a:r>
              <a:rPr lang="en-US" b="1" dirty="0"/>
              <a:t>data mining algorithm</a:t>
            </a:r>
            <a:r>
              <a:rPr lang="en-US" dirty="0"/>
              <a:t> used to find </a:t>
            </a:r>
            <a:r>
              <a:rPr lang="en-US" b="1" dirty="0"/>
              <a:t>frequent </a:t>
            </a:r>
            <a:r>
              <a:rPr lang="en-US" b="1" dirty="0" err="1"/>
              <a:t>itemsets</a:t>
            </a:r>
            <a:r>
              <a:rPr lang="en-US" dirty="0"/>
              <a:t> and </a:t>
            </a:r>
            <a:r>
              <a:rPr lang="en-US" b="1" dirty="0"/>
              <a:t>association rules</a:t>
            </a:r>
            <a:r>
              <a:rPr lang="en-US" dirty="0"/>
              <a:t> in transactional data</a:t>
            </a:r>
          </a:p>
          <a:p>
            <a:r>
              <a:rPr lang="en-US" dirty="0"/>
              <a:t>Classic use: Market Basket Analysis (</a:t>
            </a:r>
            <a:r>
              <a:rPr lang="en-US" i="1" dirty="0"/>
              <a:t>People who bought this book also bought this</a:t>
            </a:r>
            <a:r>
              <a:rPr lang="en-US" dirty="0"/>
              <a:t>)</a:t>
            </a:r>
          </a:p>
          <a:p>
            <a:r>
              <a:rPr lang="en-US" dirty="0"/>
              <a:t>Inputs: Transaction dataset (each row = items bought together)</a:t>
            </a:r>
          </a:p>
          <a:p>
            <a:r>
              <a:rPr lang="en-US" dirty="0"/>
              <a:t>Outputs: Frequent </a:t>
            </a:r>
            <a:r>
              <a:rPr lang="en-US" dirty="0" err="1"/>
              <a:t>itemsets</a:t>
            </a:r>
            <a:r>
              <a:rPr lang="en-US" dirty="0"/>
              <a:t>, Association rules, e.g. A -&gt; B</a:t>
            </a:r>
          </a:p>
          <a:p>
            <a:r>
              <a:rPr lang="en-US" dirty="0"/>
              <a:t>Core idea: If an itemset is frequent, all its subsets must also be frequent</a:t>
            </a:r>
          </a:p>
          <a:p>
            <a:pPr lvl="1"/>
            <a:r>
              <a:rPr lang="en-US" dirty="0"/>
              <a:t>If {milk, bread} is frequent</a:t>
            </a:r>
          </a:p>
          <a:p>
            <a:pPr lvl="1"/>
            <a:r>
              <a:rPr lang="en-US" dirty="0"/>
              <a:t>then {milk} and {bread} </a:t>
            </a:r>
            <a:r>
              <a:rPr lang="en-US" b="1" dirty="0"/>
              <a:t>must</a:t>
            </a:r>
            <a:r>
              <a:rPr lang="en-US" dirty="0"/>
              <a:t> be frequent</a:t>
            </a:r>
          </a:p>
          <a:p>
            <a:r>
              <a:rPr lang="en-US" dirty="0"/>
              <a:t>This rule helps </a:t>
            </a:r>
            <a:r>
              <a:rPr lang="en-US" b="1" dirty="0"/>
              <a:t>prune</a:t>
            </a:r>
            <a:r>
              <a:rPr lang="en-US" dirty="0"/>
              <a:t> (remove) useless combinations early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94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5D35803-ACB4-56F9-D12A-62CDC89B2652}"/>
              </a:ext>
            </a:extLst>
          </p:cNvPr>
          <p:cNvSpPr txBox="1">
            <a:spLocks/>
          </p:cNvSpPr>
          <p:nvPr/>
        </p:nvSpPr>
        <p:spPr>
          <a:xfrm>
            <a:off x="91324" y="120820"/>
            <a:ext cx="3840443" cy="8075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 err="1"/>
              <a:t>Apriori</a:t>
            </a:r>
            <a:r>
              <a:rPr lang="en-IN" sz="3200" dirty="0"/>
              <a:t> Algorithm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78CFA0-E4B6-D1DB-9E76-7C6CEA5D2DCD}"/>
              </a:ext>
            </a:extLst>
          </p:cNvPr>
          <p:cNvSpPr txBox="1"/>
          <p:nvPr/>
        </p:nvSpPr>
        <p:spPr>
          <a:xfrm>
            <a:off x="137373" y="767816"/>
            <a:ext cx="3541167" cy="11695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Used in association rule mining to find frequent </a:t>
            </a:r>
            <a:r>
              <a:rPr lang="en-IN" sz="1400" dirty="0" err="1"/>
              <a:t>itemsets</a:t>
            </a:r>
            <a:r>
              <a:rPr lang="en-IN" sz="1400" dirty="0"/>
              <a:t> from transactional data</a:t>
            </a:r>
          </a:p>
          <a:p>
            <a:endParaRPr lang="en-IN" sz="1400" dirty="0"/>
          </a:p>
          <a:p>
            <a:r>
              <a:rPr lang="en-IN" sz="1400" dirty="0"/>
              <a:t>Basic idea: If an itemset is frequent, all its subsets must also be frequent</a:t>
            </a:r>
            <a:endParaRPr lang="en-GB" sz="1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8EBEB77-38A8-040C-DA3E-858ACF60D4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280961"/>
              </p:ext>
            </p:extLst>
          </p:nvPr>
        </p:nvGraphicFramePr>
        <p:xfrm>
          <a:off x="137373" y="2128945"/>
          <a:ext cx="3541167" cy="15240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164806">
                  <a:extLst>
                    <a:ext uri="{9D8B030D-6E8A-4147-A177-3AD203B41FA5}">
                      <a16:colId xmlns:a16="http://schemas.microsoft.com/office/drawing/2014/main" val="1420555917"/>
                    </a:ext>
                  </a:extLst>
                </a:gridCol>
                <a:gridCol w="2376361">
                  <a:extLst>
                    <a:ext uri="{9D8B030D-6E8A-4147-A177-3AD203B41FA5}">
                      <a16:colId xmlns:a16="http://schemas.microsoft.com/office/drawing/2014/main" val="118724893"/>
                    </a:ext>
                  </a:extLst>
                </a:gridCol>
              </a:tblGrid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Transaction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873368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240952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728520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Milk, 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9376813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8295549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02C6004-5C27-93B9-CE89-D12A98C66552}"/>
              </a:ext>
            </a:extLst>
          </p:cNvPr>
          <p:cNvSpPr txBox="1"/>
          <p:nvPr/>
        </p:nvSpPr>
        <p:spPr>
          <a:xfrm>
            <a:off x="3931767" y="68638"/>
            <a:ext cx="3704522" cy="523220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Step 1: Generate C1 (Candidate 1-itsemsets)</a:t>
            </a:r>
          </a:p>
          <a:p>
            <a:r>
              <a:rPr lang="en-IN" sz="1400" dirty="0"/>
              <a:t>All possible single items we found in the data</a:t>
            </a:r>
            <a:endParaRPr lang="en-GB" sz="14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E466564-2DEE-8E2B-23DE-771B69A7F7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5296554"/>
              </p:ext>
            </p:extLst>
          </p:nvPr>
        </p:nvGraphicFramePr>
        <p:xfrm>
          <a:off x="3931766" y="644040"/>
          <a:ext cx="3704522" cy="12192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192816">
                  <a:extLst>
                    <a:ext uri="{9D8B030D-6E8A-4147-A177-3AD203B41FA5}">
                      <a16:colId xmlns:a16="http://schemas.microsoft.com/office/drawing/2014/main" val="1420555917"/>
                    </a:ext>
                  </a:extLst>
                </a:gridCol>
                <a:gridCol w="1255853">
                  <a:extLst>
                    <a:ext uri="{9D8B030D-6E8A-4147-A177-3AD203B41FA5}">
                      <a16:colId xmlns:a16="http://schemas.microsoft.com/office/drawing/2014/main" val="118724893"/>
                    </a:ext>
                  </a:extLst>
                </a:gridCol>
                <a:gridCol w="1255853">
                  <a:extLst>
                    <a:ext uri="{9D8B030D-6E8A-4147-A177-3AD203B41FA5}">
                      <a16:colId xmlns:a16="http://schemas.microsoft.com/office/drawing/2014/main" val="1971768164"/>
                    </a:ext>
                  </a:extLst>
                </a:gridCol>
              </a:tblGrid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Support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873368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3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3/4 = 0.75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240952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3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dirty="0"/>
                        <a:t>3/4 = 0.75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728520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2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dirty="0"/>
                        <a:t>2/4 = 0.50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937681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C8346AC-851D-6121-5A66-DCF690EC1F64}"/>
              </a:ext>
            </a:extLst>
          </p:cNvPr>
          <p:cNvSpPr txBox="1"/>
          <p:nvPr/>
        </p:nvSpPr>
        <p:spPr>
          <a:xfrm>
            <a:off x="3931765" y="2078682"/>
            <a:ext cx="3704522" cy="13849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Step 2: Generate L1 (Frequent 1-itsemsets)</a:t>
            </a:r>
          </a:p>
          <a:p>
            <a:r>
              <a:rPr lang="en-IN" sz="1400" dirty="0"/>
              <a:t>Only those items whose support &gt;= min support</a:t>
            </a:r>
          </a:p>
          <a:p>
            <a:r>
              <a:rPr lang="en-IN" sz="1400" dirty="0"/>
              <a:t>Obtain L1 by filtering C1</a:t>
            </a:r>
          </a:p>
          <a:p>
            <a:r>
              <a:rPr lang="en-IN" sz="1400" dirty="0"/>
              <a:t>Suppose minimum support = 50%</a:t>
            </a:r>
          </a:p>
          <a:p>
            <a:r>
              <a:rPr lang="en-IN" sz="1400" dirty="0"/>
              <a:t>All the above satisfy this, so</a:t>
            </a:r>
          </a:p>
          <a:p>
            <a:r>
              <a:rPr lang="en-IN" sz="1400" dirty="0"/>
              <a:t>L1 = {Bread, Milk, Butter}</a:t>
            </a:r>
            <a:endParaRPr lang="en-GB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10558D-3FCE-A031-9946-D0B3D7FEDA18}"/>
              </a:ext>
            </a:extLst>
          </p:cNvPr>
          <p:cNvSpPr txBox="1"/>
          <p:nvPr/>
        </p:nvSpPr>
        <p:spPr>
          <a:xfrm>
            <a:off x="3931765" y="3679119"/>
            <a:ext cx="3704522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Step 3: Generate C2 (Candidate 2-itsemsets)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E890111-57F7-EB56-7D05-10A5E4C38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694934"/>
              </p:ext>
            </p:extLst>
          </p:nvPr>
        </p:nvGraphicFramePr>
        <p:xfrm>
          <a:off x="3931765" y="4045117"/>
          <a:ext cx="3704522" cy="12192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192816">
                  <a:extLst>
                    <a:ext uri="{9D8B030D-6E8A-4147-A177-3AD203B41FA5}">
                      <a16:colId xmlns:a16="http://schemas.microsoft.com/office/drawing/2014/main" val="1420555917"/>
                    </a:ext>
                  </a:extLst>
                </a:gridCol>
                <a:gridCol w="1255853">
                  <a:extLst>
                    <a:ext uri="{9D8B030D-6E8A-4147-A177-3AD203B41FA5}">
                      <a16:colId xmlns:a16="http://schemas.microsoft.com/office/drawing/2014/main" val="118724893"/>
                    </a:ext>
                  </a:extLst>
                </a:gridCol>
                <a:gridCol w="1255853">
                  <a:extLst>
                    <a:ext uri="{9D8B030D-6E8A-4147-A177-3AD203B41FA5}">
                      <a16:colId xmlns:a16="http://schemas.microsoft.com/office/drawing/2014/main" val="1971768164"/>
                    </a:ext>
                  </a:extLst>
                </a:gridCol>
              </a:tblGrid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Support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873368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2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2/4 = 0.50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240952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2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dirty="0"/>
                        <a:t>2/4 = 0.50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728520"/>
                  </a:ext>
                </a:extLst>
              </a:tr>
              <a:tr h="2404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Milk, Butter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1</a:t>
                      </a:r>
                      <a:endParaRPr lang="en-GB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400" dirty="0">
                          <a:solidFill>
                            <a:srgbClr val="FF0000"/>
                          </a:solidFill>
                        </a:rPr>
                        <a:t>1/4 = 0.25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937681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2EC2445A-427D-8D6D-5DD0-03B039E2D16E}"/>
              </a:ext>
            </a:extLst>
          </p:cNvPr>
          <p:cNvSpPr txBox="1"/>
          <p:nvPr/>
        </p:nvSpPr>
        <p:spPr>
          <a:xfrm>
            <a:off x="3931765" y="5473005"/>
            <a:ext cx="3704522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Step 4: Generate L2 (Frequent 2-itsemsets)</a:t>
            </a:r>
          </a:p>
          <a:p>
            <a:r>
              <a:rPr lang="en-IN" sz="1400" dirty="0"/>
              <a:t>L2 = {(Bread, Milk), (Bread, Butter)}</a:t>
            </a:r>
          </a:p>
          <a:p>
            <a:r>
              <a:rPr lang="en-IN" sz="1400" dirty="0"/>
              <a:t>Note: (Milk, Butter} is removed</a:t>
            </a:r>
            <a:endParaRPr lang="en-GB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9C8FC6-E397-DC13-D503-ECA6644FF156}"/>
              </a:ext>
            </a:extLst>
          </p:cNvPr>
          <p:cNvSpPr txBox="1"/>
          <p:nvPr/>
        </p:nvSpPr>
        <p:spPr>
          <a:xfrm>
            <a:off x="3931765" y="6429403"/>
            <a:ext cx="3704522" cy="30777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No frequent 3-itemsets: Stop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F958F4-1F9D-7BD4-449C-4AA98F8DF47C}"/>
              </a:ext>
            </a:extLst>
          </p:cNvPr>
          <p:cNvSpPr txBox="1"/>
          <p:nvPr/>
        </p:nvSpPr>
        <p:spPr>
          <a:xfrm>
            <a:off x="7889514" y="68638"/>
            <a:ext cx="3704522" cy="95410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Final frequent </a:t>
            </a:r>
            <a:r>
              <a:rPr lang="en-IN" sz="1400" b="1" dirty="0" err="1"/>
              <a:t>itemsets</a:t>
            </a:r>
            <a:endParaRPr lang="en-IN" sz="1400" b="1" dirty="0"/>
          </a:p>
          <a:p>
            <a:endParaRPr lang="en-IN" sz="1400" dirty="0"/>
          </a:p>
          <a:p>
            <a:r>
              <a:rPr lang="en-IN" sz="1400" dirty="0"/>
              <a:t>L1: {Bread, Milk, Butter}</a:t>
            </a:r>
          </a:p>
          <a:p>
            <a:r>
              <a:rPr lang="en-IN" sz="1400" dirty="0"/>
              <a:t>L2: {(Bread, Milk), (Bread, Butter)}</a:t>
            </a:r>
            <a:endParaRPr lang="en-GB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A080E0-9B8A-23E7-88E2-050B8FF8E11D}"/>
              </a:ext>
            </a:extLst>
          </p:cNvPr>
          <p:cNvSpPr txBox="1"/>
          <p:nvPr/>
        </p:nvSpPr>
        <p:spPr>
          <a:xfrm>
            <a:off x="7889512" y="1160878"/>
            <a:ext cx="3704522" cy="54784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Step 5: Generate Association Rules</a:t>
            </a:r>
          </a:p>
          <a:p>
            <a:endParaRPr lang="en-IN" sz="1400" dirty="0"/>
          </a:p>
          <a:p>
            <a:r>
              <a:rPr lang="en-IN" sz="1400" dirty="0"/>
              <a:t>Association Rules are generated from all frequent </a:t>
            </a:r>
            <a:r>
              <a:rPr lang="en-IN" sz="1400" dirty="0" err="1"/>
              <a:t>itemsets</a:t>
            </a:r>
            <a:r>
              <a:rPr lang="en-IN" sz="1400" dirty="0"/>
              <a:t> of size &gt;= 2</a:t>
            </a:r>
          </a:p>
          <a:p>
            <a:endParaRPr lang="en-IN" sz="1400" dirty="0"/>
          </a:p>
          <a:p>
            <a:r>
              <a:rPr lang="en-GB" sz="1400" dirty="0"/>
              <a:t>From L2: </a:t>
            </a:r>
            <a:r>
              <a:rPr lang="en-IN" sz="1400" dirty="0"/>
              <a:t>{(Bread, Milk), (Bread, Butter)}</a:t>
            </a:r>
          </a:p>
          <a:p>
            <a:endParaRPr lang="en-IN" sz="1400" dirty="0"/>
          </a:p>
          <a:p>
            <a:r>
              <a:rPr lang="en-IN" sz="1400" dirty="0"/>
              <a:t>One example: (Bread, Milk)</a:t>
            </a:r>
          </a:p>
          <a:p>
            <a:pPr marL="285750" indent="-285750">
              <a:buFontTx/>
              <a:buChar char="-"/>
            </a:pPr>
            <a:r>
              <a:rPr lang="en-IN" sz="1400" b="1" dirty="0"/>
              <a:t>Support </a:t>
            </a:r>
            <a:r>
              <a:rPr lang="en-IN" sz="1400" dirty="0"/>
              <a:t>(Bread and Milk) = 2/4 = 0.5</a:t>
            </a:r>
          </a:p>
          <a:p>
            <a:pPr marL="285750" indent="-285750">
              <a:buFontTx/>
              <a:buChar char="-"/>
            </a:pPr>
            <a:r>
              <a:rPr lang="en-IN" sz="1400" b="1" dirty="0"/>
              <a:t>Support</a:t>
            </a:r>
            <a:r>
              <a:rPr lang="en-IN" sz="1400" dirty="0"/>
              <a:t> (Bread) = 3/4 = 0.75</a:t>
            </a:r>
          </a:p>
          <a:p>
            <a:pPr marL="285750" indent="-285750">
              <a:buFontTx/>
              <a:buChar char="-"/>
            </a:pPr>
            <a:r>
              <a:rPr lang="en-IN" sz="1400" b="1" dirty="0"/>
              <a:t>Support</a:t>
            </a:r>
            <a:r>
              <a:rPr lang="en-IN" sz="1400" dirty="0"/>
              <a:t> (Milk) = 3/4 = 0.75</a:t>
            </a:r>
          </a:p>
          <a:p>
            <a:endParaRPr lang="en-IN" sz="1400" dirty="0"/>
          </a:p>
          <a:p>
            <a:r>
              <a:rPr lang="en-IN" sz="1400" dirty="0"/>
              <a:t>Possible rules: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Bread -&gt; Milk</a:t>
            </a:r>
          </a:p>
          <a:p>
            <a:pPr marL="742950" lvl="1" indent="-285750">
              <a:buFontTx/>
              <a:buChar char="-"/>
            </a:pPr>
            <a:r>
              <a:rPr lang="en-IN" sz="1400" b="1" dirty="0"/>
              <a:t>Confidence</a:t>
            </a:r>
            <a:r>
              <a:rPr lang="en-IN" sz="1400" dirty="0"/>
              <a:t> = 0.5/0.75 = 0.67</a:t>
            </a:r>
          </a:p>
          <a:p>
            <a:pPr marL="742950" lvl="1" indent="-285750">
              <a:buFontTx/>
              <a:buChar char="-"/>
            </a:pPr>
            <a:r>
              <a:rPr lang="en-IN" sz="1400" dirty="0"/>
              <a:t>67% of the time when Bread is bought, Milk is bought, too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Milk -&gt; Bread</a:t>
            </a:r>
          </a:p>
          <a:p>
            <a:pPr marL="742950" lvl="1" indent="-285750">
              <a:buFontTx/>
              <a:buChar char="-"/>
            </a:pPr>
            <a:r>
              <a:rPr lang="en-IN" sz="1400" b="1" dirty="0"/>
              <a:t>Confidence</a:t>
            </a:r>
            <a:r>
              <a:rPr lang="en-IN" sz="1400" dirty="0"/>
              <a:t> = 0.5/0.75 = 0.67</a:t>
            </a:r>
          </a:p>
          <a:p>
            <a:pPr marL="742950" lvl="1" indent="-285750">
              <a:buFontTx/>
              <a:buChar char="-"/>
            </a:pPr>
            <a:r>
              <a:rPr lang="en-IN" sz="1400" dirty="0"/>
              <a:t>67% of the time when Milk is bought, Bread is bought, too</a:t>
            </a:r>
            <a:endParaRPr lang="en-GB" sz="1400" dirty="0"/>
          </a:p>
          <a:p>
            <a:r>
              <a:rPr lang="en-IN" sz="1400" dirty="0"/>
              <a:t>Repeat for (Bread, Butter)</a:t>
            </a:r>
          </a:p>
          <a:p>
            <a:endParaRPr lang="en-IN" sz="1400" dirty="0"/>
          </a:p>
          <a:p>
            <a:r>
              <a:rPr lang="en-US" sz="1400" b="1" dirty="0"/>
              <a:t>Lift</a:t>
            </a:r>
            <a:r>
              <a:rPr lang="en-US" sz="1400" dirty="0"/>
              <a:t>(Bread → Milk) = 0.67 / 0.75 ≈ 0.89</a:t>
            </a:r>
          </a:p>
          <a:p>
            <a:r>
              <a:rPr lang="en-US" sz="1400" dirty="0"/>
              <a:t>(&lt; 1 → weak/negative association)</a:t>
            </a:r>
            <a:endParaRPr lang="en-GB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1878690-958A-A5EA-1C7B-04A186FB46EB}"/>
              </a:ext>
            </a:extLst>
          </p:cNvPr>
          <p:cNvSpPr txBox="1"/>
          <p:nvPr/>
        </p:nvSpPr>
        <p:spPr>
          <a:xfrm>
            <a:off x="137373" y="3853044"/>
            <a:ext cx="3541167" cy="95410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u="sng" dirty="0"/>
              <a:t>Key concepts</a:t>
            </a:r>
          </a:p>
          <a:p>
            <a:r>
              <a:rPr lang="en-IN" sz="1400" b="1" dirty="0"/>
              <a:t>Support</a:t>
            </a:r>
            <a:r>
              <a:rPr lang="en-IN" sz="1400" dirty="0"/>
              <a:t>: How often an itemset appears</a:t>
            </a:r>
          </a:p>
          <a:p>
            <a:r>
              <a:rPr lang="en-IN" sz="1400" b="1" dirty="0"/>
              <a:t>Confidence</a:t>
            </a:r>
            <a:r>
              <a:rPr lang="en-IN" sz="1400" dirty="0"/>
              <a:t>: How reliable a rule is</a:t>
            </a:r>
          </a:p>
          <a:p>
            <a:r>
              <a:rPr lang="en-IN" sz="1400" b="1" dirty="0"/>
              <a:t>Lift</a:t>
            </a:r>
            <a:r>
              <a:rPr lang="en-IN" sz="1400" dirty="0"/>
              <a:t>: How strong an association is</a:t>
            </a:r>
            <a:endParaRPr lang="en-GB" sz="14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F02125A-5E7F-C299-BD08-DE8271CC7C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99" y="4853811"/>
            <a:ext cx="2833360" cy="53671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F61887A-449B-BA01-9F26-1D0C6D71B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176" y="5473005"/>
            <a:ext cx="2890783" cy="4743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22544A6-FDEB-4D79-D96F-8AF701191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619" y="6045357"/>
            <a:ext cx="2085895" cy="56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927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E639B1E6-4ECD-A0FA-21D5-33AD39043EDA}"/>
              </a:ext>
            </a:extLst>
          </p:cNvPr>
          <p:cNvSpPr txBox="1">
            <a:spLocks/>
          </p:cNvSpPr>
          <p:nvPr/>
        </p:nvSpPr>
        <p:spPr>
          <a:xfrm>
            <a:off x="91324" y="120820"/>
            <a:ext cx="3840443" cy="8075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/>
              <a:t>FP-Growth Algorithm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2CB43A-D9D5-88A2-97C0-A605287E5D77}"/>
              </a:ext>
            </a:extLst>
          </p:cNvPr>
          <p:cNvSpPr txBox="1"/>
          <p:nvPr/>
        </p:nvSpPr>
        <p:spPr>
          <a:xfrm>
            <a:off x="137373" y="767816"/>
            <a:ext cx="3541167" cy="160043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Frequent Pattern Growth Algorithm</a:t>
            </a:r>
            <a:endParaRPr lang="en-IN" sz="1400" dirty="0"/>
          </a:p>
          <a:p>
            <a:endParaRPr lang="en-IN" sz="1400" dirty="0"/>
          </a:p>
          <a:p>
            <a:r>
              <a:rPr lang="en-IN" sz="1400" dirty="0"/>
              <a:t>Association rule mining technique that finds frequent </a:t>
            </a:r>
            <a:r>
              <a:rPr lang="en-IN" sz="1400" dirty="0" err="1"/>
              <a:t>itemsets</a:t>
            </a:r>
            <a:r>
              <a:rPr lang="en-IN" sz="1400" dirty="0"/>
              <a:t> without generating candidate </a:t>
            </a:r>
            <a:r>
              <a:rPr lang="en-IN" sz="1400" dirty="0" err="1"/>
              <a:t>itemsets</a:t>
            </a:r>
            <a:r>
              <a:rPr lang="en-IN" sz="1400" dirty="0"/>
              <a:t> (unlike </a:t>
            </a:r>
            <a:r>
              <a:rPr lang="en-IN" sz="1400" dirty="0" err="1"/>
              <a:t>Apriori</a:t>
            </a:r>
            <a:r>
              <a:rPr lang="en-IN" sz="1400" dirty="0"/>
              <a:t>)</a:t>
            </a:r>
          </a:p>
          <a:p>
            <a:endParaRPr lang="en-IN" sz="1400" dirty="0"/>
          </a:p>
          <a:p>
            <a:r>
              <a:rPr lang="en-IN" sz="1400" dirty="0"/>
              <a:t>Advantage: Much faster on larger datasets</a:t>
            </a:r>
            <a:endParaRPr lang="en-GB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9252E5-F1A3-23CF-CA6B-7F34EF0C9320}"/>
              </a:ext>
            </a:extLst>
          </p:cNvPr>
          <p:cNvSpPr txBox="1"/>
          <p:nvPr/>
        </p:nvSpPr>
        <p:spPr>
          <a:xfrm>
            <a:off x="137373" y="2483771"/>
            <a:ext cx="3541167" cy="203132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Two phases</a:t>
            </a:r>
          </a:p>
          <a:p>
            <a:endParaRPr lang="en-IN" sz="1400" b="1" dirty="0"/>
          </a:p>
          <a:p>
            <a:r>
              <a:rPr lang="en-IN" sz="1400" b="1" dirty="0"/>
              <a:t>Phase 1: Build FP-Tree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Compress transactions into a tree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Preserve frequency information</a:t>
            </a:r>
          </a:p>
          <a:p>
            <a:pPr marL="285750" indent="-285750">
              <a:buFontTx/>
              <a:buChar char="-"/>
            </a:pPr>
            <a:endParaRPr lang="en-GB" sz="1400" dirty="0"/>
          </a:p>
          <a:p>
            <a:r>
              <a:rPr lang="en-IN" sz="1400" b="1" dirty="0"/>
              <a:t>Phase 2: Mine frequent patterns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Extract frequent </a:t>
            </a:r>
            <a:r>
              <a:rPr lang="en-IN" sz="1400" dirty="0" err="1"/>
              <a:t>itemsets</a:t>
            </a:r>
            <a:r>
              <a:rPr lang="en-IN" sz="1400" dirty="0"/>
              <a:t> from the tree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No candidate generation</a:t>
            </a:r>
            <a:endParaRPr lang="en-GB" sz="1400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3C5724C-4DA7-6AE7-B124-260A688152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0267818"/>
              </p:ext>
            </p:extLst>
          </p:nvPr>
        </p:nvGraphicFramePr>
        <p:xfrm>
          <a:off x="137373" y="4977119"/>
          <a:ext cx="3541167" cy="1828800"/>
        </p:xfrm>
        <a:graphic>
          <a:graphicData uri="http://schemas.openxmlformats.org/drawingml/2006/table">
            <a:tbl>
              <a:tblPr firstRow="1">
                <a:tableStyleId>{5A111915-BE36-4E01-A7E5-04B1672EAD32}</a:tableStyleId>
              </a:tblPr>
              <a:tblGrid>
                <a:gridCol w="715961">
                  <a:extLst>
                    <a:ext uri="{9D8B030D-6E8A-4147-A177-3AD203B41FA5}">
                      <a16:colId xmlns:a16="http://schemas.microsoft.com/office/drawing/2014/main" val="3645117958"/>
                    </a:ext>
                  </a:extLst>
                </a:gridCol>
                <a:gridCol w="2825206">
                  <a:extLst>
                    <a:ext uri="{9D8B030D-6E8A-4147-A177-3AD203B41FA5}">
                      <a16:colId xmlns:a16="http://schemas.microsoft.com/office/drawing/2014/main" val="2794275391"/>
                    </a:ext>
                  </a:extLst>
                </a:gridCol>
              </a:tblGrid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6997191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6398346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Cola,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371722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Milk, Cola,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8712475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Milk, Bread, Cola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2806461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Eggs, Milk, Bread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44515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456CC4C-6FA8-DE6C-16BD-57E60B6B4DD9}"/>
              </a:ext>
            </a:extLst>
          </p:cNvPr>
          <p:cNvSpPr txBox="1"/>
          <p:nvPr/>
        </p:nvSpPr>
        <p:spPr>
          <a:xfrm>
            <a:off x="169898" y="4669342"/>
            <a:ext cx="34761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Sample dataset, Min Support = 3</a:t>
            </a:r>
            <a:endParaRPr lang="en-GB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4EE9AD2-9EA9-6929-0C2F-B1826B392B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2965270"/>
              </p:ext>
            </p:extLst>
          </p:nvPr>
        </p:nvGraphicFramePr>
        <p:xfrm>
          <a:off x="3867586" y="666739"/>
          <a:ext cx="2547174" cy="15240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273587">
                  <a:extLst>
                    <a:ext uri="{9D8B030D-6E8A-4147-A177-3AD203B41FA5}">
                      <a16:colId xmlns:a16="http://schemas.microsoft.com/office/drawing/2014/main" val="4165510387"/>
                    </a:ext>
                  </a:extLst>
                </a:gridCol>
                <a:gridCol w="1273587">
                  <a:extLst>
                    <a:ext uri="{9D8B030D-6E8A-4147-A177-3AD203B41FA5}">
                      <a16:colId xmlns:a16="http://schemas.microsoft.com/office/drawing/2014/main" val="2709364717"/>
                    </a:ext>
                  </a:extLst>
                </a:gridCol>
              </a:tblGrid>
              <a:tr h="264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Count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0194194"/>
                  </a:ext>
                </a:extLst>
              </a:tr>
              <a:tr h="264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434987"/>
                  </a:ext>
                </a:extLst>
              </a:tr>
              <a:tr h="264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7788323"/>
                  </a:ext>
                </a:extLst>
              </a:tr>
              <a:tr h="264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Cola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7162388"/>
                  </a:ext>
                </a:extLst>
              </a:tr>
              <a:tr h="264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451558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F7D934D-0884-5578-F561-32EF6F14EC40}"/>
              </a:ext>
            </a:extLst>
          </p:cNvPr>
          <p:cNvSpPr txBox="1"/>
          <p:nvPr/>
        </p:nvSpPr>
        <p:spPr>
          <a:xfrm>
            <a:off x="3867586" y="139879"/>
            <a:ext cx="25471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1: Count item frequency (1</a:t>
            </a:r>
            <a:r>
              <a:rPr lang="en-IN" sz="1400" baseline="30000" dirty="0"/>
              <a:t>st</a:t>
            </a:r>
            <a:r>
              <a:rPr lang="en-IN" sz="1400" dirty="0"/>
              <a:t> scan)</a:t>
            </a:r>
            <a:endParaRPr lang="en-GB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C80ABF-1186-B34B-3473-91875396A719}"/>
              </a:ext>
            </a:extLst>
          </p:cNvPr>
          <p:cNvSpPr txBox="1"/>
          <p:nvPr/>
        </p:nvSpPr>
        <p:spPr>
          <a:xfrm>
            <a:off x="3783243" y="2429519"/>
            <a:ext cx="2962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2: Sort items in each transaction (Descending frequency order)</a:t>
            </a:r>
            <a:endParaRPr lang="en-GB" sz="1400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51E98B9-EF56-F866-F1D5-2AE1FD5A08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4763107"/>
              </p:ext>
            </p:extLst>
          </p:nvPr>
        </p:nvGraphicFramePr>
        <p:xfrm>
          <a:off x="3867586" y="2952739"/>
          <a:ext cx="2596036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067382">
                  <a:extLst>
                    <a:ext uri="{9D8B030D-6E8A-4147-A177-3AD203B41FA5}">
                      <a16:colId xmlns:a16="http://schemas.microsoft.com/office/drawing/2014/main" val="2363393146"/>
                    </a:ext>
                  </a:extLst>
                </a:gridCol>
                <a:gridCol w="1528654">
                  <a:extLst>
                    <a:ext uri="{9D8B030D-6E8A-4147-A177-3AD203B41FA5}">
                      <a16:colId xmlns:a16="http://schemas.microsoft.com/office/drawing/2014/main" val="611478735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Transaction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Sorted 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809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164052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Cola,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6223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Milk, Cola,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743004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Bread, Milk, Cola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9526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Milk,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710446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BA69FC48-6342-3088-2D23-D610AF54B257}"/>
              </a:ext>
            </a:extLst>
          </p:cNvPr>
          <p:cNvSpPr txBox="1"/>
          <p:nvPr/>
        </p:nvSpPr>
        <p:spPr>
          <a:xfrm>
            <a:off x="6553782" y="120820"/>
            <a:ext cx="2547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3: Conceptual FP-Tree</a:t>
            </a:r>
            <a:endParaRPr lang="en-GB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6EECE97-07FE-C71F-7373-F1B70BFDD68B}"/>
              </a:ext>
            </a:extLst>
          </p:cNvPr>
          <p:cNvSpPr txBox="1"/>
          <p:nvPr/>
        </p:nvSpPr>
        <p:spPr>
          <a:xfrm>
            <a:off x="9117582" y="139879"/>
            <a:ext cx="25471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4: Mining Frequent </a:t>
            </a:r>
            <a:r>
              <a:rPr lang="en-IN" sz="1400"/>
              <a:t>Patterns Examples</a:t>
            </a:r>
            <a:endParaRPr lang="en-GB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B8FABF-F147-00DE-746F-843208770C1B}"/>
              </a:ext>
            </a:extLst>
          </p:cNvPr>
          <p:cNvSpPr txBox="1"/>
          <p:nvPr/>
        </p:nvSpPr>
        <p:spPr>
          <a:xfrm>
            <a:off x="9239978" y="678488"/>
            <a:ext cx="2596036" cy="37548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Patterns with Cola</a:t>
            </a:r>
          </a:p>
          <a:p>
            <a:endParaRPr lang="en-IN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Look at all paths in the FP-Tree that contain Cola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Collect the items that appear before Cola in those paths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These paths form the conditional pattern base of Cola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From these paths, find combinations that satisfy minimum support</a:t>
            </a:r>
            <a:endParaRPr lang="en-IN" sz="1400" dirty="0"/>
          </a:p>
          <a:p>
            <a:endParaRPr lang="en-IN" sz="1400" dirty="0"/>
          </a:p>
          <a:p>
            <a:r>
              <a:rPr lang="en-IN" sz="1400" dirty="0"/>
              <a:t>Frequent </a:t>
            </a:r>
            <a:r>
              <a:rPr lang="en-IN" sz="1400" dirty="0" err="1"/>
              <a:t>itemsets</a:t>
            </a:r>
            <a:endParaRPr lang="en-IN" sz="1400" dirty="0"/>
          </a:p>
          <a:p>
            <a:pPr marL="285750" indent="-285750">
              <a:buFontTx/>
              <a:buChar char="-"/>
            </a:pPr>
            <a:r>
              <a:rPr lang="en-IN" sz="1400" dirty="0"/>
              <a:t>{Cola}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{Bread, Cola}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{Milk, Cola}</a:t>
            </a:r>
            <a:endParaRPr lang="en-GB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D4F771-B803-B1D4-1FFE-E9F5DA2BD63C}"/>
              </a:ext>
            </a:extLst>
          </p:cNvPr>
          <p:cNvSpPr txBox="1"/>
          <p:nvPr/>
        </p:nvSpPr>
        <p:spPr>
          <a:xfrm>
            <a:off x="9239978" y="4486675"/>
            <a:ext cx="2596036" cy="224676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Repeat for Eggs</a:t>
            </a:r>
          </a:p>
          <a:p>
            <a:r>
              <a:rPr lang="en-IN" sz="1400" dirty="0"/>
              <a:t>Conditional pattern base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Bread -&gt; Milk -&gt; Eggs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Bread -&gt; Eggs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Milk -&gt; Eggs</a:t>
            </a:r>
          </a:p>
          <a:p>
            <a:endParaRPr lang="en-IN" sz="1400" dirty="0"/>
          </a:p>
          <a:p>
            <a:r>
              <a:rPr lang="en-IN" sz="1400" dirty="0"/>
              <a:t>Frequent </a:t>
            </a:r>
            <a:r>
              <a:rPr lang="en-IN" sz="1400" dirty="0" err="1"/>
              <a:t>itemsets</a:t>
            </a:r>
            <a:endParaRPr lang="en-IN" sz="1400" dirty="0"/>
          </a:p>
          <a:p>
            <a:pPr marL="285750" indent="-285750">
              <a:buFontTx/>
              <a:buChar char="-"/>
            </a:pPr>
            <a:r>
              <a:rPr lang="en-IN" sz="1400" dirty="0"/>
              <a:t>{Eggs}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{Bread, Eggs}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{Milk, Eggs}</a:t>
            </a:r>
            <a:endParaRPr lang="en-GB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04CD50F-44A6-C79F-CD7C-D4164E48C8CB}"/>
              </a:ext>
            </a:extLst>
          </p:cNvPr>
          <p:cNvSpPr txBox="1"/>
          <p:nvPr/>
        </p:nvSpPr>
        <p:spPr>
          <a:xfrm>
            <a:off x="6839677" y="4343706"/>
            <a:ext cx="1975383" cy="203132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{Bread}</a:t>
            </a:r>
          </a:p>
          <a:p>
            <a:r>
              <a:rPr lang="en-IN" sz="1400" dirty="0"/>
              <a:t>{Milk}</a:t>
            </a:r>
          </a:p>
          <a:p>
            <a:r>
              <a:rPr lang="en-IN" sz="1400" dirty="0"/>
              <a:t>{Cola}</a:t>
            </a:r>
          </a:p>
          <a:p>
            <a:r>
              <a:rPr lang="en-IN" sz="1400" dirty="0"/>
              <a:t>{Eggs}</a:t>
            </a:r>
          </a:p>
          <a:p>
            <a:r>
              <a:rPr lang="en-IN" sz="1400" dirty="0"/>
              <a:t>{Bread, Milk}</a:t>
            </a:r>
          </a:p>
          <a:p>
            <a:r>
              <a:rPr lang="en-IN" sz="1400" dirty="0"/>
              <a:t>{Bread, Cola}</a:t>
            </a:r>
          </a:p>
          <a:p>
            <a:r>
              <a:rPr lang="en-IN" sz="1400" dirty="0"/>
              <a:t>{Milk, Cola}</a:t>
            </a:r>
          </a:p>
          <a:p>
            <a:r>
              <a:rPr lang="en-IN" sz="1400" dirty="0"/>
              <a:t>{Bread, Eggs}</a:t>
            </a:r>
          </a:p>
          <a:p>
            <a:r>
              <a:rPr lang="en-IN" sz="1400" dirty="0"/>
              <a:t>{Milk, Eggs}</a:t>
            </a:r>
            <a:endParaRPr lang="en-GB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DB7299-3891-2757-F15C-7A39A13F87FD}"/>
              </a:ext>
            </a:extLst>
          </p:cNvPr>
          <p:cNvSpPr txBox="1"/>
          <p:nvPr/>
        </p:nvSpPr>
        <p:spPr>
          <a:xfrm>
            <a:off x="6636526" y="3802771"/>
            <a:ext cx="21750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6: Final Frequent </a:t>
            </a:r>
            <a:r>
              <a:rPr lang="en-IN" sz="1400" dirty="0" err="1"/>
              <a:t>Itemsets</a:t>
            </a:r>
            <a:endParaRPr lang="en-GB" sz="1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A6F2F8-90BC-A13F-E245-632DCA9FF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123" y="489912"/>
            <a:ext cx="2325028" cy="3201384"/>
          </a:xfrm>
          <a:prstGeom prst="rect">
            <a:avLst/>
          </a:prstGeom>
        </p:spPr>
      </p:pic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8A08ECF-30D1-F1F3-CBBE-CA8676466EBD}"/>
              </a:ext>
            </a:extLst>
          </p:cNvPr>
          <p:cNvCxnSpPr>
            <a:cxnSpLocks/>
          </p:cNvCxnSpPr>
          <p:nvPr/>
        </p:nvCxnSpPr>
        <p:spPr>
          <a:xfrm flipH="1">
            <a:off x="6547965" y="1597454"/>
            <a:ext cx="1388469" cy="33235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4D96957-561D-9EA1-1EBA-F0E297F2C334}"/>
              </a:ext>
            </a:extLst>
          </p:cNvPr>
          <p:cNvSpPr txBox="1"/>
          <p:nvPr/>
        </p:nvSpPr>
        <p:spPr>
          <a:xfrm>
            <a:off x="3899328" y="4953661"/>
            <a:ext cx="2768939" cy="1384995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dirty="0"/>
              <a:t>Sample interpretation:</a:t>
            </a:r>
          </a:p>
          <a:p>
            <a:r>
              <a:rPr lang="en-GB" sz="1200" dirty="0"/>
              <a:t>NULL → Bread(4) → Milk(3) → Cola(1)</a:t>
            </a:r>
          </a:p>
          <a:p>
            <a:pPr marL="285750" indent="-285750">
              <a:buFontTx/>
              <a:buChar char="-"/>
            </a:pPr>
            <a:r>
              <a:rPr lang="en-GB" sz="1200" dirty="0"/>
              <a:t>Bread(4): 4 transactions</a:t>
            </a:r>
          </a:p>
          <a:p>
            <a:pPr marL="285750" indent="-285750">
              <a:buFontTx/>
              <a:buChar char="-"/>
            </a:pPr>
            <a:r>
              <a:rPr lang="en-GB" sz="1200" dirty="0"/>
              <a:t>Bread(4) → Milk(3): Out of 4 bread transactions, 3 also have milk</a:t>
            </a:r>
          </a:p>
          <a:p>
            <a:pPr marL="285750" indent="-285750">
              <a:buFontTx/>
              <a:buChar char="-"/>
            </a:pPr>
            <a:r>
              <a:rPr lang="en-GB" sz="1200" dirty="0"/>
              <a:t>Bread(4) → Milk(3) → Cola(1): Out of the above 3, one also has cola</a:t>
            </a:r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32709910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C4EB731-D35D-C6AC-B632-2A0B9233FF19}"/>
              </a:ext>
            </a:extLst>
          </p:cNvPr>
          <p:cNvSpPr txBox="1">
            <a:spLocks/>
          </p:cNvSpPr>
          <p:nvPr/>
        </p:nvSpPr>
        <p:spPr>
          <a:xfrm>
            <a:off x="91324" y="120820"/>
            <a:ext cx="3840443" cy="8075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3200" dirty="0"/>
              <a:t>ELCAT Algorithm</a:t>
            </a:r>
            <a:endParaRPr lang="en-GB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292BB4-C195-E7DF-EC23-7E1E281BFEC2}"/>
              </a:ext>
            </a:extLst>
          </p:cNvPr>
          <p:cNvSpPr txBox="1"/>
          <p:nvPr/>
        </p:nvSpPr>
        <p:spPr>
          <a:xfrm>
            <a:off x="137373" y="767816"/>
            <a:ext cx="3541167" cy="95410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b="1" dirty="0"/>
              <a:t>Equivalent Class Transformation</a:t>
            </a:r>
            <a:endParaRPr lang="en-IN" sz="1400" dirty="0"/>
          </a:p>
          <a:p>
            <a:endParaRPr lang="en-IN" sz="1400" dirty="0"/>
          </a:p>
          <a:p>
            <a:r>
              <a:rPr lang="en-US" sz="1400" dirty="0"/>
              <a:t>Finds frequent </a:t>
            </a:r>
            <a:r>
              <a:rPr lang="en-US" sz="1400" dirty="0" err="1"/>
              <a:t>itemsets</a:t>
            </a:r>
            <a:r>
              <a:rPr lang="en-US" sz="1400" dirty="0"/>
              <a:t> by intersecting transaction ID lists (TID-lists)</a:t>
            </a:r>
            <a:endParaRPr lang="en-IN" sz="1400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B00494F-402E-E7B4-0F10-FA3E5C4D50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068169"/>
              </p:ext>
            </p:extLst>
          </p:nvPr>
        </p:nvGraphicFramePr>
        <p:xfrm>
          <a:off x="169899" y="2150158"/>
          <a:ext cx="3541167" cy="1828800"/>
        </p:xfrm>
        <a:graphic>
          <a:graphicData uri="http://schemas.openxmlformats.org/drawingml/2006/table">
            <a:tbl>
              <a:tblPr firstRow="1">
                <a:tableStyleId>{5A111915-BE36-4E01-A7E5-04B1672EAD32}</a:tableStyleId>
              </a:tblPr>
              <a:tblGrid>
                <a:gridCol w="715961">
                  <a:extLst>
                    <a:ext uri="{9D8B030D-6E8A-4147-A177-3AD203B41FA5}">
                      <a16:colId xmlns:a16="http://schemas.microsoft.com/office/drawing/2014/main" val="3645117958"/>
                    </a:ext>
                  </a:extLst>
                </a:gridCol>
                <a:gridCol w="2825206">
                  <a:extLst>
                    <a:ext uri="{9D8B030D-6E8A-4147-A177-3AD203B41FA5}">
                      <a16:colId xmlns:a16="http://schemas.microsoft.com/office/drawing/2014/main" val="2794275391"/>
                    </a:ext>
                  </a:extLst>
                </a:gridCol>
              </a:tblGrid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Items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6997191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6398346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Cola,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371722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Milk, Cola,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8712475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Milk, Cola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22806461"/>
                  </a:ext>
                </a:extLst>
              </a:tr>
              <a:tr h="277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Bread, Milk, 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44515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1671EED-03C2-0122-50EE-CB307118FBD1}"/>
              </a:ext>
            </a:extLst>
          </p:cNvPr>
          <p:cNvSpPr txBox="1"/>
          <p:nvPr/>
        </p:nvSpPr>
        <p:spPr>
          <a:xfrm>
            <a:off x="202424" y="1842381"/>
            <a:ext cx="34761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Sample dataset, Min Support = 3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102030-624C-F81A-744D-52BBF8C7C576}"/>
              </a:ext>
            </a:extLst>
          </p:cNvPr>
          <p:cNvSpPr txBox="1"/>
          <p:nvPr/>
        </p:nvSpPr>
        <p:spPr>
          <a:xfrm>
            <a:off x="169899" y="4193529"/>
            <a:ext cx="34761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Rearrange to have Item -&gt; TID list</a:t>
            </a:r>
            <a:endParaRPr lang="en-GB" sz="1400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EB5C9EAE-5A60-E65D-4FA1-24A434B56F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822305"/>
              </p:ext>
            </p:extLst>
          </p:nvPr>
        </p:nvGraphicFramePr>
        <p:xfrm>
          <a:off x="137373" y="4501306"/>
          <a:ext cx="3573693" cy="15240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784007">
                  <a:extLst>
                    <a:ext uri="{9D8B030D-6E8A-4147-A177-3AD203B41FA5}">
                      <a16:colId xmlns:a16="http://schemas.microsoft.com/office/drawing/2014/main" val="35555995"/>
                    </a:ext>
                  </a:extLst>
                </a:gridCol>
                <a:gridCol w="1598455">
                  <a:extLst>
                    <a:ext uri="{9D8B030D-6E8A-4147-A177-3AD203B41FA5}">
                      <a16:colId xmlns:a16="http://schemas.microsoft.com/office/drawing/2014/main" val="3956983461"/>
                    </a:ext>
                  </a:extLst>
                </a:gridCol>
                <a:gridCol w="1191231">
                  <a:extLst>
                    <a:ext uri="{9D8B030D-6E8A-4147-A177-3AD203B41FA5}">
                      <a16:colId xmlns:a16="http://schemas.microsoft.com/office/drawing/2014/main" val="2689623778"/>
                    </a:ext>
                  </a:extLst>
                </a:gridCol>
              </a:tblGrid>
              <a:tr h="266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TID-list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1177880"/>
                  </a:ext>
                </a:extLst>
              </a:tr>
              <a:tr h="266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{T1, T2, T4, T5}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075438"/>
                  </a:ext>
                </a:extLst>
              </a:tr>
              <a:tr h="266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Milk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{T1, T3, T4, T5}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282354"/>
                  </a:ext>
                </a:extLst>
              </a:tr>
              <a:tr h="266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Cola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{T2, T3, T4}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014095"/>
                  </a:ext>
                </a:extLst>
              </a:tr>
              <a:tr h="266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Eggs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{T2, T3, T5}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435388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5A3A740-13DB-BC97-49B2-097750C3ADE9}"/>
              </a:ext>
            </a:extLst>
          </p:cNvPr>
          <p:cNvSpPr txBox="1"/>
          <p:nvPr/>
        </p:nvSpPr>
        <p:spPr>
          <a:xfrm>
            <a:off x="137373" y="6093675"/>
            <a:ext cx="3573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>
                <a:solidFill>
                  <a:srgbClr val="FF0000"/>
                </a:solidFill>
              </a:rPr>
              <a:t>Key point: The only database scan needed</a:t>
            </a:r>
            <a:endParaRPr lang="en-GB" sz="1400" dirty="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B51B20-3983-EED5-7B5E-7B6F0FAD5086}"/>
              </a:ext>
            </a:extLst>
          </p:cNvPr>
          <p:cNvSpPr txBox="1"/>
          <p:nvPr/>
        </p:nvSpPr>
        <p:spPr>
          <a:xfrm>
            <a:off x="4121634" y="205009"/>
            <a:ext cx="2547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1: Frequent 1-itemsets (L1)</a:t>
            </a:r>
            <a:endParaRPr lang="en-GB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6C445C-8EED-E7F7-7D0F-BBA592858957}"/>
              </a:ext>
            </a:extLst>
          </p:cNvPr>
          <p:cNvSpPr txBox="1"/>
          <p:nvPr/>
        </p:nvSpPr>
        <p:spPr>
          <a:xfrm>
            <a:off x="3977816" y="694324"/>
            <a:ext cx="3086100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All items satisfy min support ≥ 3</a:t>
            </a:r>
          </a:p>
          <a:p>
            <a:pPr algn="ctr"/>
            <a:endParaRPr lang="en-US" sz="1400" dirty="0"/>
          </a:p>
          <a:p>
            <a:pPr algn="ctr"/>
            <a:r>
              <a:rPr lang="en-GB" sz="1400" dirty="0"/>
              <a:t>L1 = {Bread}, {Milk}, {Cola}, {Eggs}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033F16-998A-692A-484A-C69A0431CD1C}"/>
              </a:ext>
            </a:extLst>
          </p:cNvPr>
          <p:cNvSpPr txBox="1"/>
          <p:nvPr/>
        </p:nvSpPr>
        <p:spPr>
          <a:xfrm>
            <a:off x="7325523" y="183987"/>
            <a:ext cx="25471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2: Frequent 2-itemsets </a:t>
            </a:r>
          </a:p>
          <a:p>
            <a:pPr algn="ctr"/>
            <a:r>
              <a:rPr lang="en-IN" sz="1400" dirty="0"/>
              <a:t>(TID intersection)</a:t>
            </a:r>
            <a:endParaRPr lang="en-GB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4FF4A3-0947-9BE2-0C80-BC74BFC7F350}"/>
              </a:ext>
            </a:extLst>
          </p:cNvPr>
          <p:cNvSpPr txBox="1"/>
          <p:nvPr/>
        </p:nvSpPr>
        <p:spPr>
          <a:xfrm>
            <a:off x="7181704" y="707207"/>
            <a:ext cx="3086100" cy="569386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{Bread, Milk}</a:t>
            </a:r>
          </a:p>
          <a:p>
            <a:r>
              <a:rPr lang="fr-FR" sz="1400" dirty="0" err="1"/>
              <a:t>Bread</a:t>
            </a:r>
            <a:r>
              <a:rPr lang="fr-FR" sz="1400" dirty="0"/>
              <a:t>  → {T1, T2, T4, T5}</a:t>
            </a:r>
          </a:p>
          <a:p>
            <a:r>
              <a:rPr lang="fr-FR" sz="1400" dirty="0"/>
              <a:t>Milk   → {T1, T3, T4, T5}</a:t>
            </a:r>
          </a:p>
          <a:p>
            <a:r>
              <a:rPr lang="fr-FR" sz="1400" dirty="0"/>
              <a:t>----------------------------------</a:t>
            </a:r>
          </a:p>
          <a:p>
            <a:r>
              <a:rPr lang="fr-FR" sz="1400" dirty="0"/>
              <a:t>Intersection = {T1, T4, T5}</a:t>
            </a:r>
          </a:p>
          <a:p>
            <a:r>
              <a:rPr lang="fr-FR" sz="1400" dirty="0"/>
              <a:t>Support = 3 (Ok)</a:t>
            </a:r>
          </a:p>
          <a:p>
            <a:endParaRPr lang="fr-FR" sz="1400" dirty="0"/>
          </a:p>
          <a:p>
            <a:r>
              <a:rPr lang="fr-FR" sz="1400" dirty="0"/>
              <a:t>{</a:t>
            </a:r>
            <a:r>
              <a:rPr lang="fr-FR" sz="1400" dirty="0" err="1"/>
              <a:t>Bread</a:t>
            </a:r>
            <a:r>
              <a:rPr lang="fr-FR" sz="1400" dirty="0"/>
              <a:t>, Cola}</a:t>
            </a:r>
          </a:p>
          <a:p>
            <a:r>
              <a:rPr lang="fr-FR" sz="1400" dirty="0"/>
              <a:t>{T1, T2, T4, T5} ∩ {T2, T3, T4} = {T2, T4}</a:t>
            </a:r>
          </a:p>
          <a:p>
            <a:r>
              <a:rPr lang="fr-FR" sz="1400" dirty="0"/>
              <a:t>Support = 2 (Not ok)</a:t>
            </a:r>
          </a:p>
          <a:p>
            <a:endParaRPr lang="fr-FR" sz="1400" dirty="0"/>
          </a:p>
          <a:p>
            <a:r>
              <a:rPr lang="fr-FR" sz="1400" dirty="0"/>
              <a:t>{Milk, Cola}</a:t>
            </a:r>
          </a:p>
          <a:p>
            <a:r>
              <a:rPr lang="fr-FR" sz="1400" dirty="0"/>
              <a:t>{T1, T3, T4, T5} ∩ {T2, T3, T4} = {T3, T4}</a:t>
            </a:r>
          </a:p>
          <a:p>
            <a:r>
              <a:rPr lang="fr-FR" sz="1400" dirty="0"/>
              <a:t>Support = 2 (Not ok)</a:t>
            </a:r>
          </a:p>
          <a:p>
            <a:endParaRPr lang="fr-FR" sz="1400" dirty="0"/>
          </a:p>
          <a:p>
            <a:r>
              <a:rPr lang="fr-FR" sz="1400" dirty="0"/>
              <a:t>{</a:t>
            </a:r>
            <a:r>
              <a:rPr lang="fr-FR" sz="1400" dirty="0" err="1"/>
              <a:t>Bread</a:t>
            </a:r>
            <a:r>
              <a:rPr lang="fr-FR" sz="1400" dirty="0"/>
              <a:t>, </a:t>
            </a:r>
            <a:r>
              <a:rPr lang="fr-FR" sz="1400" dirty="0" err="1"/>
              <a:t>Eggs</a:t>
            </a:r>
            <a:r>
              <a:rPr lang="fr-FR" sz="1400" dirty="0"/>
              <a:t>}</a:t>
            </a:r>
          </a:p>
          <a:p>
            <a:r>
              <a:rPr lang="fr-FR" sz="1400" dirty="0"/>
              <a:t>{T1, T2, T4, T5} ∩ {T2, T3, T5} = {T2, T5}</a:t>
            </a:r>
          </a:p>
          <a:p>
            <a:r>
              <a:rPr lang="fr-FR" sz="1400" dirty="0"/>
              <a:t>Support = 2 (Not ok)</a:t>
            </a:r>
          </a:p>
          <a:p>
            <a:endParaRPr lang="fr-FR" sz="1400" dirty="0"/>
          </a:p>
          <a:p>
            <a:r>
              <a:rPr lang="fr-FR" sz="1400" dirty="0"/>
              <a:t>{Milk, </a:t>
            </a:r>
            <a:r>
              <a:rPr lang="fr-FR" sz="1400" dirty="0" err="1"/>
              <a:t>Eggs</a:t>
            </a:r>
            <a:r>
              <a:rPr lang="fr-FR" sz="1400" dirty="0"/>
              <a:t>}</a:t>
            </a:r>
          </a:p>
          <a:p>
            <a:r>
              <a:rPr lang="fr-FR" sz="1400" dirty="0"/>
              <a:t>{T1, T3, T4, T5} ∩ {T2, T3, T5} = {T3, T5}</a:t>
            </a:r>
          </a:p>
          <a:p>
            <a:r>
              <a:rPr lang="fr-FR" sz="1400" dirty="0"/>
              <a:t>Support = 2 </a:t>
            </a:r>
          </a:p>
          <a:p>
            <a:endParaRPr lang="fr-FR" sz="1400" dirty="0"/>
          </a:p>
          <a:p>
            <a:r>
              <a:rPr lang="fr-FR" sz="1400" dirty="0"/>
              <a:t>{Cola, </a:t>
            </a:r>
            <a:r>
              <a:rPr lang="fr-FR" sz="1400" dirty="0" err="1"/>
              <a:t>Eggs</a:t>
            </a:r>
            <a:r>
              <a:rPr lang="fr-FR" sz="1400" dirty="0"/>
              <a:t>}</a:t>
            </a:r>
          </a:p>
          <a:p>
            <a:r>
              <a:rPr lang="fr-FR" sz="1400" dirty="0"/>
              <a:t>{T2, T3, T4} ∩ {T2, T3, T5} = {T2, T3}</a:t>
            </a:r>
          </a:p>
          <a:p>
            <a:r>
              <a:rPr lang="fr-FR" sz="1400" dirty="0"/>
              <a:t>Support = 2 (Not ok)</a:t>
            </a:r>
            <a:endParaRPr lang="en-GB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63A566-4A52-4EA7-E96E-7CFC449116CF}"/>
              </a:ext>
            </a:extLst>
          </p:cNvPr>
          <p:cNvSpPr txBox="1"/>
          <p:nvPr/>
        </p:nvSpPr>
        <p:spPr>
          <a:xfrm>
            <a:off x="4302729" y="3593365"/>
            <a:ext cx="1975383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L1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{Bread} (4)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{Milk} (4)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{Cola} (4)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{Eggs} (4)</a:t>
            </a:r>
          </a:p>
          <a:p>
            <a:endParaRPr lang="en-IN" sz="1400" dirty="0"/>
          </a:p>
          <a:p>
            <a:r>
              <a:rPr lang="en-IN" sz="1400" dirty="0"/>
              <a:t>L2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{Bread, Milk} (3)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AF72D0-653A-6B53-5130-115F82D56124}"/>
              </a:ext>
            </a:extLst>
          </p:cNvPr>
          <p:cNvSpPr txBox="1"/>
          <p:nvPr/>
        </p:nvSpPr>
        <p:spPr>
          <a:xfrm>
            <a:off x="3977816" y="3189981"/>
            <a:ext cx="25471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400" dirty="0"/>
              <a:t>Step 3: Frequent </a:t>
            </a:r>
            <a:r>
              <a:rPr lang="en-IN" sz="1400" dirty="0" err="1"/>
              <a:t>itemsets</a:t>
            </a:r>
            <a:r>
              <a:rPr lang="en-IN" sz="1400" dirty="0"/>
              <a:t> found</a:t>
            </a:r>
          </a:p>
        </p:txBody>
      </p:sp>
    </p:spTree>
    <p:extLst>
      <p:ext uri="{BB962C8B-B14F-4D97-AF65-F5344CB8AC3E}">
        <p14:creationId xmlns:p14="http://schemas.microsoft.com/office/powerpoint/2010/main" val="11712732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CA87F-D5AE-B9BC-E6D6-D06AD99F2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593312"/>
          </a:xfrm>
        </p:spPr>
        <p:txBody>
          <a:bodyPr>
            <a:normAutofit fontScale="90000"/>
          </a:bodyPr>
          <a:lstStyle/>
          <a:p>
            <a:r>
              <a:rPr lang="en-IN" dirty="0"/>
              <a:t>Evaluation and Similarity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4A057A-0F85-47D0-9789-E44858193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GB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7A68186-E9BE-A477-D078-B4338F3A5A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220198"/>
              </p:ext>
            </p:extLst>
          </p:nvPr>
        </p:nvGraphicFramePr>
        <p:xfrm>
          <a:off x="614835" y="546779"/>
          <a:ext cx="10515600" cy="121920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82621009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7782198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9774155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150245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Used 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Example 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4268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Before / during 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Point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Compare customers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65512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Silhouette 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After 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Point-level cluster quality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Does a point belong?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49278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 dirty="0"/>
                        <a:t>Davies–Bouldin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After clustering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Cluster-level quality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Are clusters good?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236379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131FE88-DCE9-1586-12FF-9355BFA15F22}"/>
              </a:ext>
            </a:extLst>
          </p:cNvPr>
          <p:cNvSpPr txBox="1"/>
          <p:nvPr/>
        </p:nvSpPr>
        <p:spPr>
          <a:xfrm>
            <a:off x="195444" y="2045185"/>
            <a:ext cx="2819982" cy="375487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400" dirty="0"/>
              <a:t>Example: Run K-Means (k = 2) on customer data</a:t>
            </a:r>
          </a:p>
          <a:p>
            <a:endParaRPr lang="en-IN" sz="1400" dirty="0"/>
          </a:p>
          <a:p>
            <a:r>
              <a:rPr lang="en-IN" sz="1400" dirty="0"/>
              <a:t>Features: Annual spending, Visit frequency</a:t>
            </a:r>
          </a:p>
          <a:p>
            <a:endParaRPr lang="en-IN" sz="1400" dirty="0"/>
          </a:p>
          <a:p>
            <a:r>
              <a:rPr lang="en-IN" sz="1400" dirty="0"/>
              <a:t>Labels: Unknown (Unsupervised learning)</a:t>
            </a:r>
          </a:p>
          <a:p>
            <a:endParaRPr lang="en-IN" sz="1400" dirty="0"/>
          </a:p>
          <a:p>
            <a:r>
              <a:rPr lang="en-IN" sz="1400" dirty="0"/>
              <a:t>After clustering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Cluster A: Regular customers</a:t>
            </a:r>
          </a:p>
          <a:p>
            <a:pPr marL="285750" indent="-285750">
              <a:buFontTx/>
              <a:buChar char="-"/>
            </a:pPr>
            <a:r>
              <a:rPr lang="en-IN" sz="1400" dirty="0"/>
              <a:t>Cluster B: Occasional customers</a:t>
            </a:r>
          </a:p>
          <a:p>
            <a:endParaRPr lang="en-IN" sz="1400" dirty="0"/>
          </a:p>
          <a:p>
            <a:r>
              <a:rPr lang="en-IN" sz="1400" dirty="0"/>
              <a:t>Objectives</a:t>
            </a:r>
          </a:p>
          <a:p>
            <a:pPr marL="342900" indent="-342900">
              <a:buAutoNum type="arabicPeriod"/>
            </a:pPr>
            <a:r>
              <a:rPr lang="en-IN" sz="1400" dirty="0"/>
              <a:t>Measure similarity between points</a:t>
            </a:r>
          </a:p>
          <a:p>
            <a:pPr marL="342900" indent="-342900">
              <a:buAutoNum type="arabicPeriod"/>
            </a:pPr>
            <a:r>
              <a:rPr lang="en-IN" sz="1400" dirty="0"/>
              <a:t>Judge how good clustering is</a:t>
            </a:r>
            <a:endParaRPr lang="en-GB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004443-9153-9879-B538-078692FDCDF5}"/>
              </a:ext>
            </a:extLst>
          </p:cNvPr>
          <p:cNvSpPr txBox="1"/>
          <p:nvPr/>
        </p:nvSpPr>
        <p:spPr>
          <a:xfrm>
            <a:off x="3052653" y="2045185"/>
            <a:ext cx="2819982" cy="39703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Cosine Similarity</a:t>
            </a:r>
          </a:p>
          <a:p>
            <a:endParaRPr lang="en-GB" sz="1400" dirty="0"/>
          </a:p>
          <a:p>
            <a:r>
              <a:rPr lang="en-GB" sz="1400" dirty="0"/>
              <a:t>Customer vectors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Customer 1 = (High spending, High visits) -&gt; (8, 7)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Customer 2 = (High spending, Medium visits) =&gt; (7, 6)</a:t>
            </a:r>
          </a:p>
          <a:p>
            <a:endParaRPr lang="en-GB" sz="1400" dirty="0"/>
          </a:p>
          <a:p>
            <a:r>
              <a:rPr lang="en-GB" sz="1400" dirty="0"/>
              <a:t>Cosine similarity = High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Both point in almost the same direction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Even if spending amounts differs, their behaviour pattern is similar</a:t>
            </a:r>
          </a:p>
          <a:p>
            <a:endParaRPr lang="en-GB" sz="1400" dirty="0"/>
          </a:p>
          <a:p>
            <a:r>
              <a:rPr lang="en-GB" sz="1400" dirty="0"/>
              <a:t>Summary: Helps decide which points are similar when no labels exist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73806F-F5C8-81C8-312E-C24DAEDDBD65}"/>
              </a:ext>
            </a:extLst>
          </p:cNvPr>
          <p:cNvSpPr txBox="1"/>
          <p:nvPr/>
        </p:nvSpPr>
        <p:spPr>
          <a:xfrm>
            <a:off x="5909862" y="2045185"/>
            <a:ext cx="2819982" cy="46166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Silhouette Score</a:t>
            </a:r>
          </a:p>
          <a:p>
            <a:endParaRPr lang="en-GB" sz="1400" dirty="0"/>
          </a:p>
          <a:p>
            <a:r>
              <a:rPr lang="en-GB" sz="1400" dirty="0"/>
              <a:t>One customer in Cluster A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a = Average distance to other customers in Cluster A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b = Average distance to customers in nearest another cluster (B)</a:t>
            </a:r>
          </a:p>
          <a:p>
            <a:endParaRPr lang="en-GB" sz="1400" dirty="0"/>
          </a:p>
          <a:p>
            <a:r>
              <a:rPr lang="en-GB" sz="1400" dirty="0"/>
              <a:t>If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a is small (close to own cluster)</a:t>
            </a:r>
          </a:p>
          <a:p>
            <a:pPr marL="285750" indent="-285750">
              <a:buFontTx/>
              <a:buChar char="-"/>
            </a:pPr>
            <a:r>
              <a:rPr lang="en-GB" sz="1400" dirty="0"/>
              <a:t>b is large (far from another cluster)</a:t>
            </a:r>
          </a:p>
          <a:p>
            <a:endParaRPr lang="en-GB" sz="1400" dirty="0"/>
          </a:p>
          <a:p>
            <a:r>
              <a:rPr lang="en-GB" sz="1400" dirty="0"/>
              <a:t>Silhouette score ≈ 1</a:t>
            </a:r>
          </a:p>
          <a:p>
            <a:endParaRPr lang="en-GB" sz="1400" dirty="0"/>
          </a:p>
          <a:p>
            <a:r>
              <a:rPr lang="en-GB" sz="1400" dirty="0"/>
              <a:t>If score ≈ 1 -&gt; Correct cluster assignment</a:t>
            </a:r>
          </a:p>
          <a:p>
            <a:r>
              <a:rPr lang="en-GB" sz="1400" dirty="0"/>
              <a:t>If score ≈ 0 -&gt; Clusters overlap</a:t>
            </a:r>
          </a:p>
          <a:p>
            <a:r>
              <a:rPr lang="en-GB" sz="1400" dirty="0"/>
              <a:t>If score &lt; 0 -&gt; Wrong cluster 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B2B866-D47E-11F5-5BA4-338323460F54}"/>
              </a:ext>
            </a:extLst>
          </p:cNvPr>
          <p:cNvSpPr txBox="1"/>
          <p:nvPr/>
        </p:nvSpPr>
        <p:spPr>
          <a:xfrm>
            <a:off x="8767071" y="2045185"/>
            <a:ext cx="2819982" cy="310854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sz="1400" b="1" dirty="0"/>
              <a:t>Davies-Bouldin Index</a:t>
            </a:r>
          </a:p>
          <a:p>
            <a:endParaRPr lang="en-GB" sz="1400" dirty="0"/>
          </a:p>
          <a:p>
            <a:r>
              <a:rPr lang="en-US" sz="1400" dirty="0"/>
              <a:t>Low DBI value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Cluster A: customers tightly grouped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Cluster B: customers tightly grouped 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Distance between cluster centers is large</a:t>
            </a:r>
          </a:p>
          <a:p>
            <a:endParaRPr lang="en-US" sz="1400" dirty="0"/>
          </a:p>
          <a:p>
            <a:r>
              <a:rPr lang="en-US" sz="1400" dirty="0"/>
              <a:t>High DBI value (Bad Clustering)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Clusters are spread out internally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Cluster centers are close</a:t>
            </a:r>
          </a:p>
        </p:txBody>
      </p:sp>
    </p:spTree>
    <p:extLst>
      <p:ext uri="{BB962C8B-B14F-4D97-AF65-F5344CB8AC3E}">
        <p14:creationId xmlns:p14="http://schemas.microsoft.com/office/powerpoint/2010/main" val="1198441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3EC0E-472D-AFEE-75B3-05DCCF190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Techniques Compared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DA259EA-B4ED-055D-4A1E-47AD03A3454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0851022"/>
              </p:ext>
            </p:extLst>
          </p:nvPr>
        </p:nvGraphicFramePr>
        <p:xfrm>
          <a:off x="712556" y="1690688"/>
          <a:ext cx="10515603" cy="33832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141038536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860302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846175878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34966334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523313069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296061332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505919660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Technique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Core idea (intuition)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Data type it likes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Needs k / params?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Scales well?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When to use (simple rule)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4613198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k-Means Clustering</a:t>
                      </a:r>
                      <a:endParaRPr lang="en-GB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Group points by closeness to centroids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Numeric only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Clusters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Yes (k)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Very well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Large numeric data, clear clusters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32213299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Hierarchical Clustering</a:t>
                      </a:r>
                      <a:endParaRPr lang="en-GB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Build clusters step-by-step (tree)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Numeric / distance-based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Dendrogram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No k upfront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Poor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Small data, need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623824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Association Rule Mining</a:t>
                      </a:r>
                      <a:endParaRPr lang="en-GB" sz="1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Find “if–then” patterns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Categorical / transactions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Rules (X → Y)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Support, confidence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Market-basket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7867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3132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0EF78-1E3E-749D-BBF5-1A24BB8CB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When to Use What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B45D140-D753-DE02-8489-365B76CD16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1453307"/>
              </p:ext>
            </p:extLst>
          </p:nvPr>
        </p:nvGraphicFramePr>
        <p:xfrm>
          <a:off x="536308" y="1628242"/>
          <a:ext cx="11119384" cy="4915312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439750">
                  <a:extLst>
                    <a:ext uri="{9D8B030D-6E8A-4147-A177-3AD203B41FA5}">
                      <a16:colId xmlns:a16="http://schemas.microsoft.com/office/drawing/2014/main" val="1487448543"/>
                    </a:ext>
                  </a:extLst>
                </a:gridCol>
                <a:gridCol w="4517322">
                  <a:extLst>
                    <a:ext uri="{9D8B030D-6E8A-4147-A177-3AD203B41FA5}">
                      <a16:colId xmlns:a16="http://schemas.microsoft.com/office/drawing/2014/main" val="2484424211"/>
                    </a:ext>
                  </a:extLst>
                </a:gridCol>
                <a:gridCol w="2113823">
                  <a:extLst>
                    <a:ext uri="{9D8B030D-6E8A-4147-A177-3AD203B41FA5}">
                      <a16:colId xmlns:a16="http://schemas.microsoft.com/office/drawing/2014/main" val="3596504594"/>
                    </a:ext>
                  </a:extLst>
                </a:gridCol>
                <a:gridCol w="4048489">
                  <a:extLst>
                    <a:ext uri="{9D8B030D-6E8A-4147-A177-3AD203B41FA5}">
                      <a16:colId xmlns:a16="http://schemas.microsoft.com/office/drawing/2014/main" val="151112357"/>
                    </a:ext>
                  </a:extLst>
                </a:gridCol>
              </a:tblGrid>
              <a:tr h="2260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#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Explicit problem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Use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Why this method fits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049954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1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Group customers by </a:t>
                      </a:r>
                      <a:r>
                        <a:rPr lang="en-US" sz="1800" b="1"/>
                        <a:t>age, income, spending score</a:t>
                      </a:r>
                      <a:endParaRPr lang="en-US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k-Means</a:t>
                      </a:r>
                      <a:endParaRPr lang="en-GB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Numeric data + want clear groups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9305448"/>
                  </a:ext>
                </a:extLst>
              </a:tr>
              <a:tr h="565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2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Find which </a:t>
                      </a:r>
                      <a:r>
                        <a:rPr lang="en-US" sz="1800" b="1"/>
                        <a:t>products are bought together</a:t>
                      </a:r>
                      <a:r>
                        <a:rPr lang="en-US" sz="1800"/>
                        <a:t> (bread → butter)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Association Rules</a:t>
                      </a:r>
                      <a:endParaRPr lang="en-GB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Looking for co-occurrence patterns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0119284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3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Cluster </a:t>
                      </a:r>
                      <a:r>
                        <a:rPr lang="en-US" sz="1800" b="1"/>
                        <a:t>emails by writing style</a:t>
                      </a:r>
                      <a:r>
                        <a:rPr lang="en-US" sz="1800"/>
                        <a:t> (not spam/ham)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Hierarchical</a:t>
                      </a:r>
                      <a:endParaRPr lang="en-GB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Small dataset, want to see structure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3146299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4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Segment </a:t>
                      </a:r>
                      <a:r>
                        <a:rPr lang="en-US" sz="1800" b="1"/>
                        <a:t>mobile users by usage time, data, calls</a:t>
                      </a:r>
                      <a:endParaRPr lang="en-US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k-Means</a:t>
                      </a:r>
                      <a:endParaRPr lang="en-GB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Large numeric dataset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2122995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5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Discover </a:t>
                      </a:r>
                      <a:r>
                        <a:rPr lang="en-US" sz="1800" b="1"/>
                        <a:t>courses students take together</a:t>
                      </a:r>
                      <a:endParaRPr lang="en-US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Association Rules</a:t>
                      </a:r>
                      <a:endParaRPr lang="en-GB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“If enrolled in X, also enroll in Y”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4207251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6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Group </a:t>
                      </a:r>
                      <a:r>
                        <a:rPr lang="en-US" sz="1800" b="1"/>
                        <a:t>news articles by topic</a:t>
                      </a:r>
                      <a:r>
                        <a:rPr lang="en-US" sz="1800"/>
                        <a:t> (small corpus)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Hierarchical</a:t>
                      </a:r>
                      <a:endParaRPr lang="en-GB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Need visual cluster tree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03153837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7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Compress an image by reducing colors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k-Means</a:t>
                      </a:r>
                      <a:endParaRPr lang="en-GB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Pixels cluster around colors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230029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8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Find </a:t>
                      </a:r>
                      <a:r>
                        <a:rPr lang="en-US" sz="1800" b="1"/>
                        <a:t>shopping patterns</a:t>
                      </a:r>
                      <a:r>
                        <a:rPr lang="en-US" sz="1800"/>
                        <a:t> in supermarket bills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Association Rules</a:t>
                      </a:r>
                      <a:endParaRPr lang="en-GB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Transaction-based data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0843232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9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Explore </a:t>
                      </a:r>
                      <a:r>
                        <a:rPr lang="en-US" sz="1800" b="1"/>
                        <a:t>genetic similarity</a:t>
                      </a:r>
                      <a:r>
                        <a:rPr lang="en-US" sz="1800"/>
                        <a:t> between samples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Hierarchical</a:t>
                      </a:r>
                      <a:endParaRPr lang="en-GB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Dendrogram shows closeness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5859340"/>
                  </a:ext>
                </a:extLst>
              </a:tr>
              <a:tr h="39557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10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Segment </a:t>
                      </a:r>
                      <a:r>
                        <a:rPr lang="en-US" sz="1800" b="1"/>
                        <a:t>website visitors by behavior metrics</a:t>
                      </a:r>
                      <a:endParaRPr lang="en-US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k-Means</a:t>
                      </a:r>
                      <a:endParaRPr lang="en-GB" sz="1800"/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Scalable numeric clustering</a:t>
                      </a:r>
                    </a:p>
                  </a:txBody>
                  <a:tcPr marL="56511" marR="56511" marT="28255" marB="2825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6605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9207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</TotalTime>
  <Words>2850</Words>
  <Application>Microsoft Office PowerPoint</Application>
  <PresentationFormat>Widescreen</PresentationFormat>
  <Paragraphs>668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Office Theme</vt:lpstr>
      <vt:lpstr>Unsupervised Machine Learning</vt:lpstr>
      <vt:lpstr>K-Means Clustering</vt:lpstr>
      <vt:lpstr>K-Means Clustering and Elbow Method</vt:lpstr>
      <vt:lpstr>PowerPoint Presentation</vt:lpstr>
      <vt:lpstr>PowerPoint Presentation</vt:lpstr>
      <vt:lpstr>PowerPoint Presentation</vt:lpstr>
      <vt:lpstr>Apriori Algorithm</vt:lpstr>
      <vt:lpstr>PowerPoint Presentation</vt:lpstr>
      <vt:lpstr>PowerPoint Presentation</vt:lpstr>
      <vt:lpstr>PowerPoint Presentation</vt:lpstr>
      <vt:lpstr>Evaluation and Similarity</vt:lpstr>
      <vt:lpstr>Techniques Compared</vt:lpstr>
      <vt:lpstr>When to Use What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14</cp:revision>
  <dcterms:created xsi:type="dcterms:W3CDTF">2026-01-19T11:50:40Z</dcterms:created>
  <dcterms:modified xsi:type="dcterms:W3CDTF">2026-02-01T08:50:06Z</dcterms:modified>
</cp:coreProperties>
</file>