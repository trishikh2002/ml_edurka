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64CA-9C3E-99A8-A8B3-8D3264BB8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EC244-01EB-9A46-5C44-E7BFC32F1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2A8D6-1351-447F-B8B8-014DB225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0AFFE-C92E-BA2F-A972-B1A01772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CE9F-F670-AEE1-D9B4-B8CC4C1E9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97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4306-C3C1-A2EC-AFB5-1106F2C74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F0B2D-336F-667A-5ECE-53CA87A43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EA0DC-C5E0-56F2-6C94-5C504ED5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579D-FD32-5778-17F8-1B2CB549A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5761F-9DCF-1BD3-B5C5-F5DD53F8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1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B19B-2A61-71C9-943B-1CE8608EA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6FF3F-EF2C-6CD9-9CB5-5A6F2224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1977-55F1-226E-B4AD-8C6A33C3D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0C9BD-07B5-FE19-A9A0-1B7FC3C4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74AA7-2546-45F4-AFE0-A81796A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039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B894E-204A-97C6-8075-8E53A7D4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7984-C67C-7379-E7D8-AAFD0904C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C6822-7203-01F6-8AA7-7C88A098C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B9DCE-6BD8-5B9B-91F2-DF44B4FB7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B50AF-B2BD-272F-F623-F2F4DE1B0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B9AD8-0695-60C2-F919-07F15560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47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F575-AB4B-18A5-3784-990B368E5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A9A69-111D-E1D2-9827-3064B16B7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8AD2-CE19-2A89-6996-E54F84EF8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CF613B-E72C-CF58-C95D-CAB21B2D6F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76B41-F417-93A1-434E-E27990BBD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BD88B0-2AC1-CC32-77F6-D6E5174A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43A10-837D-3031-647A-4EC801A3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1D9282-A82B-6E40-DBD7-03D4FA63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7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4C7E-5B5A-55A2-7E0B-C3A77F68B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27F32-CEC7-E311-5304-9B6E4553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9D66FC-2FBE-BC71-719B-D564DAE5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EE6A-8C45-929C-AEEE-7385776D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7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90E1B-1CE2-E757-10D9-5F25DDAC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F0FF8-59B3-3B52-E301-DEC934110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6900C-CF18-71F5-065C-1DF0645D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68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B13A-F335-7320-B6B4-9E2BC5CC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3EEA-27E1-D47A-0170-832042126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7D0A2-F0B9-B746-F75C-EB6937E63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94C8B-6959-74E1-ED59-578A21A6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A9240-F1AF-9ED6-768B-944C0774A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F899C-457D-93E8-4FAF-3928E4293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3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1C12-926C-1928-53EC-BC6022A4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9F5310-393E-2E89-E88C-A1CDB852F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4853-338F-A4E1-71C4-C1D6F4DCC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51C3F-A574-2705-5C7C-7C19F7ED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782AC-2B74-E872-D3A4-35397B14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B6B59-6301-C336-93A7-2A4CB5B3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572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A468-DBF2-2919-E884-7C22D0B7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9805D0-9C8F-0390-896E-CCAA7A994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76417-32DB-FEB7-6288-B368816D2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3CEF-1958-B244-739E-823FE198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F3D5B-63F5-CCC8-3DF5-6FEE6DC1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18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812453-07E1-5747-D0BA-1B20806335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DF6D5-4CDD-BD40-D394-CAAF3349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2EACF-89F5-32D2-BCB0-7BC7E371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32A35-DD23-7ECE-7546-FBACF91A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8EE28-5D7D-4556-CE88-D12A5A9B7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739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DDDFAC-9934-E78B-742F-AFA1AA9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4B62A-4D24-2F71-C369-7700D58A9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B0E1-2FB5-0FFA-BC1A-8349DC8A9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2A6B1-85D5-4955-A616-DF87C3C0F9B2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9586D-9BA2-A6A5-59F2-81934353B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CD17-D588-B42D-5B4D-4F554A157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730FA-B482-4B5F-A2C0-C29FC33E51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824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5E4C-4CC0-6F5D-2BFA-26DD94C47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Unsupervised Machine Learning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E4295-96BB-1697-6DCB-4A0DB0A156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  <a:p>
            <a:r>
              <a:rPr lang="en-GB" dirty="0"/>
              <a:t>https://www.linkedin.com/in/atulkahate/</a:t>
            </a:r>
          </a:p>
        </p:txBody>
      </p:sp>
    </p:spTree>
    <p:extLst>
      <p:ext uri="{BB962C8B-B14F-4D97-AF65-F5344CB8AC3E}">
        <p14:creationId xmlns:p14="http://schemas.microsoft.com/office/powerpoint/2010/main" val="3540087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A276-3826-7B50-BAFF-2B8CE2834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 Clustering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2660-FDD6-EBF8-DB1A-2C1D2F1B8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unsupervised machine learning algorithm</a:t>
            </a:r>
            <a:r>
              <a:rPr lang="en-US" dirty="0"/>
              <a:t> used to </a:t>
            </a:r>
            <a:r>
              <a:rPr lang="en-US" b="1" dirty="0"/>
              <a:t>group similar data points into clusters</a:t>
            </a:r>
            <a:r>
              <a:rPr lang="en-US" dirty="0"/>
              <a:t> based on distance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Divide data into K groups (clusters)</a:t>
            </a:r>
          </a:p>
          <a:p>
            <a:pPr lvl="1"/>
            <a:r>
              <a:rPr lang="en-US" dirty="0"/>
              <a:t>Points in the same cluster are similar</a:t>
            </a:r>
          </a:p>
          <a:p>
            <a:pPr lvl="1"/>
            <a:r>
              <a:rPr lang="en-US" dirty="0"/>
              <a:t>Points in different clusters are dissimilar</a:t>
            </a:r>
          </a:p>
          <a:p>
            <a:r>
              <a:rPr lang="en-US"/>
              <a:t>Working</a:t>
            </a:r>
            <a:endParaRPr lang="en-US" dirty="0"/>
          </a:p>
          <a:p>
            <a:pPr lvl="1"/>
            <a:r>
              <a:rPr lang="en-US" dirty="0"/>
              <a:t>Choose K (number of clusters)</a:t>
            </a:r>
          </a:p>
          <a:p>
            <a:pPr lvl="1"/>
            <a:r>
              <a:rPr lang="en-US" dirty="0"/>
              <a:t>Randomly place K centroids</a:t>
            </a:r>
          </a:p>
          <a:p>
            <a:pPr lvl="1"/>
            <a:r>
              <a:rPr lang="en-US" dirty="0"/>
              <a:t>Assign each data point to the nearest centroid</a:t>
            </a:r>
          </a:p>
          <a:p>
            <a:pPr lvl="1"/>
            <a:r>
              <a:rPr lang="en-US" dirty="0"/>
              <a:t>Recompute centroids (mean of points)</a:t>
            </a:r>
          </a:p>
          <a:p>
            <a:pPr lvl="1"/>
            <a:r>
              <a:rPr lang="en-US" dirty="0"/>
              <a:t>Repeat steps 3–4 until centroids stop changing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30FC8-03C1-0022-0BE0-3F702D9C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004" y="2249107"/>
            <a:ext cx="4150284" cy="458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9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83F63-ADB4-A883-0DA8-19F71ED7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24" y="120820"/>
            <a:ext cx="3840443" cy="807539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K-Means Clustering and Elbow Method</a:t>
            </a:r>
            <a:endParaRPr lang="en-GB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3F72EF-D873-A72B-06B7-E53020CE14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90434"/>
              </p:ext>
            </p:extLst>
          </p:nvPr>
        </p:nvGraphicFramePr>
        <p:xfrm>
          <a:off x="174503" y="2750162"/>
          <a:ext cx="2693176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46588">
                  <a:extLst>
                    <a:ext uri="{9D8B030D-6E8A-4147-A177-3AD203B41FA5}">
                      <a16:colId xmlns:a16="http://schemas.microsoft.com/office/drawing/2014/main" val="1737744432"/>
                    </a:ext>
                  </a:extLst>
                </a:gridCol>
                <a:gridCol w="1346588">
                  <a:extLst>
                    <a:ext uri="{9D8B030D-6E8A-4147-A177-3AD203B41FA5}">
                      <a16:colId xmlns:a16="http://schemas.microsoft.com/office/drawing/2014/main" val="866757949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082256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070881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04705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825606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661685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96491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33456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CCA9645-BC83-9109-1FB9-6F7A74471D1D}"/>
              </a:ext>
            </a:extLst>
          </p:cNvPr>
          <p:cNvSpPr txBox="1"/>
          <p:nvPr/>
        </p:nvSpPr>
        <p:spPr>
          <a:xfrm>
            <a:off x="174503" y="1086961"/>
            <a:ext cx="3748342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K-Means</a:t>
            </a:r>
            <a:r>
              <a:rPr lang="en-IN" sz="1400" dirty="0"/>
              <a:t> = Grouping similar data points together</a:t>
            </a:r>
          </a:p>
          <a:p>
            <a:r>
              <a:rPr lang="en-IN" sz="1400" b="1" dirty="0"/>
              <a:t>K</a:t>
            </a:r>
            <a:r>
              <a:rPr lang="en-IN" sz="1400" dirty="0"/>
              <a:t> = Number of groups (clusters)</a:t>
            </a:r>
          </a:p>
          <a:p>
            <a:r>
              <a:rPr lang="en-IN" sz="1400" b="1" dirty="0"/>
              <a:t>Means</a:t>
            </a:r>
            <a:r>
              <a:rPr lang="en-IN" sz="1400" dirty="0"/>
              <a:t> = Center of each group</a:t>
            </a:r>
          </a:p>
          <a:p>
            <a:r>
              <a:rPr lang="en-IN" sz="1400" dirty="0"/>
              <a:t>Used when no labels are available, i.e. </a:t>
            </a:r>
            <a:r>
              <a:rPr lang="en-IN" sz="1400" b="1" dirty="0"/>
              <a:t>Unsupervised learning</a:t>
            </a:r>
            <a:endParaRPr lang="en-GB" sz="1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96C241-3FB3-862D-B290-BDCDD29A36EF}"/>
              </a:ext>
            </a:extLst>
          </p:cNvPr>
          <p:cNvSpPr txBox="1"/>
          <p:nvPr/>
        </p:nvSpPr>
        <p:spPr>
          <a:xfrm>
            <a:off x="174504" y="2408153"/>
            <a:ext cx="2693176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Student data: Make 2 clusters</a:t>
            </a:r>
            <a:endParaRPr lang="en-GB" sz="16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FE1251-CB8D-701B-0E41-8573C332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04484"/>
              </p:ext>
            </p:extLst>
          </p:nvPr>
        </p:nvGraphicFramePr>
        <p:xfrm>
          <a:off x="4101324" y="120820"/>
          <a:ext cx="5566188" cy="26822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71729">
                  <a:extLst>
                    <a:ext uri="{9D8B030D-6E8A-4147-A177-3AD203B41FA5}">
                      <a16:colId xmlns:a16="http://schemas.microsoft.com/office/drawing/2014/main" val="3224827542"/>
                    </a:ext>
                  </a:extLst>
                </a:gridCol>
                <a:gridCol w="2246128">
                  <a:extLst>
                    <a:ext uri="{9D8B030D-6E8A-4147-A177-3AD203B41FA5}">
                      <a16:colId xmlns:a16="http://schemas.microsoft.com/office/drawing/2014/main" val="2380185986"/>
                    </a:ext>
                  </a:extLst>
                </a:gridCol>
                <a:gridCol w="2748331">
                  <a:extLst>
                    <a:ext uri="{9D8B030D-6E8A-4147-A177-3AD203B41FA5}">
                      <a16:colId xmlns:a16="http://schemas.microsoft.com/office/drawing/2014/main" val="53505073"/>
                    </a:ext>
                  </a:extLst>
                </a:gridCol>
              </a:tblGrid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Step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Our example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96000"/>
                  </a:ext>
                </a:extLst>
              </a:tr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Choose K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Let K = 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07096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Pick 2 random </a:t>
                      </a:r>
                      <a:r>
                        <a:rPr lang="en-IN" sz="1400" dirty="0" err="1"/>
                        <a:t>centers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Center 1 = 35, </a:t>
                      </a:r>
                    </a:p>
                    <a:p>
                      <a:r>
                        <a:rPr lang="en-IN" sz="1400" dirty="0"/>
                        <a:t>Center 2 = 75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081185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Assign points to nearest </a:t>
                      </a:r>
                      <a:r>
                        <a:rPr lang="en-IN" sz="1400" dirty="0" err="1"/>
                        <a:t>centers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35, 38, 40 -&gt; Cluster 1</a:t>
                      </a:r>
                    </a:p>
                    <a:p>
                      <a:r>
                        <a:rPr lang="en-IN" sz="1400" dirty="0"/>
                        <a:t>75, 78, 82 -&gt; Cluster 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502341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Recalculate </a:t>
                      </a:r>
                      <a:r>
                        <a:rPr lang="en-IN" sz="1400" dirty="0" err="1"/>
                        <a:t>centers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New Center 1 ≈ 38</a:t>
                      </a:r>
                    </a:p>
                    <a:p>
                      <a:r>
                        <a:rPr lang="en-IN" sz="1400" dirty="0"/>
                        <a:t>New Center 2 ≈ 78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7765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Repeat and stop when clusters do not change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NA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9385012"/>
                  </a:ext>
                </a:extLst>
              </a:tr>
            </a:tbl>
          </a:graphicData>
        </a:graphic>
      </p:graphicFrame>
      <p:sp>
        <p:nvSpPr>
          <p:cNvPr id="8" name="Arrow: Up 7">
            <a:extLst>
              <a:ext uri="{FF2B5EF4-FFF2-40B4-BE49-F238E27FC236}">
                <a16:creationId xmlns:a16="http://schemas.microsoft.com/office/drawing/2014/main" id="{CB75DFAE-608E-916A-54BC-0FB7F7E2FA33}"/>
              </a:ext>
            </a:extLst>
          </p:cNvPr>
          <p:cNvSpPr/>
          <p:nvPr/>
        </p:nvSpPr>
        <p:spPr>
          <a:xfrm rot="5400000">
            <a:off x="9798679" y="1300239"/>
            <a:ext cx="502571" cy="425790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04CE9F-DFE5-01C3-D3FC-ECFA7909E1AD}"/>
              </a:ext>
            </a:extLst>
          </p:cNvPr>
          <p:cNvSpPr txBox="1"/>
          <p:nvPr/>
        </p:nvSpPr>
        <p:spPr>
          <a:xfrm>
            <a:off x="10349240" y="928359"/>
            <a:ext cx="1668257" cy="116955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Final result: </a:t>
            </a:r>
          </a:p>
          <a:p>
            <a:pPr marL="342900" indent="-342900" algn="ctr">
              <a:buAutoNum type="arabicParenBoth"/>
            </a:pPr>
            <a:r>
              <a:rPr lang="en-IN" sz="1400" dirty="0"/>
              <a:t>Low scores cluster and </a:t>
            </a:r>
          </a:p>
          <a:p>
            <a:pPr marL="342900" indent="-342900" algn="ctr">
              <a:buAutoNum type="arabicParenBoth"/>
            </a:pPr>
            <a:r>
              <a:rPr lang="en-IN" sz="1400" dirty="0"/>
              <a:t>High scores cluster</a:t>
            </a:r>
            <a:endParaRPr lang="en-GB" sz="14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8ACE88B-B161-DDE9-D8E0-687862BAC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303196"/>
              </p:ext>
            </p:extLst>
          </p:nvPr>
        </p:nvGraphicFramePr>
        <p:xfrm>
          <a:off x="3315573" y="3510291"/>
          <a:ext cx="1926522" cy="1920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05008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321514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Far from </a:t>
                      </a:r>
                      <a:r>
                        <a:rPr lang="en-GB" sz="1200" dirty="0" err="1"/>
                        <a:t>center</a:t>
                      </a:r>
                      <a:r>
                        <a:rPr lang="en-GB" sz="120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very 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133116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845385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38394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far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6080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4B5F2EE-5DD6-4106-221B-9D8D64B95309}"/>
              </a:ext>
            </a:extLst>
          </p:cNvPr>
          <p:cNvSpPr txBox="1"/>
          <p:nvPr/>
        </p:nvSpPr>
        <p:spPr>
          <a:xfrm>
            <a:off x="3315573" y="3090446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1, Center = 58</a:t>
            </a: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EC6D72-F337-953F-45A0-19812230CFDD}"/>
              </a:ext>
            </a:extLst>
          </p:cNvPr>
          <p:cNvSpPr txBox="1"/>
          <p:nvPr/>
        </p:nvSpPr>
        <p:spPr>
          <a:xfrm>
            <a:off x="3315573" y="5511822"/>
            <a:ext cx="192652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Very bad grouping</a:t>
            </a:r>
          </a:p>
          <a:p>
            <a:pPr algn="ctr"/>
            <a:r>
              <a:rPr lang="en-IN" sz="1600" dirty="0">
                <a:solidFill>
                  <a:srgbClr val="FF0000"/>
                </a:solidFill>
              </a:rPr>
              <a:t>Very high error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24CB65-F64F-3029-208E-A1769E51B9A8}"/>
              </a:ext>
            </a:extLst>
          </p:cNvPr>
          <p:cNvSpPr txBox="1"/>
          <p:nvPr/>
        </p:nvSpPr>
        <p:spPr>
          <a:xfrm>
            <a:off x="5310734" y="3090446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2 (2 groups)</a:t>
            </a:r>
            <a:endParaRPr lang="en-GB" sz="16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AEE772E-28A2-2EF7-0201-FF2BD77748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599128"/>
              </p:ext>
            </p:extLst>
          </p:nvPr>
        </p:nvGraphicFramePr>
        <p:xfrm>
          <a:off x="5325855" y="3503311"/>
          <a:ext cx="1926522" cy="1188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77076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249446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35, 38, 40 (Center = 38)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75, 78, 82 (Center = 78)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387F385-08FA-0229-2FA4-CA9F05399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431440"/>
              </p:ext>
            </p:extLst>
          </p:nvPr>
        </p:nvGraphicFramePr>
        <p:xfrm>
          <a:off x="5325855" y="4761107"/>
          <a:ext cx="1926522" cy="1188720"/>
        </p:xfrm>
        <a:graphic>
          <a:graphicData uri="http://schemas.openxmlformats.org/drawingml/2006/table">
            <a:tbl>
              <a:tblPr firstRow="1">
                <a:tableStyleId>{8FD4443E-F989-4FC4-A0C8-D5A2AF1F390B}</a:tableStyleId>
              </a:tblPr>
              <a:tblGrid>
                <a:gridCol w="963261">
                  <a:extLst>
                    <a:ext uri="{9D8B030D-6E8A-4147-A177-3AD203B41FA5}">
                      <a16:colId xmlns:a16="http://schemas.microsoft.com/office/drawing/2014/main" val="1959647254"/>
                    </a:ext>
                  </a:extLst>
                </a:gridCol>
                <a:gridCol w="963261">
                  <a:extLst>
                    <a:ext uri="{9D8B030D-6E8A-4147-A177-3AD203B41FA5}">
                      <a16:colId xmlns:a16="http://schemas.microsoft.com/office/drawing/2014/main" val="4113927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Are points close to center?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27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Low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86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High 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832753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E650301C-9B2F-3EC6-C266-152C74DCDA23}"/>
              </a:ext>
            </a:extLst>
          </p:cNvPr>
          <p:cNvSpPr txBox="1"/>
          <p:nvPr/>
        </p:nvSpPr>
        <p:spPr>
          <a:xfrm>
            <a:off x="5325855" y="6018903"/>
            <a:ext cx="192652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Huge improvement – Error drops a lot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4CDF3D-7755-9C46-29B0-3474A0AB019F}"/>
              </a:ext>
            </a:extLst>
          </p:cNvPr>
          <p:cNvSpPr txBox="1"/>
          <p:nvPr/>
        </p:nvSpPr>
        <p:spPr>
          <a:xfrm>
            <a:off x="7305895" y="3083458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3 (3 groups)</a:t>
            </a:r>
            <a:endParaRPr lang="en-GB" sz="16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1FD4B26-CA38-2B7D-B167-84EE3164E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4744"/>
              </p:ext>
            </p:extLst>
          </p:nvPr>
        </p:nvGraphicFramePr>
        <p:xfrm>
          <a:off x="7321016" y="3496323"/>
          <a:ext cx="1926522" cy="16459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77076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249446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35, 38 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36.5)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40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40)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75, 78, 82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78)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6007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DC1EE68-9C6E-449C-8E58-FC7EE9B13D7B}"/>
              </a:ext>
            </a:extLst>
          </p:cNvPr>
          <p:cNvSpPr txBox="1"/>
          <p:nvPr/>
        </p:nvSpPr>
        <p:spPr>
          <a:xfrm>
            <a:off x="7321016" y="5250731"/>
            <a:ext cx="1926522" cy="830997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Only a small improvement – Error drops a little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285A0C-BEDE-21AB-EDAE-EEED3351B22E}"/>
              </a:ext>
            </a:extLst>
          </p:cNvPr>
          <p:cNvSpPr txBox="1"/>
          <p:nvPr/>
        </p:nvSpPr>
        <p:spPr>
          <a:xfrm>
            <a:off x="9299599" y="3069489"/>
            <a:ext cx="1926522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K = 4 (4 groups)</a:t>
            </a:r>
            <a:endParaRPr lang="en-GB" sz="16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B2D3B04-B059-7F9E-1722-F5C683AA9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625527"/>
              </p:ext>
            </p:extLst>
          </p:nvPr>
        </p:nvGraphicFramePr>
        <p:xfrm>
          <a:off x="9314720" y="3482354"/>
          <a:ext cx="1926522" cy="21031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677076">
                  <a:extLst>
                    <a:ext uri="{9D8B030D-6E8A-4147-A177-3AD203B41FA5}">
                      <a16:colId xmlns:a16="http://schemas.microsoft.com/office/drawing/2014/main" val="2819539552"/>
                    </a:ext>
                  </a:extLst>
                </a:gridCol>
                <a:gridCol w="1249446">
                  <a:extLst>
                    <a:ext uri="{9D8B030D-6E8A-4147-A177-3AD203B41FA5}">
                      <a16:colId xmlns:a16="http://schemas.microsoft.com/office/drawing/2014/main" val="101988369"/>
                    </a:ext>
                  </a:extLst>
                </a:gridCol>
              </a:tblGrid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Cluster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5993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35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36.5)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9839080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2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38, 40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39)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620501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3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75, 78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76.5)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600728"/>
                  </a:ext>
                </a:extLst>
              </a:tr>
              <a:tr h="203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4</a:t>
                      </a:r>
                      <a:endParaRPr lang="en-GB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82</a:t>
                      </a:r>
                    </a:p>
                    <a:p>
                      <a:pPr>
                        <a:buNone/>
                      </a:pPr>
                      <a:r>
                        <a:rPr lang="en-GB" sz="1200" dirty="0"/>
                        <a:t>(Center = 82)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32361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39300AB-E303-4A00-F6B8-A9BA0F2CA21D}"/>
              </a:ext>
            </a:extLst>
          </p:cNvPr>
          <p:cNvSpPr txBox="1"/>
          <p:nvPr/>
        </p:nvSpPr>
        <p:spPr>
          <a:xfrm>
            <a:off x="9331298" y="5666229"/>
            <a:ext cx="1926522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FF0000"/>
                </a:solidFill>
              </a:rPr>
              <a:t>No real improvement</a:t>
            </a:r>
            <a:endParaRPr lang="en-GB" sz="1600" dirty="0">
              <a:solidFill>
                <a:srgbClr val="FF0000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E7730BA9-8DA2-2936-7B27-82A35994B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891481"/>
              </p:ext>
            </p:extLst>
          </p:nvPr>
        </p:nvGraphicFramePr>
        <p:xfrm>
          <a:off x="174503" y="5036834"/>
          <a:ext cx="2533795" cy="10972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98015">
                  <a:extLst>
                    <a:ext uri="{9D8B030D-6E8A-4147-A177-3AD203B41FA5}">
                      <a16:colId xmlns:a16="http://schemas.microsoft.com/office/drawing/2014/main" val="3557043851"/>
                    </a:ext>
                  </a:extLst>
                </a:gridCol>
                <a:gridCol w="1835780">
                  <a:extLst>
                    <a:ext uri="{9D8B030D-6E8A-4147-A177-3AD203B41FA5}">
                      <a16:colId xmlns:a16="http://schemas.microsoft.com/office/drawing/2014/main" val="1052069830"/>
                    </a:ext>
                  </a:extLst>
                </a:gridCol>
              </a:tblGrid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87440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 →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BIG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4290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 →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small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6849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 →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very tiny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13745"/>
                  </a:ext>
                </a:extLst>
              </a:tr>
            </a:tbl>
          </a:graphicData>
        </a:graphic>
      </p:graphicFrame>
      <p:sp>
        <p:nvSpPr>
          <p:cNvPr id="25" name="Arrow: Striped Right 24">
            <a:extLst>
              <a:ext uri="{FF2B5EF4-FFF2-40B4-BE49-F238E27FC236}">
                <a16:creationId xmlns:a16="http://schemas.microsoft.com/office/drawing/2014/main" id="{AD0DFFC4-422F-D945-E1BE-916545ADAC9F}"/>
              </a:ext>
            </a:extLst>
          </p:cNvPr>
          <p:cNvSpPr/>
          <p:nvPr/>
        </p:nvSpPr>
        <p:spPr>
          <a:xfrm rot="10800000">
            <a:off x="2760358" y="5585474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2D381-9580-075F-D7BE-B8114FA76801}"/>
              </a:ext>
            </a:extLst>
          </p:cNvPr>
          <p:cNvSpPr txBox="1"/>
          <p:nvPr/>
        </p:nvSpPr>
        <p:spPr>
          <a:xfrm>
            <a:off x="174503" y="6173345"/>
            <a:ext cx="253379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The point where improvement suddenly slows down = </a:t>
            </a:r>
            <a:r>
              <a:rPr lang="en-IN" sz="1200" b="1" dirty="0"/>
              <a:t>Elbow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12196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3281B7-ED98-668B-C336-D8BA396CAD77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Hierarchical Clustering</a:t>
            </a:r>
            <a:endParaRPr lang="en-GB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2F1597-FC55-A1AB-2405-299534BE0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922259"/>
              </p:ext>
            </p:extLst>
          </p:nvPr>
        </p:nvGraphicFramePr>
        <p:xfrm>
          <a:off x="418808" y="1438547"/>
          <a:ext cx="2693176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346588">
                  <a:extLst>
                    <a:ext uri="{9D8B030D-6E8A-4147-A177-3AD203B41FA5}">
                      <a16:colId xmlns:a16="http://schemas.microsoft.com/office/drawing/2014/main" val="1737744432"/>
                    </a:ext>
                  </a:extLst>
                </a:gridCol>
                <a:gridCol w="1346588">
                  <a:extLst>
                    <a:ext uri="{9D8B030D-6E8A-4147-A177-3AD203B41FA5}">
                      <a16:colId xmlns:a16="http://schemas.microsoft.com/office/drawing/2014/main" val="866757949"/>
                    </a:ext>
                  </a:extLst>
                </a:gridCol>
              </a:tblGrid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082256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070881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704705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58256064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6616859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964916"/>
                  </a:ext>
                </a:extLst>
              </a:tr>
              <a:tr h="15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53345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4FCA84-AB27-948F-A821-3266813C39E6}"/>
              </a:ext>
            </a:extLst>
          </p:cNvPr>
          <p:cNvSpPr txBox="1"/>
          <p:nvPr/>
        </p:nvSpPr>
        <p:spPr>
          <a:xfrm>
            <a:off x="174503" y="792217"/>
            <a:ext cx="374834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Start with everyone separate and keep merging the closest ones, step by step</a:t>
            </a: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E3467B-86FF-79A4-DF81-708C279DE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85768"/>
              </p:ext>
            </p:extLst>
          </p:nvPr>
        </p:nvGraphicFramePr>
        <p:xfrm>
          <a:off x="4101324" y="120820"/>
          <a:ext cx="7671867" cy="21640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27538">
                  <a:extLst>
                    <a:ext uri="{9D8B030D-6E8A-4147-A177-3AD203B41FA5}">
                      <a16:colId xmlns:a16="http://schemas.microsoft.com/office/drawing/2014/main" val="3224827542"/>
                    </a:ext>
                  </a:extLst>
                </a:gridCol>
                <a:gridCol w="1534613">
                  <a:extLst>
                    <a:ext uri="{9D8B030D-6E8A-4147-A177-3AD203B41FA5}">
                      <a16:colId xmlns:a16="http://schemas.microsoft.com/office/drawing/2014/main" val="2380185986"/>
                    </a:ext>
                  </a:extLst>
                </a:gridCol>
                <a:gridCol w="2610577">
                  <a:extLst>
                    <a:ext uri="{9D8B030D-6E8A-4147-A177-3AD203B41FA5}">
                      <a16:colId xmlns:a16="http://schemas.microsoft.com/office/drawing/2014/main" val="53505073"/>
                    </a:ext>
                  </a:extLst>
                </a:gridCol>
                <a:gridCol w="2999139">
                  <a:extLst>
                    <a:ext uri="{9D8B030D-6E8A-4147-A177-3AD203B41FA5}">
                      <a16:colId xmlns:a16="http://schemas.microsoft.com/office/drawing/2014/main" val="2479534878"/>
                    </a:ext>
                  </a:extLst>
                </a:gridCol>
              </a:tblGrid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Step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Action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Our example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Result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596000"/>
                  </a:ext>
                </a:extLst>
              </a:tr>
              <a:tr h="280935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Everyone is alone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35   38   40   75   78   82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07096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Find closest pair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38 and 40 -&gt; very close</a:t>
                      </a:r>
                    </a:p>
                    <a:p>
                      <a:r>
                        <a:rPr lang="en-GB" sz="1400" dirty="0"/>
                        <a:t>75 and 78 -&gt; very close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Merge them</a:t>
                      </a:r>
                    </a:p>
                    <a:p>
                      <a:r>
                        <a:rPr lang="en-GB" sz="1400" dirty="0"/>
                        <a:t>(38,40)    (75,78)    35    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081185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Next closest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35 is closer to (38,40)</a:t>
                      </a:r>
                    </a:p>
                    <a:p>
                      <a:r>
                        <a:rPr lang="en-IN" sz="1400" dirty="0"/>
                        <a:t>82 is closer to (75,78)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Merge again</a:t>
                      </a:r>
                    </a:p>
                    <a:p>
                      <a:r>
                        <a:rPr lang="en-GB" sz="1400" dirty="0"/>
                        <a:t>(35,38,40) (75,78,82)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3502341"/>
                  </a:ext>
                </a:extLst>
              </a:tr>
              <a:tr h="392539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Final merge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Now only 2 clusters are left, so merge them</a:t>
                      </a:r>
                      <a:endParaRPr lang="en-GB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Final merge</a:t>
                      </a:r>
                    </a:p>
                    <a:p>
                      <a:r>
                        <a:rPr lang="en-GB" sz="1400" dirty="0"/>
                        <a:t>(35,38,40,75,78,82)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776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00F31D-363C-7084-2AD9-E7A9C2D39E67}"/>
              </a:ext>
            </a:extLst>
          </p:cNvPr>
          <p:cNvSpPr txBox="1"/>
          <p:nvPr/>
        </p:nvSpPr>
        <p:spPr>
          <a:xfrm>
            <a:off x="4101324" y="2396488"/>
            <a:ext cx="767186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 err="1"/>
              <a:t>Dendogram</a:t>
            </a:r>
            <a:r>
              <a:rPr lang="en-IN" sz="1400" dirty="0"/>
              <a:t>: A tree-like diagram that shows (a) Who merged with whom, (b) At what distance</a:t>
            </a:r>
            <a:endParaRPr lang="en-GB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EB7B3B-777B-1947-F33F-88283DCEC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028" y="2790784"/>
            <a:ext cx="4772691" cy="38105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F1E634-1BF4-6611-1D4F-B34FD55528A9}"/>
              </a:ext>
            </a:extLst>
          </p:cNvPr>
          <p:cNvSpPr txBox="1"/>
          <p:nvPr/>
        </p:nvSpPr>
        <p:spPr>
          <a:xfrm>
            <a:off x="2128947" y="3834437"/>
            <a:ext cx="448125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How to choose number of clusters from </a:t>
            </a:r>
            <a:r>
              <a:rPr lang="en-IN" sz="1400" dirty="0" err="1"/>
              <a:t>Dendogram</a:t>
            </a:r>
            <a:r>
              <a:rPr lang="en-IN" sz="1400" dirty="0"/>
              <a:t>?</a:t>
            </a:r>
          </a:p>
          <a:p>
            <a:r>
              <a:rPr lang="en-US" sz="1400" dirty="0"/>
              <a:t>Make a cut before the final large merge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D5068-F4AA-06D1-E6D7-B2F04063257B}"/>
              </a:ext>
            </a:extLst>
          </p:cNvPr>
          <p:cNvSpPr txBox="1"/>
          <p:nvPr/>
        </p:nvSpPr>
        <p:spPr>
          <a:xfrm>
            <a:off x="2128947" y="4729070"/>
            <a:ext cx="4481258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For our data, if we do this cut</a:t>
            </a:r>
          </a:p>
          <a:p>
            <a:endParaRPr lang="en-GB" sz="1400" dirty="0"/>
          </a:p>
          <a:p>
            <a:r>
              <a:rPr lang="en-GB" sz="1400" dirty="0"/>
              <a:t>(35,38,40) | (75,78,82)</a:t>
            </a:r>
          </a:p>
          <a:p>
            <a:endParaRPr lang="en-GB" sz="1400" dirty="0"/>
          </a:p>
          <a:p>
            <a:r>
              <a:rPr lang="en-GB" sz="1400" dirty="0"/>
              <a:t>We will get 2 clusters (Low scores and High scores)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75DA6E80-C4F7-A5F1-D85B-96E7E2A6B98F}"/>
              </a:ext>
            </a:extLst>
          </p:cNvPr>
          <p:cNvSpPr/>
          <p:nvPr/>
        </p:nvSpPr>
        <p:spPr>
          <a:xfrm rot="10800000">
            <a:off x="6699195" y="3954248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Striped Right 13">
            <a:extLst>
              <a:ext uri="{FF2B5EF4-FFF2-40B4-BE49-F238E27FC236}">
                <a16:creationId xmlns:a16="http://schemas.microsoft.com/office/drawing/2014/main" id="{DA456B63-F691-4E28-543D-DD828FBA55EB}"/>
              </a:ext>
            </a:extLst>
          </p:cNvPr>
          <p:cNvSpPr/>
          <p:nvPr/>
        </p:nvSpPr>
        <p:spPr>
          <a:xfrm rot="5400000">
            <a:off x="3903407" y="4413775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42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D7A07D-F37D-5B85-D74A-546E3B5134B5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Gaussian Mixture Models (GMM) and Soft Clustering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CCD7B-6BFA-13A5-838E-1FAED87F770F}"/>
              </a:ext>
            </a:extLst>
          </p:cNvPr>
          <p:cNvSpPr txBox="1"/>
          <p:nvPr/>
        </p:nvSpPr>
        <p:spPr>
          <a:xfrm>
            <a:off x="183425" y="928359"/>
            <a:ext cx="3748342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Hard clustering</a:t>
            </a:r>
            <a:r>
              <a:rPr lang="en-IN" sz="1400" dirty="0"/>
              <a:t> (e.g. K-Means): Each data point belongs to only one cluster</a:t>
            </a:r>
          </a:p>
          <a:p>
            <a:r>
              <a:rPr lang="en-IN" sz="1400" dirty="0"/>
              <a:t>Example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Student A -&gt; Cluster 1 (100%)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Student B -&gt; Cluster 2 (100%)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D0202-6688-C5A8-0338-03ADD4B13B9F}"/>
              </a:ext>
            </a:extLst>
          </p:cNvPr>
          <p:cNvSpPr txBox="1"/>
          <p:nvPr/>
        </p:nvSpPr>
        <p:spPr>
          <a:xfrm>
            <a:off x="183425" y="2148722"/>
            <a:ext cx="3748342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Soft clustering</a:t>
            </a:r>
            <a:r>
              <a:rPr lang="en-IN" sz="1400" dirty="0"/>
              <a:t>: A data point can belong to multiple clusters with probabilities</a:t>
            </a:r>
          </a:p>
          <a:p>
            <a:r>
              <a:rPr lang="en-IN" sz="1400" dirty="0"/>
              <a:t>Example</a:t>
            </a:r>
          </a:p>
          <a:p>
            <a:r>
              <a:rPr lang="en-IN" sz="1400" dirty="0"/>
              <a:t> Student A -&gt; Cluster 1 (70%), Cluster 2 (30%)</a:t>
            </a:r>
          </a:p>
          <a:p>
            <a:endParaRPr lang="en-IN" sz="1400" dirty="0"/>
          </a:p>
          <a:p>
            <a:r>
              <a:rPr lang="en-IN" sz="1400" dirty="0"/>
              <a:t>Useful when data overlaps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62143-E840-21C8-C181-809F05FD06FD}"/>
              </a:ext>
            </a:extLst>
          </p:cNvPr>
          <p:cNvSpPr txBox="1"/>
          <p:nvPr/>
        </p:nvSpPr>
        <p:spPr>
          <a:xfrm>
            <a:off x="183425" y="3584529"/>
            <a:ext cx="3748342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Why K-Means is not enough?</a:t>
            </a:r>
          </a:p>
          <a:p>
            <a:r>
              <a:rPr lang="en-IN" sz="1400" dirty="0"/>
              <a:t>K-Means assumes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All clusters have same size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Each data point belongs to exactly one cluster</a:t>
            </a:r>
          </a:p>
          <a:p>
            <a:r>
              <a:rPr lang="en-IN" sz="1400" dirty="0"/>
              <a:t>But real data often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Overlaps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Has different shapes and spreads</a:t>
            </a:r>
          </a:p>
          <a:p>
            <a:endParaRPr lang="en-IN" sz="1400" dirty="0"/>
          </a:p>
          <a:p>
            <a:r>
              <a:rPr lang="en-IN" sz="1400" dirty="0"/>
              <a:t>=&gt; </a:t>
            </a:r>
            <a:r>
              <a:rPr lang="en-IN" sz="1400" b="1" dirty="0"/>
              <a:t>Gaussian Mixture Models (GMM)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F001FF-084A-1677-CCA6-AE54BD0B767C}"/>
              </a:ext>
            </a:extLst>
          </p:cNvPr>
          <p:cNvSpPr txBox="1"/>
          <p:nvPr/>
        </p:nvSpPr>
        <p:spPr>
          <a:xfrm>
            <a:off x="4023868" y="1221525"/>
            <a:ext cx="7926153" cy="4185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Gaussian Mixture Model (GMM)</a:t>
            </a:r>
          </a:p>
          <a:p>
            <a:endParaRPr lang="en-IN" sz="1400" b="1" dirty="0"/>
          </a:p>
          <a:p>
            <a:r>
              <a:rPr lang="en-IN" sz="1400" dirty="0"/>
              <a:t>GMM assumes that the data is generated from a mixture of multiple Gaussian (Normal) distributions</a:t>
            </a:r>
          </a:p>
          <a:p>
            <a:endParaRPr lang="en-IN" sz="1400" dirty="0"/>
          </a:p>
          <a:p>
            <a:r>
              <a:rPr lang="en-IN" sz="1400" dirty="0"/>
              <a:t>Each cluster = one Gaussian (which has its own mean, standard deviation, and importance)</a:t>
            </a:r>
          </a:p>
          <a:p>
            <a:endParaRPr lang="en-IN" sz="1400" dirty="0"/>
          </a:p>
          <a:p>
            <a:r>
              <a:rPr lang="en-IN" sz="1400" dirty="0"/>
              <a:t>Consider student marks: 35, 38, 40, 75, 78, 82</a:t>
            </a:r>
          </a:p>
          <a:p>
            <a:endParaRPr lang="en-IN" sz="1400" dirty="0"/>
          </a:p>
          <a:p>
            <a:r>
              <a:rPr lang="en-IN" sz="1400" dirty="0"/>
              <a:t>Instead of forcing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Low scores -&gt; Cluster 1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High scores -&gt; Cluster 2</a:t>
            </a:r>
          </a:p>
          <a:p>
            <a:endParaRPr lang="en-IN" sz="1400" dirty="0"/>
          </a:p>
          <a:p>
            <a:r>
              <a:rPr lang="en-IN" sz="1400" dirty="0"/>
              <a:t>GMM says that some marks may come from two overlapping clusters</a:t>
            </a:r>
          </a:p>
          <a:p>
            <a:endParaRPr lang="en-IN" sz="1400" dirty="0"/>
          </a:p>
          <a:p>
            <a:r>
              <a:rPr lang="en-IN" sz="1400" dirty="0"/>
              <a:t>Example: For student with marks 40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Probability of Low-score cluster = 85%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Probability of High-score cluster = 15%</a:t>
            </a:r>
          </a:p>
          <a:p>
            <a:pPr marL="285750" indent="-285750">
              <a:buFontTx/>
              <a:buChar char="-"/>
            </a:pPr>
            <a:endParaRPr lang="en-IN" sz="1400" dirty="0"/>
          </a:p>
          <a:p>
            <a:r>
              <a:rPr lang="en-IN" sz="1400" dirty="0"/>
              <a:t>This is </a:t>
            </a:r>
            <a:r>
              <a:rPr lang="en-IN" sz="1400" b="1" dirty="0"/>
              <a:t>soft clustering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9266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C1F07EE-3D1C-2F5B-E081-5BD2307D2101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Association Rule Mining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6C441-EAA7-0AC5-34B7-5A99B5A37EC8}"/>
              </a:ext>
            </a:extLst>
          </p:cNvPr>
          <p:cNvSpPr txBox="1"/>
          <p:nvPr/>
        </p:nvSpPr>
        <p:spPr>
          <a:xfrm>
            <a:off x="137373" y="767816"/>
            <a:ext cx="384044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Finds patterns of data that occur together in large datasets – Market Basket Analysis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45AC8-59AC-2301-3FE5-5D9116997943}"/>
              </a:ext>
            </a:extLst>
          </p:cNvPr>
          <p:cNvSpPr txBox="1"/>
          <p:nvPr/>
        </p:nvSpPr>
        <p:spPr>
          <a:xfrm>
            <a:off x="137373" y="1414812"/>
            <a:ext cx="384044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“Customers who buy bread often also buy butter”</a:t>
            </a: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AF38E77-4215-95DE-6DFA-9E5676149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604840"/>
              </p:ext>
            </p:extLst>
          </p:nvPr>
        </p:nvGraphicFramePr>
        <p:xfrm>
          <a:off x="272225" y="1846365"/>
          <a:ext cx="3538938" cy="10972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974914">
                  <a:extLst>
                    <a:ext uri="{9D8B030D-6E8A-4147-A177-3AD203B41FA5}">
                      <a16:colId xmlns:a16="http://schemas.microsoft.com/office/drawing/2014/main" val="3557043851"/>
                    </a:ext>
                  </a:extLst>
                </a:gridCol>
                <a:gridCol w="2564024">
                  <a:extLst>
                    <a:ext uri="{9D8B030D-6E8A-4147-A177-3AD203B41FA5}">
                      <a16:colId xmlns:a16="http://schemas.microsoft.com/office/drawing/2014/main" val="1052069830"/>
                    </a:ext>
                  </a:extLst>
                </a:gridCol>
              </a:tblGrid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87440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 single product (Milk)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4290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A set of items together (Bread, Butter)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6849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Itemset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One or more items (Bread, Milk)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137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38823E-C2D8-83F9-7195-7F2DA7EEDCEF}"/>
              </a:ext>
            </a:extLst>
          </p:cNvPr>
          <p:cNvSpPr txBox="1"/>
          <p:nvPr/>
        </p:nvSpPr>
        <p:spPr>
          <a:xfrm>
            <a:off x="139314" y="3193587"/>
            <a:ext cx="3840443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Association Rule</a:t>
            </a:r>
            <a:r>
              <a:rPr lang="en-IN" sz="1400" dirty="0"/>
              <a:t>: A -&gt; B (If A is bought, B also will be bought)</a:t>
            </a:r>
          </a:p>
          <a:p>
            <a:endParaRPr lang="en-IN" sz="1400" dirty="0"/>
          </a:p>
          <a:p>
            <a:r>
              <a:rPr lang="en-GB" sz="1400" dirty="0"/>
              <a:t>Bread → Butter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48F3E8-841E-2E9F-219D-09F753316053}"/>
              </a:ext>
            </a:extLst>
          </p:cNvPr>
          <p:cNvSpPr txBox="1"/>
          <p:nvPr/>
        </p:nvSpPr>
        <p:spPr>
          <a:xfrm>
            <a:off x="137373" y="4281328"/>
            <a:ext cx="3840443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Key measures</a:t>
            </a:r>
          </a:p>
          <a:p>
            <a:pPr marL="285750" indent="-285750">
              <a:buFontTx/>
              <a:buChar char="-"/>
            </a:pPr>
            <a:r>
              <a:rPr lang="en-IN" sz="1400" b="1" dirty="0"/>
              <a:t>Support</a:t>
            </a:r>
            <a:r>
              <a:rPr lang="en-IN" sz="1400" dirty="0"/>
              <a:t>: How often items appear together</a:t>
            </a:r>
          </a:p>
          <a:p>
            <a:pPr marL="285750" indent="-285750">
              <a:buFontTx/>
              <a:buChar char="-"/>
            </a:pPr>
            <a:r>
              <a:rPr lang="en-GB" sz="1400" b="1" dirty="0"/>
              <a:t>Confidence</a:t>
            </a:r>
            <a:r>
              <a:rPr lang="en-GB" sz="1400" dirty="0"/>
              <a:t>: How often B is bought when A is bought</a:t>
            </a:r>
          </a:p>
          <a:p>
            <a:pPr marL="285750" indent="-285750">
              <a:buFontTx/>
              <a:buChar char="-"/>
            </a:pPr>
            <a:r>
              <a:rPr lang="en-GB" sz="1400" b="1" dirty="0"/>
              <a:t>Lift</a:t>
            </a:r>
            <a:r>
              <a:rPr lang="en-GB" sz="1400" dirty="0"/>
              <a:t>: How much better than chance the rule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C8DC6F8-C86E-C7CF-1D60-2504F36BC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2841358"/>
                  </p:ext>
                </p:extLst>
              </p:nvPr>
            </p:nvGraphicFramePr>
            <p:xfrm>
              <a:off x="4302777" y="2816442"/>
              <a:ext cx="7818936" cy="1749743"/>
            </p:xfrm>
            <a:graphic>
              <a:graphicData uri="http://schemas.openxmlformats.org/drawingml/2006/table">
                <a:tbl>
                  <a:tblPr firstRow="1">
                    <a:tableStyleId>{7E9639D4-E3E2-4D34-9284-5A2195B3D0D7}</a:tableStyleId>
                  </a:tblPr>
                  <a:tblGrid>
                    <a:gridCol w="1124970">
                      <a:extLst>
                        <a:ext uri="{9D8B030D-6E8A-4147-A177-3AD203B41FA5}">
                          <a16:colId xmlns:a16="http://schemas.microsoft.com/office/drawing/2014/main" val="3557043851"/>
                        </a:ext>
                      </a:extLst>
                    </a:gridCol>
                    <a:gridCol w="2903743">
                      <a:extLst>
                        <a:ext uri="{9D8B030D-6E8A-4147-A177-3AD203B41FA5}">
                          <a16:colId xmlns:a16="http://schemas.microsoft.com/office/drawing/2014/main" val="1052069830"/>
                        </a:ext>
                      </a:extLst>
                    </a:gridCol>
                    <a:gridCol w="2450034">
                      <a:extLst>
                        <a:ext uri="{9D8B030D-6E8A-4147-A177-3AD203B41FA5}">
                          <a16:colId xmlns:a16="http://schemas.microsoft.com/office/drawing/2014/main" val="3366825258"/>
                        </a:ext>
                      </a:extLst>
                    </a:gridCol>
                    <a:gridCol w="1340189">
                      <a:extLst>
                        <a:ext uri="{9D8B030D-6E8A-4147-A177-3AD203B41FA5}">
                          <a16:colId xmlns:a16="http://schemas.microsoft.com/office/drawing/2014/main" val="1761567636"/>
                        </a:ext>
                      </a:extLst>
                    </a:gridCol>
                  </a:tblGrid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Measure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5787440"/>
                      </a:ext>
                    </a:extLst>
                  </a:tr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Support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Support (A -&gt; B)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𝑇𝑟𝑎𝑛𝑠𝑎𝑐𝑡𝑖𝑜𝑛𝑠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𝑤𝑖𝑡h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𝑎𝑛𝑑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𝑇𝑟𝑎𝑛𝑠𝑎𝑐𝑡𝑖𝑜𝑛𝑠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{Bread, Butter} appears in 2 out of 4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4 = 0.50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442905"/>
                      </a:ext>
                    </a:extLst>
                  </a:tr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Confidence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Confidence (A -&gt; B)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𝑆𝑢𝑝𝑝𝑜𝑟𝑡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𝑆𝑢𝑝𝑝𝑜𝑟𝑡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bought in 3 baskets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and butter together in 2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3 = 0.66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368495"/>
                      </a:ext>
                    </a:extLst>
                  </a:tr>
                  <a:tr h="2018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Lift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Lift (A -&gt; B) =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𝐶𝑜𝑛𝑓𝑖𝑑𝑒𝑛𝑐𝑒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→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𝑆𝑢𝑝𝑝𝑜𝑟𝑡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𝑜𝑓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den>
                              </m:f>
                            </m:oMath>
                          </a14:m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Division of the above two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0.67 / 0.50 = 1.34 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4137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6C8DC6F8-C86E-C7CF-1D60-2504F36BCE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2841358"/>
                  </p:ext>
                </p:extLst>
              </p:nvPr>
            </p:nvGraphicFramePr>
            <p:xfrm>
              <a:off x="4302777" y="2816442"/>
              <a:ext cx="7818936" cy="1749743"/>
            </p:xfrm>
            <a:graphic>
              <a:graphicData uri="http://schemas.openxmlformats.org/drawingml/2006/table">
                <a:tbl>
                  <a:tblPr firstRow="1">
                    <a:tableStyleId>{7E9639D4-E3E2-4D34-9284-5A2195B3D0D7}</a:tableStyleId>
                  </a:tblPr>
                  <a:tblGrid>
                    <a:gridCol w="1124970">
                      <a:extLst>
                        <a:ext uri="{9D8B030D-6E8A-4147-A177-3AD203B41FA5}">
                          <a16:colId xmlns:a16="http://schemas.microsoft.com/office/drawing/2014/main" val="3557043851"/>
                        </a:ext>
                      </a:extLst>
                    </a:gridCol>
                    <a:gridCol w="2903743">
                      <a:extLst>
                        <a:ext uri="{9D8B030D-6E8A-4147-A177-3AD203B41FA5}">
                          <a16:colId xmlns:a16="http://schemas.microsoft.com/office/drawing/2014/main" val="1052069830"/>
                        </a:ext>
                      </a:extLst>
                    </a:gridCol>
                    <a:gridCol w="2450034">
                      <a:extLst>
                        <a:ext uri="{9D8B030D-6E8A-4147-A177-3AD203B41FA5}">
                          <a16:colId xmlns:a16="http://schemas.microsoft.com/office/drawing/2014/main" val="3366825258"/>
                        </a:ext>
                      </a:extLst>
                    </a:gridCol>
                    <a:gridCol w="1340189">
                      <a:extLst>
                        <a:ext uri="{9D8B030D-6E8A-4147-A177-3AD203B41FA5}">
                          <a16:colId xmlns:a16="http://schemas.microsoft.com/office/drawing/2014/main" val="1761567636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Measure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dirty="0"/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Example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957874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Support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94" t="-62667" r="-130818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{Bread, Butter} appears in 2 out of 4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4 = 0.50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0744290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Confidence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94" t="-115094" r="-130818" b="-603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bought in 3 baskets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IN" sz="1200" dirty="0"/>
                            <a:t>Bread and butter together in 2 baskets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2 / 3 = 0.66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368495"/>
                      </a:ext>
                    </a:extLst>
                  </a:tr>
                  <a:tr h="37814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200" b="1" dirty="0"/>
                            <a:t>Lift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994" t="-367742" r="-130818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Division of the above two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200" dirty="0"/>
                            <a:t>0.67 / 0.50 = 1.34 </a:t>
                          </a:r>
                          <a:endParaRPr lang="en-GB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41374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6854A00-74CC-7D46-0119-456140F6B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860039"/>
              </p:ext>
            </p:extLst>
          </p:nvPr>
        </p:nvGraphicFramePr>
        <p:xfrm>
          <a:off x="5177239" y="767816"/>
          <a:ext cx="5816501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290995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4525506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</a:tblGrid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55495"/>
                  </a:ext>
                </a:extLst>
              </a:tr>
            </a:tbl>
          </a:graphicData>
        </a:graphic>
      </p:graphicFrame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2DC17DA-892F-C3DD-5126-CE20FAF42594}"/>
              </a:ext>
            </a:extLst>
          </p:cNvPr>
          <p:cNvSpPr/>
          <p:nvPr/>
        </p:nvSpPr>
        <p:spPr>
          <a:xfrm rot="5400000">
            <a:off x="7644769" y="2412330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39E676FB-6273-5312-47AF-2817D05DCD14}"/>
              </a:ext>
            </a:extLst>
          </p:cNvPr>
          <p:cNvSpPr/>
          <p:nvPr/>
        </p:nvSpPr>
        <p:spPr>
          <a:xfrm rot="5400000">
            <a:off x="4685800" y="4424385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C3249CF-AD7C-DAB9-5A04-FB6CBC79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55518"/>
              </p:ext>
            </p:extLst>
          </p:nvPr>
        </p:nvGraphicFramePr>
        <p:xfrm>
          <a:off x="4302777" y="4778061"/>
          <a:ext cx="2803018" cy="109728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883476">
                  <a:extLst>
                    <a:ext uri="{9D8B030D-6E8A-4147-A177-3AD203B41FA5}">
                      <a16:colId xmlns:a16="http://schemas.microsoft.com/office/drawing/2014/main" val="3557043851"/>
                    </a:ext>
                  </a:extLst>
                </a:gridCol>
                <a:gridCol w="1919542">
                  <a:extLst>
                    <a:ext uri="{9D8B030D-6E8A-4147-A177-3AD203B41FA5}">
                      <a16:colId xmlns:a16="http://schemas.microsoft.com/office/drawing/2014/main" val="1052069830"/>
                    </a:ext>
                  </a:extLst>
                </a:gridCol>
              </a:tblGrid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Lift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Interpretation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787440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&gt;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Positive association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44290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No association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68495"/>
                  </a:ext>
                </a:extLst>
              </a:tr>
              <a:tr h="201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&lt;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Negative association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13745"/>
                  </a:ext>
                </a:extLst>
              </a:tr>
            </a:tbl>
          </a:graphicData>
        </a:graphic>
      </p:graphicFrame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729CF38D-4FE2-91D4-600E-2BB7CBE09178}"/>
              </a:ext>
            </a:extLst>
          </p:cNvPr>
          <p:cNvSpPr/>
          <p:nvPr/>
        </p:nvSpPr>
        <p:spPr>
          <a:xfrm rot="5400000">
            <a:off x="11483308" y="4547922"/>
            <a:ext cx="395833" cy="283598"/>
          </a:xfrm>
          <a:prstGeom prst="stripedRight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21ADDC-6201-F22D-C5EA-BFDEC5D027FA}"/>
              </a:ext>
            </a:extLst>
          </p:cNvPr>
          <p:cNvSpPr txBox="1"/>
          <p:nvPr/>
        </p:nvSpPr>
        <p:spPr>
          <a:xfrm>
            <a:off x="8281270" y="4921234"/>
            <a:ext cx="384044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Bread buyers are 1.34 times more likely to buy butter than a random customer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858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D35803-ACB4-56F9-D12A-62CDC89B2652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 err="1"/>
              <a:t>Apriori</a:t>
            </a:r>
            <a:r>
              <a:rPr lang="en-IN" sz="3200" dirty="0"/>
              <a:t> Algorithm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8CFA0-E4B6-D1DB-9E76-7C6CEA5D2DCD}"/>
              </a:ext>
            </a:extLst>
          </p:cNvPr>
          <p:cNvSpPr txBox="1"/>
          <p:nvPr/>
        </p:nvSpPr>
        <p:spPr>
          <a:xfrm>
            <a:off x="137373" y="767816"/>
            <a:ext cx="3541167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Used in association rule mining to find frequent </a:t>
            </a:r>
            <a:r>
              <a:rPr lang="en-IN" sz="1400" dirty="0" err="1"/>
              <a:t>itemsets</a:t>
            </a:r>
            <a:r>
              <a:rPr lang="en-IN" sz="1400" dirty="0"/>
              <a:t> from transactional data</a:t>
            </a:r>
          </a:p>
          <a:p>
            <a:endParaRPr lang="en-IN" sz="1400" dirty="0"/>
          </a:p>
          <a:p>
            <a:r>
              <a:rPr lang="en-IN" sz="1400" dirty="0"/>
              <a:t>Basic idea: If an itemset is frequent, all its subsets must also be frequent</a:t>
            </a:r>
            <a:endParaRPr lang="en-GB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EBEB77-38A8-040C-DA3E-858ACF60D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280961"/>
              </p:ext>
            </p:extLst>
          </p:nvPr>
        </p:nvGraphicFramePr>
        <p:xfrm>
          <a:off x="137373" y="2128945"/>
          <a:ext cx="3541167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64806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2376361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</a:tblGrid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9554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2C6004-5C27-93B9-CE89-D12A98C66552}"/>
              </a:ext>
            </a:extLst>
          </p:cNvPr>
          <p:cNvSpPr txBox="1"/>
          <p:nvPr/>
        </p:nvSpPr>
        <p:spPr>
          <a:xfrm>
            <a:off x="3931767" y="68638"/>
            <a:ext cx="3704522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1: Generate C1 (Candidate 1-itsemsets)</a:t>
            </a:r>
          </a:p>
          <a:p>
            <a:r>
              <a:rPr lang="en-IN" sz="1400" dirty="0"/>
              <a:t>All possible single items we found in the data</a:t>
            </a:r>
            <a:endParaRPr lang="en-GB" sz="1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E466564-2DEE-8E2B-23DE-771B69A7F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296554"/>
              </p:ext>
            </p:extLst>
          </p:nvPr>
        </p:nvGraphicFramePr>
        <p:xfrm>
          <a:off x="3931766" y="644040"/>
          <a:ext cx="3704522" cy="121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92816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971768164"/>
                    </a:ext>
                  </a:extLst>
                </a:gridCol>
              </a:tblGrid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Support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3/4 = 0.75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3/4 = 0.75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2/4 = 0.50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C8346AC-851D-6121-5A66-DCF690EC1F64}"/>
              </a:ext>
            </a:extLst>
          </p:cNvPr>
          <p:cNvSpPr txBox="1"/>
          <p:nvPr/>
        </p:nvSpPr>
        <p:spPr>
          <a:xfrm>
            <a:off x="3931765" y="2078682"/>
            <a:ext cx="3704522" cy="13849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2: Generate L1 (Frequent 1-itsemsets)</a:t>
            </a:r>
          </a:p>
          <a:p>
            <a:r>
              <a:rPr lang="en-IN" sz="1400" dirty="0"/>
              <a:t>Only those items whose support &gt;= min support</a:t>
            </a:r>
          </a:p>
          <a:p>
            <a:r>
              <a:rPr lang="en-IN" sz="1400" dirty="0"/>
              <a:t>Obtain L1 by filtering C1</a:t>
            </a:r>
          </a:p>
          <a:p>
            <a:r>
              <a:rPr lang="en-IN" sz="1400" dirty="0"/>
              <a:t>Suppose minimum support = 50%</a:t>
            </a:r>
          </a:p>
          <a:p>
            <a:r>
              <a:rPr lang="en-IN" sz="1400" dirty="0"/>
              <a:t>All the above satisfy this, so</a:t>
            </a:r>
          </a:p>
          <a:p>
            <a:r>
              <a:rPr lang="en-IN" sz="1400" dirty="0"/>
              <a:t>L1 = {Bread, Milk, Butter}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10558D-3FCE-A031-9946-D0B3D7FEDA18}"/>
              </a:ext>
            </a:extLst>
          </p:cNvPr>
          <p:cNvSpPr txBox="1"/>
          <p:nvPr/>
        </p:nvSpPr>
        <p:spPr>
          <a:xfrm>
            <a:off x="3931765" y="3679119"/>
            <a:ext cx="3704522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3: Generate C2 (Candidate 2-itsemsets)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E890111-57F7-EB56-7D05-10A5E4C38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694934"/>
              </p:ext>
            </p:extLst>
          </p:nvPr>
        </p:nvGraphicFramePr>
        <p:xfrm>
          <a:off x="3931765" y="4045117"/>
          <a:ext cx="3704522" cy="12192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192816">
                  <a:extLst>
                    <a:ext uri="{9D8B030D-6E8A-4147-A177-3AD203B41FA5}">
                      <a16:colId xmlns:a16="http://schemas.microsoft.com/office/drawing/2014/main" val="1420555917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18724893"/>
                    </a:ext>
                  </a:extLst>
                </a:gridCol>
                <a:gridCol w="1255853">
                  <a:extLst>
                    <a:ext uri="{9D8B030D-6E8A-4147-A177-3AD203B41FA5}">
                      <a16:colId xmlns:a16="http://schemas.microsoft.com/office/drawing/2014/main" val="1971768164"/>
                    </a:ext>
                  </a:extLst>
                </a:gridCol>
              </a:tblGrid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Support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4873368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2/4 = 0.50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40952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2/4 = 0.50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28520"/>
                  </a:ext>
                </a:extLst>
              </a:tr>
              <a:tr h="240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Milk, Butter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1/4 = 0.25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937681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EC2445A-427D-8D6D-5DD0-03B039E2D16E}"/>
              </a:ext>
            </a:extLst>
          </p:cNvPr>
          <p:cNvSpPr txBox="1"/>
          <p:nvPr/>
        </p:nvSpPr>
        <p:spPr>
          <a:xfrm>
            <a:off x="3931765" y="5473005"/>
            <a:ext cx="3704522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3: Generate L2 (Frequent 2-itsemsets)</a:t>
            </a:r>
          </a:p>
          <a:p>
            <a:r>
              <a:rPr lang="en-IN" sz="1400" dirty="0"/>
              <a:t>L2 = {(Bread, Milk), (Bread, Butter)}</a:t>
            </a:r>
          </a:p>
          <a:p>
            <a:r>
              <a:rPr lang="en-IN" sz="1400" dirty="0"/>
              <a:t>Note: (Milk, Butter} is removed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9C8FC6-E397-DC13-D503-ECA6644FF156}"/>
              </a:ext>
            </a:extLst>
          </p:cNvPr>
          <p:cNvSpPr txBox="1"/>
          <p:nvPr/>
        </p:nvSpPr>
        <p:spPr>
          <a:xfrm>
            <a:off x="3931765" y="6429403"/>
            <a:ext cx="3704522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Step 4: No frequent 3-itemsets: Stop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958F4-1F9D-7BD4-449C-4AA98F8DF47C}"/>
              </a:ext>
            </a:extLst>
          </p:cNvPr>
          <p:cNvSpPr txBox="1"/>
          <p:nvPr/>
        </p:nvSpPr>
        <p:spPr>
          <a:xfrm>
            <a:off x="7889514" y="68638"/>
            <a:ext cx="3704522" cy="954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Final frequent </a:t>
            </a:r>
            <a:r>
              <a:rPr lang="en-IN" sz="1400" b="1" dirty="0" err="1"/>
              <a:t>itemsets</a:t>
            </a:r>
            <a:endParaRPr lang="en-IN" sz="1400" b="1" dirty="0"/>
          </a:p>
          <a:p>
            <a:endParaRPr lang="en-IN" sz="1400" dirty="0"/>
          </a:p>
          <a:p>
            <a:r>
              <a:rPr lang="en-IN" sz="1400" dirty="0"/>
              <a:t>L1: {Bread, Milk, Butter}</a:t>
            </a:r>
          </a:p>
          <a:p>
            <a:r>
              <a:rPr lang="en-IN" sz="1400" dirty="0"/>
              <a:t>L2: {(Bread, Milk), (Bread, Butter)}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080E0-9B8A-23E7-88E2-050B8FF8E11D}"/>
              </a:ext>
            </a:extLst>
          </p:cNvPr>
          <p:cNvSpPr txBox="1"/>
          <p:nvPr/>
        </p:nvSpPr>
        <p:spPr>
          <a:xfrm>
            <a:off x="7889512" y="1160878"/>
            <a:ext cx="3704522" cy="418576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Generating Association Rules</a:t>
            </a:r>
          </a:p>
          <a:p>
            <a:endParaRPr lang="en-IN" sz="1400" dirty="0"/>
          </a:p>
          <a:p>
            <a:r>
              <a:rPr lang="en-IN" sz="1400" dirty="0"/>
              <a:t>Association Rules are generated from all frequent </a:t>
            </a:r>
            <a:r>
              <a:rPr lang="en-IN" sz="1400" dirty="0" err="1"/>
              <a:t>itemsets</a:t>
            </a:r>
            <a:r>
              <a:rPr lang="en-IN" sz="1400" dirty="0"/>
              <a:t> of size &gt;= 2</a:t>
            </a:r>
          </a:p>
          <a:p>
            <a:endParaRPr lang="en-IN" sz="1400" dirty="0"/>
          </a:p>
          <a:p>
            <a:r>
              <a:rPr lang="en-GB" sz="1400" dirty="0"/>
              <a:t>From L2: </a:t>
            </a:r>
            <a:r>
              <a:rPr lang="en-IN" sz="1400" dirty="0"/>
              <a:t>{(Bread, Milk), (Bread, Butter)}</a:t>
            </a:r>
          </a:p>
          <a:p>
            <a:endParaRPr lang="en-IN" sz="1400" dirty="0"/>
          </a:p>
          <a:p>
            <a:r>
              <a:rPr lang="en-IN" sz="1400" dirty="0"/>
              <a:t>One example: (Bread, Milk)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Support (Bread and Milk) = 2/4 = 0.5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Support (Bread) = 3/4 = 0.75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Support (Milk) = 3/4 = 0.75</a:t>
            </a:r>
          </a:p>
          <a:p>
            <a:endParaRPr lang="en-IN" sz="1400" dirty="0"/>
          </a:p>
          <a:p>
            <a:r>
              <a:rPr lang="en-IN" sz="1400" dirty="0"/>
              <a:t>Possible rules: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Milk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Confidence = 0.5/0.75 = 0.67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Milk -&gt; Bread</a:t>
            </a:r>
          </a:p>
          <a:p>
            <a:pPr marL="742950" lvl="1" indent="-285750">
              <a:buFontTx/>
              <a:buChar char="-"/>
            </a:pPr>
            <a:r>
              <a:rPr lang="en-IN" sz="1400" dirty="0"/>
              <a:t>Confidence = 0.5/0.75 = 0.67</a:t>
            </a:r>
            <a:endParaRPr lang="en-GB" sz="1400" dirty="0"/>
          </a:p>
          <a:p>
            <a:pPr lvl="1"/>
            <a:endParaRPr lang="en-GB" sz="1400" dirty="0"/>
          </a:p>
          <a:p>
            <a:r>
              <a:rPr lang="en-IN" sz="1400"/>
              <a:t>Repeat for (Bread, Butter)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15927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39B1E6-4ECD-A0FA-21D5-33AD39043EDA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FP-Growth Algorithm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CB43A-D9D5-88A2-97C0-A605287E5D77}"/>
              </a:ext>
            </a:extLst>
          </p:cNvPr>
          <p:cNvSpPr txBox="1"/>
          <p:nvPr/>
        </p:nvSpPr>
        <p:spPr>
          <a:xfrm>
            <a:off x="137373" y="767816"/>
            <a:ext cx="3541167" cy="160043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Frequent Pattern Growth Algorithm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Association rule mining technique that finds frequent </a:t>
            </a:r>
            <a:r>
              <a:rPr lang="en-IN" sz="1400" dirty="0" err="1"/>
              <a:t>itemsets</a:t>
            </a:r>
            <a:r>
              <a:rPr lang="en-IN" sz="1400" dirty="0"/>
              <a:t> without generating candidate </a:t>
            </a:r>
            <a:r>
              <a:rPr lang="en-IN" sz="1400" dirty="0" err="1"/>
              <a:t>itemsets</a:t>
            </a:r>
            <a:r>
              <a:rPr lang="en-IN" sz="1400" dirty="0"/>
              <a:t> (unlike </a:t>
            </a:r>
            <a:r>
              <a:rPr lang="en-IN" sz="1400" dirty="0" err="1"/>
              <a:t>Apriori</a:t>
            </a:r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Advantage: Much faster on larger datasets</a:t>
            </a:r>
            <a:endParaRPr lang="en-GB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252E5-F1A3-23CF-CA6B-7F34EF0C9320}"/>
              </a:ext>
            </a:extLst>
          </p:cNvPr>
          <p:cNvSpPr txBox="1"/>
          <p:nvPr/>
        </p:nvSpPr>
        <p:spPr>
          <a:xfrm>
            <a:off x="137373" y="2483771"/>
            <a:ext cx="3541167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Two phases</a:t>
            </a:r>
          </a:p>
          <a:p>
            <a:endParaRPr lang="en-IN" sz="1400" b="1" dirty="0"/>
          </a:p>
          <a:p>
            <a:r>
              <a:rPr lang="en-IN" sz="1400" b="1" dirty="0"/>
              <a:t>Phase 1: Build FP-Tree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Compress transactions into a tree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Preserve frequency information</a:t>
            </a:r>
          </a:p>
          <a:p>
            <a:pPr marL="285750" indent="-285750">
              <a:buFontTx/>
              <a:buChar char="-"/>
            </a:pPr>
            <a:endParaRPr lang="en-GB" sz="1400" dirty="0"/>
          </a:p>
          <a:p>
            <a:r>
              <a:rPr lang="en-IN" sz="1400" b="1" dirty="0"/>
              <a:t>Phase 2: Mine frequent patterns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Extract frequent </a:t>
            </a:r>
            <a:r>
              <a:rPr lang="en-IN" sz="1400" dirty="0" err="1"/>
              <a:t>itemsets</a:t>
            </a:r>
            <a:r>
              <a:rPr lang="en-IN" sz="1400" dirty="0"/>
              <a:t> from the tree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No candidate generation</a:t>
            </a:r>
            <a:endParaRPr lang="en-GB" sz="1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C5724C-4DA7-6AE7-B124-260A68815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394390"/>
              </p:ext>
            </p:extLst>
          </p:nvPr>
        </p:nvGraphicFramePr>
        <p:xfrm>
          <a:off x="137373" y="4977119"/>
          <a:ext cx="3541167" cy="182880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715961">
                  <a:extLst>
                    <a:ext uri="{9D8B030D-6E8A-4147-A177-3AD203B41FA5}">
                      <a16:colId xmlns:a16="http://schemas.microsoft.com/office/drawing/2014/main" val="3645117958"/>
                    </a:ext>
                  </a:extLst>
                </a:gridCol>
                <a:gridCol w="2825206">
                  <a:extLst>
                    <a:ext uri="{9D8B030D-6E8A-4147-A177-3AD203B41FA5}">
                      <a16:colId xmlns:a16="http://schemas.microsoft.com/office/drawing/2014/main" val="2794275391"/>
                    </a:ext>
                  </a:extLst>
                </a:gridCol>
              </a:tblGrid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9719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98346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1722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12475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80646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451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56CC4C-6FA8-DE6C-16BD-57E60B6B4DD9}"/>
              </a:ext>
            </a:extLst>
          </p:cNvPr>
          <p:cNvSpPr txBox="1"/>
          <p:nvPr/>
        </p:nvSpPr>
        <p:spPr>
          <a:xfrm>
            <a:off x="169898" y="4669342"/>
            <a:ext cx="347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Sample dataset, Min Support = 3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EE9AD2-9EA9-6929-0C2F-B1826B392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965270"/>
              </p:ext>
            </p:extLst>
          </p:nvPr>
        </p:nvGraphicFramePr>
        <p:xfrm>
          <a:off x="3867586" y="666739"/>
          <a:ext cx="2547174" cy="15240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273587">
                  <a:extLst>
                    <a:ext uri="{9D8B030D-6E8A-4147-A177-3AD203B41FA5}">
                      <a16:colId xmlns:a16="http://schemas.microsoft.com/office/drawing/2014/main" val="4165510387"/>
                    </a:ext>
                  </a:extLst>
                </a:gridCol>
                <a:gridCol w="1273587">
                  <a:extLst>
                    <a:ext uri="{9D8B030D-6E8A-4147-A177-3AD203B41FA5}">
                      <a16:colId xmlns:a16="http://schemas.microsoft.com/office/drawing/2014/main" val="2709364717"/>
                    </a:ext>
                  </a:extLst>
                </a:gridCol>
              </a:tblGrid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194194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434987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788323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162388"/>
                  </a:ext>
                </a:extLst>
              </a:tr>
              <a:tr h="264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5155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F7D934D-0884-5578-F561-32EF6F14EC40}"/>
              </a:ext>
            </a:extLst>
          </p:cNvPr>
          <p:cNvSpPr txBox="1"/>
          <p:nvPr/>
        </p:nvSpPr>
        <p:spPr>
          <a:xfrm>
            <a:off x="3867586" y="139879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1: Count item frequency (1</a:t>
            </a:r>
            <a:r>
              <a:rPr lang="en-IN" sz="1400" baseline="30000" dirty="0"/>
              <a:t>st</a:t>
            </a:r>
            <a:r>
              <a:rPr lang="en-IN" sz="1400" dirty="0"/>
              <a:t> scan)</a:t>
            </a:r>
            <a:endParaRPr lang="en-GB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80ABF-1186-B34B-3473-91875396A719}"/>
              </a:ext>
            </a:extLst>
          </p:cNvPr>
          <p:cNvSpPr txBox="1"/>
          <p:nvPr/>
        </p:nvSpPr>
        <p:spPr>
          <a:xfrm>
            <a:off x="3867586" y="2429519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2: Sort items in each transaction (Descending order)</a:t>
            </a:r>
            <a:endParaRPr lang="en-GB" sz="14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1E98B9-EF56-F866-F1D5-2AE1FD5A0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763107"/>
              </p:ext>
            </p:extLst>
          </p:nvPr>
        </p:nvGraphicFramePr>
        <p:xfrm>
          <a:off x="3867586" y="2952739"/>
          <a:ext cx="2596036" cy="18288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67382">
                  <a:extLst>
                    <a:ext uri="{9D8B030D-6E8A-4147-A177-3AD203B41FA5}">
                      <a16:colId xmlns:a16="http://schemas.microsoft.com/office/drawing/2014/main" val="2363393146"/>
                    </a:ext>
                  </a:extLst>
                </a:gridCol>
                <a:gridCol w="1528654">
                  <a:extLst>
                    <a:ext uri="{9D8B030D-6E8A-4147-A177-3AD203B41FA5}">
                      <a16:colId xmlns:a16="http://schemas.microsoft.com/office/drawing/2014/main" val="61147873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Sorted 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091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64052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62234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Milk,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43004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Bread, Milk, 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526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10446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18DDAC4-5BBD-B6E4-015A-8E007CF356CC}"/>
              </a:ext>
            </a:extLst>
          </p:cNvPr>
          <p:cNvSpPr txBox="1"/>
          <p:nvPr/>
        </p:nvSpPr>
        <p:spPr>
          <a:xfrm>
            <a:off x="6999348" y="566678"/>
            <a:ext cx="36244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NULL</a:t>
            </a:r>
          </a:p>
          <a:p>
            <a:r>
              <a:rPr lang="en-GB" dirty="0"/>
              <a:t> ├─ Bread(4)</a:t>
            </a:r>
          </a:p>
          <a:p>
            <a:r>
              <a:rPr lang="en-GB" dirty="0"/>
              <a:t> │   └─ Milk(3)</a:t>
            </a:r>
          </a:p>
          <a:p>
            <a:r>
              <a:rPr lang="en-GB" dirty="0"/>
              <a:t> │       ├─ Cola(1)</a:t>
            </a:r>
          </a:p>
          <a:p>
            <a:r>
              <a:rPr lang="en-GB" dirty="0"/>
              <a:t> │       └─ Eggs(1)</a:t>
            </a:r>
          </a:p>
          <a:p>
            <a:r>
              <a:rPr lang="en-GB" dirty="0"/>
              <a:t> │   └─ Cola(1)</a:t>
            </a:r>
          </a:p>
          <a:p>
            <a:r>
              <a:rPr lang="en-GB" dirty="0"/>
              <a:t> │       └─ Eggs(1)</a:t>
            </a:r>
          </a:p>
          <a:p>
            <a:r>
              <a:rPr lang="en-GB" dirty="0"/>
              <a:t> └─ Milk(1)</a:t>
            </a:r>
          </a:p>
          <a:p>
            <a:r>
              <a:rPr lang="en-GB" dirty="0"/>
              <a:t>     └─ Cola(1)</a:t>
            </a:r>
          </a:p>
          <a:p>
            <a:r>
              <a:rPr lang="en-GB" dirty="0"/>
              <a:t>         └─ Eggs(1)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9FC48-6342-3088-2D23-D610AF54B257}"/>
              </a:ext>
            </a:extLst>
          </p:cNvPr>
          <p:cNvSpPr txBox="1"/>
          <p:nvPr/>
        </p:nvSpPr>
        <p:spPr>
          <a:xfrm>
            <a:off x="6553782" y="120820"/>
            <a:ext cx="254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3: Conceptual FP-Tree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EECE97-07FE-C71F-7373-F1B70BFDD68B}"/>
              </a:ext>
            </a:extLst>
          </p:cNvPr>
          <p:cNvSpPr txBox="1"/>
          <p:nvPr/>
        </p:nvSpPr>
        <p:spPr>
          <a:xfrm>
            <a:off x="9117582" y="139879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4: Mining Frequent Patterns</a:t>
            </a:r>
            <a:endParaRPr lang="en-GB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B8FABF-F147-00DE-746F-843208770C1B}"/>
              </a:ext>
            </a:extLst>
          </p:cNvPr>
          <p:cNvSpPr txBox="1"/>
          <p:nvPr/>
        </p:nvSpPr>
        <p:spPr>
          <a:xfrm>
            <a:off x="9239978" y="678488"/>
            <a:ext cx="2596036" cy="2462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Patterns with Cola</a:t>
            </a:r>
          </a:p>
          <a:p>
            <a:endParaRPr lang="en-IN" sz="1400" dirty="0"/>
          </a:p>
          <a:p>
            <a:r>
              <a:rPr lang="en-IN" sz="1400" dirty="0"/>
              <a:t>Conditional pattern base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Milk -&gt; Cola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Cola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Milk -&gt; Cola</a:t>
            </a:r>
          </a:p>
          <a:p>
            <a:endParaRPr lang="en-IN" sz="1400" dirty="0"/>
          </a:p>
          <a:p>
            <a:r>
              <a:rPr lang="en-IN" sz="1400" dirty="0"/>
              <a:t>Frequent </a:t>
            </a:r>
            <a:r>
              <a:rPr lang="en-IN" sz="1400" dirty="0" err="1"/>
              <a:t>itemsets</a:t>
            </a:r>
            <a:endParaRPr lang="en-IN" sz="1400" dirty="0"/>
          </a:p>
          <a:p>
            <a:pPr marL="285750" indent="-285750">
              <a:buFontTx/>
              <a:buChar char="-"/>
            </a:pPr>
            <a:r>
              <a:rPr lang="en-IN" sz="1400" dirty="0"/>
              <a:t>{Cola}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{Bread, Cola}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{Milk, Cola}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D4F771-B803-B1D4-1FFE-E9F5DA2BD63C}"/>
              </a:ext>
            </a:extLst>
          </p:cNvPr>
          <p:cNvSpPr txBox="1"/>
          <p:nvPr/>
        </p:nvSpPr>
        <p:spPr>
          <a:xfrm>
            <a:off x="9239978" y="3283989"/>
            <a:ext cx="2596036" cy="24622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Patterns with Eggs</a:t>
            </a:r>
          </a:p>
          <a:p>
            <a:endParaRPr lang="en-IN" sz="1400" dirty="0"/>
          </a:p>
          <a:p>
            <a:r>
              <a:rPr lang="en-IN" sz="1400" dirty="0"/>
              <a:t>Conditional pattern base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Milk -&gt; Eggs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Bread -&gt; Eggs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Milk -&gt; Eggs</a:t>
            </a:r>
          </a:p>
          <a:p>
            <a:endParaRPr lang="en-IN" sz="1400" dirty="0"/>
          </a:p>
          <a:p>
            <a:r>
              <a:rPr lang="en-IN" sz="1400" dirty="0"/>
              <a:t>Frequent </a:t>
            </a:r>
            <a:r>
              <a:rPr lang="en-IN" sz="1400" dirty="0" err="1"/>
              <a:t>itemsets</a:t>
            </a:r>
            <a:endParaRPr lang="en-IN" sz="1400" dirty="0"/>
          </a:p>
          <a:p>
            <a:pPr marL="285750" indent="-285750">
              <a:buFontTx/>
              <a:buChar char="-"/>
            </a:pPr>
            <a:r>
              <a:rPr lang="en-IN" sz="1400" dirty="0"/>
              <a:t>{Eggs}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{Bread, Eggs}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{Milk, Eggs}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4CD50F-44A6-C79F-CD7C-D4164E48C8CB}"/>
              </a:ext>
            </a:extLst>
          </p:cNvPr>
          <p:cNvSpPr txBox="1"/>
          <p:nvPr/>
        </p:nvSpPr>
        <p:spPr>
          <a:xfrm>
            <a:off x="6839677" y="4343706"/>
            <a:ext cx="1975383" cy="20313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{Bread}</a:t>
            </a:r>
          </a:p>
          <a:p>
            <a:r>
              <a:rPr lang="en-IN" sz="1400" dirty="0"/>
              <a:t>{Milk}</a:t>
            </a:r>
          </a:p>
          <a:p>
            <a:r>
              <a:rPr lang="en-IN" sz="1400" dirty="0"/>
              <a:t>{Cola}</a:t>
            </a:r>
          </a:p>
          <a:p>
            <a:r>
              <a:rPr lang="en-IN" sz="1400" dirty="0"/>
              <a:t>{Eggs}</a:t>
            </a:r>
          </a:p>
          <a:p>
            <a:r>
              <a:rPr lang="en-IN" sz="1400" dirty="0"/>
              <a:t>{Bread, Milk}</a:t>
            </a:r>
          </a:p>
          <a:p>
            <a:r>
              <a:rPr lang="en-IN" sz="1400" dirty="0"/>
              <a:t>{Bread, Cola}</a:t>
            </a:r>
          </a:p>
          <a:p>
            <a:r>
              <a:rPr lang="en-IN" sz="1400" dirty="0"/>
              <a:t>{Milk, Cola}</a:t>
            </a:r>
          </a:p>
          <a:p>
            <a:r>
              <a:rPr lang="en-IN" sz="1400" dirty="0"/>
              <a:t>{Bread, Eggs}</a:t>
            </a:r>
          </a:p>
          <a:p>
            <a:r>
              <a:rPr lang="en-IN" sz="1400" dirty="0"/>
              <a:t>{Milk, Eggs}</a:t>
            </a:r>
            <a:endParaRPr lang="en-GB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DB7299-3891-2757-F15C-7A39A13F87FD}"/>
              </a:ext>
            </a:extLst>
          </p:cNvPr>
          <p:cNvSpPr txBox="1"/>
          <p:nvPr/>
        </p:nvSpPr>
        <p:spPr>
          <a:xfrm>
            <a:off x="6636526" y="3802771"/>
            <a:ext cx="2175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6: Final Frequent </a:t>
            </a:r>
            <a:r>
              <a:rPr lang="en-IN" sz="1400" dirty="0" err="1"/>
              <a:t>Itemsets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270991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4EB731-D35D-C6AC-B632-2A0B9233FF19}"/>
              </a:ext>
            </a:extLst>
          </p:cNvPr>
          <p:cNvSpPr txBox="1">
            <a:spLocks/>
          </p:cNvSpPr>
          <p:nvPr/>
        </p:nvSpPr>
        <p:spPr>
          <a:xfrm>
            <a:off x="91324" y="120820"/>
            <a:ext cx="3840443" cy="807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ELCAT Algorithm</a:t>
            </a:r>
            <a:endParaRPr lang="en-GB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92BB4-C195-E7DF-EC23-7E1E281BFEC2}"/>
              </a:ext>
            </a:extLst>
          </p:cNvPr>
          <p:cNvSpPr txBox="1"/>
          <p:nvPr/>
        </p:nvSpPr>
        <p:spPr>
          <a:xfrm>
            <a:off x="137373" y="767816"/>
            <a:ext cx="3541167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Equivalent Class Transformation</a:t>
            </a:r>
            <a:endParaRPr lang="en-IN" sz="1400" dirty="0"/>
          </a:p>
          <a:p>
            <a:endParaRPr lang="en-IN" sz="1400" dirty="0"/>
          </a:p>
          <a:p>
            <a:r>
              <a:rPr lang="en-US" sz="1400" dirty="0"/>
              <a:t>Finds frequent </a:t>
            </a:r>
            <a:r>
              <a:rPr lang="en-US" sz="1400" dirty="0" err="1"/>
              <a:t>itemsets</a:t>
            </a:r>
            <a:r>
              <a:rPr lang="en-US" sz="1400" dirty="0"/>
              <a:t> by intersecting transaction ID lists (TID-lists)</a:t>
            </a:r>
            <a:endParaRPr lang="en-IN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00494F-402E-E7B4-0F10-FA3E5C4D50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068169"/>
              </p:ext>
            </p:extLst>
          </p:nvPr>
        </p:nvGraphicFramePr>
        <p:xfrm>
          <a:off x="169899" y="2150158"/>
          <a:ext cx="3541167" cy="182880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715961">
                  <a:extLst>
                    <a:ext uri="{9D8B030D-6E8A-4147-A177-3AD203B41FA5}">
                      <a16:colId xmlns:a16="http://schemas.microsoft.com/office/drawing/2014/main" val="3645117958"/>
                    </a:ext>
                  </a:extLst>
                </a:gridCol>
                <a:gridCol w="2825206">
                  <a:extLst>
                    <a:ext uri="{9D8B030D-6E8A-4147-A177-3AD203B41FA5}">
                      <a16:colId xmlns:a16="http://schemas.microsoft.com/office/drawing/2014/main" val="2794275391"/>
                    </a:ext>
                  </a:extLst>
                </a:gridCol>
              </a:tblGrid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99719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98346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71722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Milk, Cola,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712475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806461"/>
                  </a:ext>
                </a:extLst>
              </a:tr>
              <a:tr h="277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Bread, Milk, 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4451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671EED-03C2-0122-50EE-CB307118FBD1}"/>
              </a:ext>
            </a:extLst>
          </p:cNvPr>
          <p:cNvSpPr txBox="1"/>
          <p:nvPr/>
        </p:nvSpPr>
        <p:spPr>
          <a:xfrm>
            <a:off x="202424" y="1842381"/>
            <a:ext cx="347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Sample dataset, Min Support = 3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02030-624C-F81A-744D-52BBF8C7C576}"/>
              </a:ext>
            </a:extLst>
          </p:cNvPr>
          <p:cNvSpPr txBox="1"/>
          <p:nvPr/>
        </p:nvSpPr>
        <p:spPr>
          <a:xfrm>
            <a:off x="169899" y="4193529"/>
            <a:ext cx="34761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Rearrange to have Item -&gt; TID list</a:t>
            </a:r>
            <a:endParaRPr lang="en-GB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5C9EAE-5A60-E65D-4FA1-24A434B56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822305"/>
              </p:ext>
            </p:extLst>
          </p:nvPr>
        </p:nvGraphicFramePr>
        <p:xfrm>
          <a:off x="137373" y="4501306"/>
          <a:ext cx="3573693" cy="1524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784007">
                  <a:extLst>
                    <a:ext uri="{9D8B030D-6E8A-4147-A177-3AD203B41FA5}">
                      <a16:colId xmlns:a16="http://schemas.microsoft.com/office/drawing/2014/main" val="35555995"/>
                    </a:ext>
                  </a:extLst>
                </a:gridCol>
                <a:gridCol w="1598455">
                  <a:extLst>
                    <a:ext uri="{9D8B030D-6E8A-4147-A177-3AD203B41FA5}">
                      <a16:colId xmlns:a16="http://schemas.microsoft.com/office/drawing/2014/main" val="3956983461"/>
                    </a:ext>
                  </a:extLst>
                </a:gridCol>
                <a:gridCol w="1191231">
                  <a:extLst>
                    <a:ext uri="{9D8B030D-6E8A-4147-A177-3AD203B41FA5}">
                      <a16:colId xmlns:a16="http://schemas.microsoft.com/office/drawing/2014/main" val="2689623778"/>
                    </a:ext>
                  </a:extLst>
                </a:gridCol>
              </a:tblGrid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TID-list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177880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{T1, T2, T4, T5}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075438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Milk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{T1, T3, T4, T5}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82354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{T2, T3, T4}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3014095"/>
                  </a:ext>
                </a:extLst>
              </a:tr>
              <a:tr h="26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Eggs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{T2, T3, T5}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3538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5A3A740-13DB-BC97-49B2-097750C3ADE9}"/>
              </a:ext>
            </a:extLst>
          </p:cNvPr>
          <p:cNvSpPr txBox="1"/>
          <p:nvPr/>
        </p:nvSpPr>
        <p:spPr>
          <a:xfrm>
            <a:off x="137373" y="6093675"/>
            <a:ext cx="3573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Key point: The only database scan needed</a:t>
            </a:r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51B20-3983-EED5-7B5E-7B6F0FAD5086}"/>
              </a:ext>
            </a:extLst>
          </p:cNvPr>
          <p:cNvSpPr txBox="1"/>
          <p:nvPr/>
        </p:nvSpPr>
        <p:spPr>
          <a:xfrm>
            <a:off x="4121634" y="205009"/>
            <a:ext cx="254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1: Frequent 1-itemsets (L1)</a:t>
            </a:r>
            <a:endParaRPr lang="en-GB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6C445C-8EED-E7F7-7D0F-BBA592858957}"/>
              </a:ext>
            </a:extLst>
          </p:cNvPr>
          <p:cNvSpPr txBox="1"/>
          <p:nvPr/>
        </p:nvSpPr>
        <p:spPr>
          <a:xfrm>
            <a:off x="3977816" y="694324"/>
            <a:ext cx="3086100" cy="73866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All items satisfy min support ≥ 3</a:t>
            </a:r>
          </a:p>
          <a:p>
            <a:pPr algn="ctr"/>
            <a:endParaRPr lang="en-US" sz="1400" dirty="0"/>
          </a:p>
          <a:p>
            <a:pPr algn="ctr"/>
            <a:r>
              <a:rPr lang="en-GB" sz="1400" dirty="0"/>
              <a:t>L1 = {Bread}, {Milk}, {Cola}, {Eggs}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33F16-998A-692A-484A-C69A0431CD1C}"/>
              </a:ext>
            </a:extLst>
          </p:cNvPr>
          <p:cNvSpPr txBox="1"/>
          <p:nvPr/>
        </p:nvSpPr>
        <p:spPr>
          <a:xfrm>
            <a:off x="7325523" y="183987"/>
            <a:ext cx="25471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2: Frequent 2-itemsets </a:t>
            </a:r>
          </a:p>
          <a:p>
            <a:pPr algn="ctr"/>
            <a:r>
              <a:rPr lang="en-IN" sz="1400" dirty="0"/>
              <a:t>(TID intersection)</a:t>
            </a: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FF4A3-0947-9BE2-0C80-BC74BFC7F350}"/>
              </a:ext>
            </a:extLst>
          </p:cNvPr>
          <p:cNvSpPr txBox="1"/>
          <p:nvPr/>
        </p:nvSpPr>
        <p:spPr>
          <a:xfrm>
            <a:off x="7181704" y="707207"/>
            <a:ext cx="3086100" cy="56938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{Bread, Milk}</a:t>
            </a:r>
          </a:p>
          <a:p>
            <a:r>
              <a:rPr lang="fr-FR" sz="1400" dirty="0" err="1"/>
              <a:t>Bread</a:t>
            </a:r>
            <a:r>
              <a:rPr lang="fr-FR" sz="1400" dirty="0"/>
              <a:t>  → {T1, T2, T4, T5}</a:t>
            </a:r>
          </a:p>
          <a:p>
            <a:r>
              <a:rPr lang="fr-FR" sz="1400" dirty="0"/>
              <a:t>Milk   → {T1, T3, T4, T5}</a:t>
            </a:r>
          </a:p>
          <a:p>
            <a:r>
              <a:rPr lang="fr-FR" sz="1400" dirty="0"/>
              <a:t>----------------------------------</a:t>
            </a:r>
          </a:p>
          <a:p>
            <a:r>
              <a:rPr lang="fr-FR" sz="1400" dirty="0"/>
              <a:t>Intersection = {T1, T4, T5}</a:t>
            </a:r>
          </a:p>
          <a:p>
            <a:r>
              <a:rPr lang="fr-FR" sz="1400" dirty="0"/>
              <a:t>Support = 3 (Ok)</a:t>
            </a:r>
          </a:p>
          <a:p>
            <a:endParaRPr lang="fr-FR" sz="1400" dirty="0"/>
          </a:p>
          <a:p>
            <a:r>
              <a:rPr lang="fr-FR" sz="1400" dirty="0"/>
              <a:t>{</a:t>
            </a:r>
            <a:r>
              <a:rPr lang="fr-FR" sz="1400" dirty="0" err="1"/>
              <a:t>Bread</a:t>
            </a:r>
            <a:r>
              <a:rPr lang="fr-FR" sz="1400" dirty="0"/>
              <a:t>, Cola}</a:t>
            </a:r>
          </a:p>
          <a:p>
            <a:r>
              <a:rPr lang="fr-FR" sz="1400" dirty="0"/>
              <a:t>{T1, T2, T4, T5} ∩ {T2, T3, T4} = {T2, T4}</a:t>
            </a:r>
          </a:p>
          <a:p>
            <a:r>
              <a:rPr lang="fr-FR" sz="1400" dirty="0"/>
              <a:t>Support = 2 (Not ok)</a:t>
            </a:r>
          </a:p>
          <a:p>
            <a:endParaRPr lang="fr-FR" sz="1400" dirty="0"/>
          </a:p>
          <a:p>
            <a:r>
              <a:rPr lang="fr-FR" sz="1400" dirty="0"/>
              <a:t>{Milk, Cola}</a:t>
            </a:r>
          </a:p>
          <a:p>
            <a:r>
              <a:rPr lang="fr-FR" sz="1400" dirty="0"/>
              <a:t>{T1, T3, T4, T5} ∩ {T2, T3, T4} = {T3, T4}</a:t>
            </a:r>
          </a:p>
          <a:p>
            <a:r>
              <a:rPr lang="fr-FR" sz="1400" dirty="0"/>
              <a:t>Support = 2 (Not ok)</a:t>
            </a:r>
          </a:p>
          <a:p>
            <a:endParaRPr lang="fr-FR" sz="1400" dirty="0"/>
          </a:p>
          <a:p>
            <a:r>
              <a:rPr lang="fr-FR" sz="1400" dirty="0"/>
              <a:t>{</a:t>
            </a:r>
            <a:r>
              <a:rPr lang="fr-FR" sz="1400" dirty="0" err="1"/>
              <a:t>Bread</a:t>
            </a:r>
            <a:r>
              <a:rPr lang="fr-FR" sz="1400" dirty="0"/>
              <a:t>, </a:t>
            </a:r>
            <a:r>
              <a:rPr lang="fr-FR" sz="1400" dirty="0" err="1"/>
              <a:t>Eggs</a:t>
            </a:r>
            <a:r>
              <a:rPr lang="fr-FR" sz="1400" dirty="0"/>
              <a:t>}</a:t>
            </a:r>
          </a:p>
          <a:p>
            <a:r>
              <a:rPr lang="fr-FR" sz="1400" dirty="0"/>
              <a:t>{T1, T2, T4, T5} ∩ {T2, T3, T5} = {T2, T5}</a:t>
            </a:r>
          </a:p>
          <a:p>
            <a:r>
              <a:rPr lang="fr-FR" sz="1400" dirty="0"/>
              <a:t>Support = 2 (Not ok)</a:t>
            </a:r>
          </a:p>
          <a:p>
            <a:endParaRPr lang="fr-FR" sz="1400" dirty="0"/>
          </a:p>
          <a:p>
            <a:r>
              <a:rPr lang="fr-FR" sz="1400" dirty="0"/>
              <a:t>{Milk, </a:t>
            </a:r>
            <a:r>
              <a:rPr lang="fr-FR" sz="1400" dirty="0" err="1"/>
              <a:t>Eggs</a:t>
            </a:r>
            <a:r>
              <a:rPr lang="fr-FR" sz="1400" dirty="0"/>
              <a:t>}</a:t>
            </a:r>
          </a:p>
          <a:p>
            <a:r>
              <a:rPr lang="fr-FR" sz="1400" dirty="0"/>
              <a:t>{T1, T3, T4, T5} ∩ {T2, T3, T5} = {T3, T5}</a:t>
            </a:r>
          </a:p>
          <a:p>
            <a:r>
              <a:rPr lang="fr-FR" sz="1400" dirty="0"/>
              <a:t>Support = 2 </a:t>
            </a:r>
          </a:p>
          <a:p>
            <a:endParaRPr lang="fr-FR" sz="1400" dirty="0"/>
          </a:p>
          <a:p>
            <a:r>
              <a:rPr lang="fr-FR" sz="1400" dirty="0"/>
              <a:t>{Cola, </a:t>
            </a:r>
            <a:r>
              <a:rPr lang="fr-FR" sz="1400" dirty="0" err="1"/>
              <a:t>Eggs</a:t>
            </a:r>
            <a:r>
              <a:rPr lang="fr-FR" sz="1400" dirty="0"/>
              <a:t>}</a:t>
            </a:r>
          </a:p>
          <a:p>
            <a:r>
              <a:rPr lang="fr-FR" sz="1400" dirty="0"/>
              <a:t>{T2, T3, T4} ∩ {T2, T3, T5} = {T2, T3}</a:t>
            </a:r>
          </a:p>
          <a:p>
            <a:r>
              <a:rPr lang="fr-FR" sz="1400" dirty="0"/>
              <a:t>Support = 2 (Not ok)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63A566-4A52-4EA7-E96E-7CFC449116CF}"/>
              </a:ext>
            </a:extLst>
          </p:cNvPr>
          <p:cNvSpPr txBox="1"/>
          <p:nvPr/>
        </p:nvSpPr>
        <p:spPr>
          <a:xfrm>
            <a:off x="4302729" y="3593365"/>
            <a:ext cx="1975383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L1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{Bread} (4)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{Milk} (4)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{Cola} (4)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{Eggs} (4)</a:t>
            </a:r>
          </a:p>
          <a:p>
            <a:endParaRPr lang="en-IN" sz="1400" dirty="0"/>
          </a:p>
          <a:p>
            <a:r>
              <a:rPr lang="en-IN" sz="1400" dirty="0"/>
              <a:t>L2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{Bread, Milk} (3)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AF72D0-653A-6B53-5130-115F82D56124}"/>
              </a:ext>
            </a:extLst>
          </p:cNvPr>
          <p:cNvSpPr txBox="1"/>
          <p:nvPr/>
        </p:nvSpPr>
        <p:spPr>
          <a:xfrm>
            <a:off x="3977816" y="3189981"/>
            <a:ext cx="2547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Step 3: Frequent </a:t>
            </a:r>
            <a:r>
              <a:rPr lang="en-IN" sz="1400" dirty="0" err="1"/>
              <a:t>itemsets</a:t>
            </a:r>
            <a:r>
              <a:rPr lang="en-IN" sz="1400" dirty="0"/>
              <a:t> found</a:t>
            </a:r>
          </a:p>
        </p:txBody>
      </p:sp>
    </p:spTree>
    <p:extLst>
      <p:ext uri="{BB962C8B-B14F-4D97-AF65-F5344CB8AC3E}">
        <p14:creationId xmlns:p14="http://schemas.microsoft.com/office/powerpoint/2010/main" val="117127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CA87F-D5AE-B9BC-E6D6-D06AD99F2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3312"/>
          </a:xfrm>
        </p:spPr>
        <p:txBody>
          <a:bodyPr>
            <a:normAutofit fontScale="90000"/>
          </a:bodyPr>
          <a:lstStyle/>
          <a:p>
            <a:r>
              <a:rPr lang="en-IN" dirty="0"/>
              <a:t>Evaluation and Similarity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057A-0F85-47D0-9789-E44858193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7A68186-E9BE-A477-D078-B4338F3A5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220198"/>
              </p:ext>
            </p:extLst>
          </p:nvPr>
        </p:nvGraphicFramePr>
        <p:xfrm>
          <a:off x="614835" y="546779"/>
          <a:ext cx="10515600" cy="1219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8262100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78219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7741552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15024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Used 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Example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26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Cosine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Before / during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Point similarity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Compare 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55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Silhouette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After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Point-level cluster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Does a point belong?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927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Davies–Bouldin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After clustering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Cluster-level 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Are clusters good?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3637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31FE88-DCE9-1586-12FF-9355BFA15F22}"/>
              </a:ext>
            </a:extLst>
          </p:cNvPr>
          <p:cNvSpPr txBox="1"/>
          <p:nvPr/>
        </p:nvSpPr>
        <p:spPr>
          <a:xfrm>
            <a:off x="195444" y="2045185"/>
            <a:ext cx="2819982" cy="3754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dirty="0"/>
              <a:t>Example: Run K-Means (k = 2) on customer data</a:t>
            </a:r>
          </a:p>
          <a:p>
            <a:endParaRPr lang="en-IN" sz="1400" dirty="0"/>
          </a:p>
          <a:p>
            <a:r>
              <a:rPr lang="en-IN" sz="1400" dirty="0"/>
              <a:t>Features: Annual spending, Visit frequency</a:t>
            </a:r>
          </a:p>
          <a:p>
            <a:endParaRPr lang="en-IN" sz="1400" dirty="0"/>
          </a:p>
          <a:p>
            <a:r>
              <a:rPr lang="en-IN" sz="1400" dirty="0"/>
              <a:t>Labels: Unknown (Unsupervised learning)</a:t>
            </a:r>
          </a:p>
          <a:p>
            <a:endParaRPr lang="en-IN" sz="1400" dirty="0"/>
          </a:p>
          <a:p>
            <a:r>
              <a:rPr lang="en-IN" sz="1400" dirty="0"/>
              <a:t>After clustering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Cluster A: Regular customers</a:t>
            </a:r>
          </a:p>
          <a:p>
            <a:pPr marL="285750" indent="-285750">
              <a:buFontTx/>
              <a:buChar char="-"/>
            </a:pPr>
            <a:r>
              <a:rPr lang="en-IN" sz="1400" dirty="0"/>
              <a:t>Cluster B: Occasional customers</a:t>
            </a:r>
          </a:p>
          <a:p>
            <a:endParaRPr lang="en-IN" sz="1400" dirty="0"/>
          </a:p>
          <a:p>
            <a:r>
              <a:rPr lang="en-IN" sz="1400" dirty="0"/>
              <a:t>Objectives</a:t>
            </a:r>
          </a:p>
          <a:p>
            <a:pPr marL="342900" indent="-342900">
              <a:buAutoNum type="arabicPeriod"/>
            </a:pPr>
            <a:r>
              <a:rPr lang="en-IN" sz="1400" dirty="0"/>
              <a:t>Measure similarity between points</a:t>
            </a:r>
          </a:p>
          <a:p>
            <a:pPr marL="342900" indent="-342900">
              <a:buAutoNum type="arabicPeriod"/>
            </a:pPr>
            <a:r>
              <a:rPr lang="en-IN" sz="1400" dirty="0"/>
              <a:t>Judge how good clustering is</a:t>
            </a:r>
            <a:endParaRPr lang="en-GB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04443-9153-9879-B538-078692FDCDF5}"/>
              </a:ext>
            </a:extLst>
          </p:cNvPr>
          <p:cNvSpPr txBox="1"/>
          <p:nvPr/>
        </p:nvSpPr>
        <p:spPr>
          <a:xfrm>
            <a:off x="3052653" y="2045185"/>
            <a:ext cx="2819982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Cosine Similarity</a:t>
            </a:r>
          </a:p>
          <a:p>
            <a:endParaRPr lang="en-GB" sz="1400" dirty="0"/>
          </a:p>
          <a:p>
            <a:r>
              <a:rPr lang="en-GB" sz="1400" dirty="0"/>
              <a:t>Customer vectors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Customer 1 = (High spending, High visits) -&gt; (8, 7)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Customer 2 = (High spending, Medium visits) =&gt; (7, 6)</a:t>
            </a:r>
          </a:p>
          <a:p>
            <a:endParaRPr lang="en-GB" sz="1400" dirty="0"/>
          </a:p>
          <a:p>
            <a:r>
              <a:rPr lang="en-GB" sz="1400" dirty="0"/>
              <a:t>Cosine similarity = High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Both point in almost the same direction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Even if spending amounts differs, their behaviour pattern is similar</a:t>
            </a:r>
          </a:p>
          <a:p>
            <a:endParaRPr lang="en-GB" sz="1400" dirty="0"/>
          </a:p>
          <a:p>
            <a:r>
              <a:rPr lang="en-GB" sz="1400" dirty="0"/>
              <a:t>Summary: Helps decide which points are similar when no labels exist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3806F-F5C8-81C8-312E-C24DAEDDBD65}"/>
              </a:ext>
            </a:extLst>
          </p:cNvPr>
          <p:cNvSpPr txBox="1"/>
          <p:nvPr/>
        </p:nvSpPr>
        <p:spPr>
          <a:xfrm>
            <a:off x="5909862" y="2045185"/>
            <a:ext cx="2819982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Silhouette Score</a:t>
            </a:r>
          </a:p>
          <a:p>
            <a:endParaRPr lang="en-GB" sz="1400" dirty="0"/>
          </a:p>
          <a:p>
            <a:r>
              <a:rPr lang="en-GB" sz="1400" dirty="0"/>
              <a:t>One customer in Cluster A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a = Average distance to other customers in Cluster A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b = Average distance to customers in nearest another cluster (B)</a:t>
            </a:r>
          </a:p>
          <a:p>
            <a:endParaRPr lang="en-GB" sz="1400" dirty="0"/>
          </a:p>
          <a:p>
            <a:r>
              <a:rPr lang="en-GB" sz="1400" dirty="0"/>
              <a:t>If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a is small (close to own cluster)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b is large (far from another cluster)</a:t>
            </a:r>
          </a:p>
          <a:p>
            <a:endParaRPr lang="en-GB" sz="1400" dirty="0"/>
          </a:p>
          <a:p>
            <a:r>
              <a:rPr lang="en-GB" sz="1400" dirty="0"/>
              <a:t>Silhouette score ≈ 1</a:t>
            </a:r>
          </a:p>
          <a:p>
            <a:endParaRPr lang="en-GB" sz="1400" dirty="0"/>
          </a:p>
          <a:p>
            <a:r>
              <a:rPr lang="en-GB" sz="1400" dirty="0"/>
              <a:t>If score ≈ 1 -&gt; Correct cluster assignment</a:t>
            </a:r>
          </a:p>
          <a:p>
            <a:r>
              <a:rPr lang="en-GB" sz="1400" dirty="0"/>
              <a:t>If score ≈ 0 -&gt; Clusters overlap</a:t>
            </a:r>
          </a:p>
          <a:p>
            <a:r>
              <a:rPr lang="en-GB" sz="1400" dirty="0"/>
              <a:t>If score &lt; 0 -&gt; Wrong cluster assignment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2B866-D47E-11F5-5BA4-338323460F54}"/>
              </a:ext>
            </a:extLst>
          </p:cNvPr>
          <p:cNvSpPr txBox="1"/>
          <p:nvPr/>
        </p:nvSpPr>
        <p:spPr>
          <a:xfrm>
            <a:off x="8767071" y="2045185"/>
            <a:ext cx="2819982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Davies-Bouldin Index</a:t>
            </a:r>
          </a:p>
          <a:p>
            <a:endParaRPr lang="en-GB" sz="1400" dirty="0"/>
          </a:p>
          <a:p>
            <a:r>
              <a:rPr lang="en-US" sz="1400" dirty="0"/>
              <a:t>Low DBI value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 A: customers tightly grouped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 B: customers tightly grouped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Distance between cluster centers is large</a:t>
            </a:r>
          </a:p>
          <a:p>
            <a:endParaRPr lang="en-US" sz="1400" dirty="0"/>
          </a:p>
          <a:p>
            <a:r>
              <a:rPr lang="en-US" sz="1400" dirty="0"/>
              <a:t>High DBI value (Bad Clustering)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Clusters are spread out internally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Cluster centers are close</a:t>
            </a:r>
          </a:p>
        </p:txBody>
      </p:sp>
    </p:spTree>
    <p:extLst>
      <p:ext uri="{BB962C8B-B14F-4D97-AF65-F5344CB8AC3E}">
        <p14:creationId xmlns:p14="http://schemas.microsoft.com/office/powerpoint/2010/main" val="119844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2380</Words>
  <Application>Microsoft Office PowerPoint</Application>
  <PresentationFormat>Widescreen</PresentationFormat>
  <Paragraphs>583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Unsupervised Machine Learning</vt:lpstr>
      <vt:lpstr>K-Means Clustering</vt:lpstr>
      <vt:lpstr>K-Means Clustering and Elbow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and Similarity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10</cp:revision>
  <dcterms:created xsi:type="dcterms:W3CDTF">2026-01-19T11:50:40Z</dcterms:created>
  <dcterms:modified xsi:type="dcterms:W3CDTF">2026-01-25T13:35:54Z</dcterms:modified>
</cp:coreProperties>
</file>