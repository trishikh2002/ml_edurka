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70" r:id="rId7"/>
    <p:sldId id="271" r:id="rId8"/>
    <p:sldId id="272" r:id="rId9"/>
    <p:sldId id="273" r:id="rId10"/>
    <p:sldId id="274" r:id="rId11"/>
    <p:sldId id="269" r:id="rId12"/>
    <p:sldId id="281" r:id="rId13"/>
    <p:sldId id="275" r:id="rId14"/>
    <p:sldId id="276" r:id="rId15"/>
    <p:sldId id="277" r:id="rId16"/>
    <p:sldId id="278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64CA-9C3E-99A8-A8B3-8D3264BB8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EC244-01EB-9A46-5C44-E7BFC32F1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2A8D6-1351-447F-B8B8-014DB225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0AFFE-C92E-BA2F-A972-B1A01772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BCE9F-F670-AEE1-D9B4-B8CC4C1E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97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4306-C3C1-A2EC-AFB5-1106F2C7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0B2D-336F-667A-5ECE-53CA87A4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EA0DC-C5E0-56F2-6C94-5C504ED5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4579D-FD32-5778-17F8-1B2CB549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761F-9DCF-1BD3-B5C5-F5DD53F8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51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B19B-2A61-71C9-943B-1CE8608E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6FF3F-EF2C-6CD9-9CB5-5A6F22244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D1977-55F1-226E-B4AD-8C6A33C3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0C9BD-07B5-FE19-A9A0-1B7FC3C4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74AA7-2546-45F4-AFE0-A81796A3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03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894E-204A-97C6-8075-8E53A7D4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7984-C67C-7379-E7D8-AAFD0904C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C6822-7203-01F6-8AA7-7C88A098C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B9DCE-6BD8-5B9B-91F2-DF44B4FB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B50AF-B2BD-272F-F623-F2F4DE1B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B9AD8-0695-60C2-F919-07F15560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47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F575-AB4B-18A5-3784-990B368E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A9A69-111D-E1D2-9827-3064B16B7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C8AD2-CE19-2A89-6996-E54F84EF8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F613B-E72C-CF58-C95D-CAB21B2D6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76B41-F417-93A1-434E-E27990BBD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D88B0-2AC1-CC32-77F6-D6E5174A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E43A10-837D-3031-647A-4EC801A3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1D9282-A82B-6E40-DBD7-03D4FA63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17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4C7E-5B5A-55A2-7E0B-C3A77F68B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27F32-CEC7-E311-5304-9B6E4553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D66FC-2FBE-BC71-719B-D564DAE5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EE6A-8C45-929C-AEEE-7385776D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17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90E1B-1CE2-E757-10D9-5F25DDAC2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F0FF8-59B3-3B52-E301-DEC93411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6900C-CF18-71F5-065C-1DF0645D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68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B13A-F335-7320-B6B4-9E2BC5CC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D3EEA-27E1-D47A-0170-832042126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7D0A2-F0B9-B746-F75C-EB6937E63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94C8B-6959-74E1-ED59-578A21A6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A9240-F1AF-9ED6-768B-944C0774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F899C-457D-93E8-4FAF-3928E429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32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1C12-926C-1928-53EC-BC6022A4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F5310-393E-2E89-E88C-A1CDB852F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4853-338F-A4E1-71C4-C1D6F4DCC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51C3F-A574-2705-5C7C-7C19F7ED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782AC-2B74-E872-D3A4-35397B14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B6B59-6301-C336-93A7-2A4CB5B36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7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A468-DBF2-2919-E884-7C22D0B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805D0-9C8F-0390-896E-CCAA7A994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76417-32DB-FEB7-6288-B368816D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3CEF-1958-B244-739E-823FE198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3D5B-63F5-CCC8-3DF5-6FEE6DC1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18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12453-07E1-5747-D0BA-1B208063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DF6D5-4CDD-BD40-D394-CAAF3349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2EACF-89F5-32D2-BCB0-7BC7E371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32A35-DD23-7ECE-7546-FBACF91A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8EE28-5D7D-4556-CE88-D12A5A9B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73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DDFAC-9934-E78B-742F-AFA1AA9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4B62A-4D24-2F71-C369-7700D58A9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6B0E1-2FB5-0FFA-BC1A-8349DC8A9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2A6B1-85D5-4955-A616-DF87C3C0F9B2}" type="datetimeFigureOut">
              <a:rPr lang="en-GB" smtClean="0"/>
              <a:t>01/02/2026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9586D-9BA2-A6A5-59F2-81934353B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4CD17-D588-B42D-5B4D-4F554A157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82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5E4C-4CC0-6F5D-2BFA-26DD94C47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Clustering Algorithms and Dimensionality Reduction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E4295-96BB-1697-6DCB-4A0DB0A15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354008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A276-3826-7B50-BAFF-2B8CE283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Density-Based Clustering and DBSCAN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2660-FDD6-EBF8-DB1A-2C1D2F1B8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Groups points that are closely packed together and treats sparse points as noise (outliers)</a:t>
            </a:r>
          </a:p>
          <a:p>
            <a:pPr lvl="1"/>
            <a:r>
              <a:rPr lang="en-US" b="1" dirty="0"/>
              <a:t>Clusters </a:t>
            </a:r>
            <a:r>
              <a:rPr lang="en-US" dirty="0"/>
              <a:t>= High-density regions</a:t>
            </a:r>
          </a:p>
          <a:p>
            <a:pPr lvl="1"/>
            <a:r>
              <a:rPr lang="en-US" b="1" dirty="0"/>
              <a:t>Noise</a:t>
            </a:r>
            <a:r>
              <a:rPr lang="en-US" dirty="0"/>
              <a:t> = Low-density regions</a:t>
            </a:r>
          </a:p>
          <a:p>
            <a:r>
              <a:rPr lang="en-US" b="1" dirty="0"/>
              <a:t>DBSCAN (Density-Based Spatial Clustering of Applications with Noise)</a:t>
            </a:r>
          </a:p>
          <a:p>
            <a:pPr lvl="1"/>
            <a:r>
              <a:rPr lang="en-US" dirty="0"/>
              <a:t>Most popular density-based clustering algorithm</a:t>
            </a:r>
          </a:p>
          <a:p>
            <a:r>
              <a:rPr lang="en-US" dirty="0"/>
              <a:t>Simple Intuition</a:t>
            </a:r>
          </a:p>
          <a:p>
            <a:pPr lvl="1"/>
            <a:r>
              <a:rPr lang="en-US" dirty="0"/>
              <a:t>Think of people standing on a field</a:t>
            </a:r>
          </a:p>
          <a:p>
            <a:pPr lvl="2"/>
            <a:r>
              <a:rPr lang="en-US" dirty="0"/>
              <a:t>Crowded groups → clusters</a:t>
            </a:r>
          </a:p>
          <a:p>
            <a:pPr lvl="2"/>
            <a:r>
              <a:rPr lang="en-US" dirty="0"/>
              <a:t>Isolated people → noise</a:t>
            </a:r>
          </a:p>
          <a:p>
            <a:pPr lvl="1"/>
            <a:r>
              <a:rPr lang="en-US" dirty="0"/>
              <a:t>DBSCAN finds the crowds, ignores loners</a:t>
            </a:r>
          </a:p>
          <a:p>
            <a:r>
              <a:rPr lang="en-US" dirty="0"/>
              <a:t>Use: Spatial data (GPS, maps), Anomaly detection, Image segmentation, When cluster shapes are irregular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829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77C2-2779-F98C-D8E6-9E887E97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DBSCAN Working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D38CE-0C99-A251-F9F0-AFE04C838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Key parameters</a:t>
            </a:r>
          </a:p>
          <a:p>
            <a:pPr lvl="1"/>
            <a:r>
              <a:rPr lang="en-US" b="1" dirty="0"/>
              <a:t>ε (epsilon)</a:t>
            </a:r>
            <a:r>
              <a:rPr lang="en-US" dirty="0"/>
              <a:t>: Radius of neighborhood around a point</a:t>
            </a:r>
          </a:p>
          <a:p>
            <a:pPr lvl="1"/>
            <a:r>
              <a:rPr lang="en-US" b="1" dirty="0" err="1"/>
              <a:t>MinPts</a:t>
            </a:r>
            <a:r>
              <a:rPr lang="en-US" dirty="0"/>
              <a:t>: Minimum number of points required inside ε to form a dense region</a:t>
            </a:r>
          </a:p>
          <a:p>
            <a:r>
              <a:rPr lang="en-US" dirty="0"/>
              <a:t>Types of points</a:t>
            </a:r>
          </a:p>
          <a:p>
            <a:pPr lvl="1"/>
            <a:r>
              <a:rPr lang="en-US" b="1" dirty="0"/>
              <a:t>Core point</a:t>
            </a:r>
            <a:r>
              <a:rPr lang="en-US" dirty="0"/>
              <a:t>: Has ≥ </a:t>
            </a:r>
            <a:r>
              <a:rPr lang="en-US" dirty="0" err="1"/>
              <a:t>MinPts</a:t>
            </a:r>
            <a:r>
              <a:rPr lang="en-US" dirty="0"/>
              <a:t> points within ε</a:t>
            </a:r>
          </a:p>
          <a:p>
            <a:pPr lvl="1"/>
            <a:r>
              <a:rPr lang="en-US" b="1" dirty="0"/>
              <a:t>Border point</a:t>
            </a:r>
            <a:r>
              <a:rPr lang="en-US" dirty="0"/>
              <a:t>: Has &lt; </a:t>
            </a:r>
            <a:r>
              <a:rPr lang="en-US" dirty="0" err="1"/>
              <a:t>MinPts</a:t>
            </a:r>
            <a:r>
              <a:rPr lang="en-US" dirty="0"/>
              <a:t> points, but lies within ε of a core point</a:t>
            </a:r>
          </a:p>
          <a:p>
            <a:pPr lvl="1"/>
            <a:r>
              <a:rPr lang="en-US" b="1" dirty="0"/>
              <a:t>Noise (outlier)</a:t>
            </a:r>
            <a:r>
              <a:rPr lang="en-US" dirty="0"/>
              <a:t>: Not within ε of any core point</a:t>
            </a:r>
          </a:p>
          <a:p>
            <a:r>
              <a:rPr lang="en-US" dirty="0"/>
              <a:t>Working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Pick an unvisited point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Check its ε-neighborhood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points ≥ </a:t>
            </a:r>
            <a:r>
              <a:rPr lang="en-US" dirty="0" err="1"/>
              <a:t>MinPts</a:t>
            </a:r>
            <a:r>
              <a:rPr lang="en-US" dirty="0"/>
              <a:t> → mark as core point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Form a cluster and expand it by visiting neighbors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points &lt; </a:t>
            </a:r>
            <a:r>
              <a:rPr lang="en-US" dirty="0" err="1"/>
              <a:t>MinPts</a:t>
            </a:r>
            <a:r>
              <a:rPr lang="en-US" dirty="0"/>
              <a:t> → mark as noise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Repeat until all points are processed</a:t>
            </a:r>
          </a:p>
          <a:p>
            <a:r>
              <a:rPr lang="en-US" dirty="0"/>
              <a:t>Example (2D points)</a:t>
            </a:r>
          </a:p>
          <a:p>
            <a:pPr lvl="1"/>
            <a:r>
              <a:rPr lang="en-US" dirty="0"/>
              <a:t>ε = 1.0</a:t>
            </a:r>
          </a:p>
          <a:p>
            <a:pPr lvl="1"/>
            <a:r>
              <a:rPr lang="en-US" dirty="0" err="1"/>
              <a:t>MinPts</a:t>
            </a:r>
            <a:r>
              <a:rPr lang="en-US" dirty="0"/>
              <a:t> = 5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/>
              <a:t>If a point has 5 or more neighbors within radius 1.0, it starts a cluster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39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D22D23-1D57-0109-53B8-C92CC98674FD}"/>
              </a:ext>
            </a:extLst>
          </p:cNvPr>
          <p:cNvSpPr txBox="1"/>
          <p:nvPr/>
        </p:nvSpPr>
        <p:spPr>
          <a:xfrm>
            <a:off x="174505" y="83762"/>
            <a:ext cx="113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DBSCAN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2BDE3-CC4C-3684-EE0C-0EAEE8D661CA}"/>
              </a:ext>
            </a:extLst>
          </p:cNvPr>
          <p:cNvSpPr txBox="1"/>
          <p:nvPr/>
        </p:nvSpPr>
        <p:spPr>
          <a:xfrm>
            <a:off x="119244" y="4405408"/>
            <a:ext cx="3583838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0: Understanding data</a:t>
            </a:r>
          </a:p>
          <a:p>
            <a:pPr algn="ctr"/>
            <a:endParaRPr lang="en-IN" sz="1400" dirty="0"/>
          </a:p>
          <a:p>
            <a:r>
              <a:rPr lang="en-IN" sz="1400" dirty="0"/>
              <a:t>Each dog is a data point</a:t>
            </a:r>
          </a:p>
          <a:p>
            <a:r>
              <a:rPr lang="en-IN" sz="1400" dirty="0"/>
              <a:t>We use X-axis: Weight (kg)</a:t>
            </a:r>
          </a:p>
          <a:p>
            <a:endParaRPr lang="en-IN" sz="1400" dirty="0"/>
          </a:p>
          <a:p>
            <a:r>
              <a:rPr lang="en-IN" sz="1400" dirty="0"/>
              <a:t>Hint: Imagine points placed on a number line based on weight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29E15-FF60-4C22-9EA7-E0A3D1FC45F4}"/>
              </a:ext>
            </a:extLst>
          </p:cNvPr>
          <p:cNvSpPr txBox="1"/>
          <p:nvPr/>
        </p:nvSpPr>
        <p:spPr>
          <a:xfrm>
            <a:off x="3965308" y="47184"/>
            <a:ext cx="3583838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1: Choose DBSCAN parameters</a:t>
            </a:r>
          </a:p>
          <a:p>
            <a:pPr algn="ctr"/>
            <a:endParaRPr lang="en-IN" sz="1400" dirty="0"/>
          </a:p>
          <a:p>
            <a:r>
              <a:rPr lang="en-US" sz="1400" b="1" dirty="0"/>
              <a:t>ε (epsilon)</a:t>
            </a:r>
            <a:r>
              <a:rPr lang="en-US" sz="1400" dirty="0"/>
              <a:t> → how close dogs must be in weight, say 2 kg</a:t>
            </a:r>
          </a:p>
          <a:p>
            <a:r>
              <a:rPr lang="en-US" sz="1400" b="1" dirty="0" err="1"/>
              <a:t>MinPts</a:t>
            </a:r>
            <a:r>
              <a:rPr lang="en-US" sz="1400" dirty="0"/>
              <a:t> → minimum dogs needed to form a group, say 3 dogs</a:t>
            </a:r>
          </a:p>
          <a:p>
            <a:endParaRPr lang="en-US" sz="1400" dirty="0"/>
          </a:p>
          <a:p>
            <a:r>
              <a:rPr lang="en-US" sz="1400" dirty="0"/>
              <a:t>Meaning: At least </a:t>
            </a:r>
            <a:r>
              <a:rPr lang="en-US" sz="1400" b="1" dirty="0"/>
              <a:t>3 dogs within ±2 kg</a:t>
            </a:r>
            <a:r>
              <a:rPr lang="en-US" sz="1400" dirty="0"/>
              <a:t> → </a:t>
            </a:r>
            <a:r>
              <a:rPr lang="en-US" sz="1400" b="1" dirty="0"/>
              <a:t>dense region </a:t>
            </a:r>
            <a:r>
              <a:rPr lang="en-US" sz="1400" dirty="0"/>
              <a:t>→ </a:t>
            </a:r>
            <a:r>
              <a:rPr lang="en-US" sz="1400" b="1" dirty="0"/>
              <a:t>cluster</a:t>
            </a:r>
            <a:endParaRPr lang="en-IN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30FD9-6D89-2901-4B5C-C10CDC02AC37}"/>
              </a:ext>
            </a:extLst>
          </p:cNvPr>
          <p:cNvSpPr txBox="1"/>
          <p:nvPr/>
        </p:nvSpPr>
        <p:spPr>
          <a:xfrm>
            <a:off x="3965307" y="2131780"/>
            <a:ext cx="3583838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2: Look at local neighbourhoods</a:t>
            </a:r>
          </a:p>
          <a:p>
            <a:pPr algn="ctr"/>
            <a:endParaRPr lang="en-IN" sz="1400" dirty="0"/>
          </a:p>
          <a:p>
            <a:r>
              <a:rPr lang="en-US" sz="1400" dirty="0"/>
              <a:t>Now DBSCAN will scan each dog</a:t>
            </a:r>
          </a:p>
          <a:p>
            <a:endParaRPr lang="en-US" sz="1400" dirty="0"/>
          </a:p>
          <a:p>
            <a:r>
              <a:rPr lang="en-US" sz="1400" dirty="0"/>
              <a:t>Light dogs 9, 10, 11, 12, 13</a:t>
            </a:r>
          </a:p>
          <a:p>
            <a:r>
              <a:rPr lang="en-US" sz="1400" dirty="0"/>
              <a:t>Each dog has many neighbors within 2 kg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Core points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DBSCAN forms Cluster 1 (light dogs)</a:t>
            </a:r>
          </a:p>
          <a:p>
            <a:endParaRPr lang="en-US" sz="1400" dirty="0"/>
          </a:p>
          <a:p>
            <a:r>
              <a:rPr lang="en-US" sz="1400" dirty="0"/>
              <a:t>Heavy dogs 26, 27, 28, 29, 30</a:t>
            </a:r>
          </a:p>
          <a:p>
            <a:r>
              <a:rPr lang="en-US" sz="1400" dirty="0"/>
              <a:t>Each dog has many neighbors within 2 kg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Core points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DBSCAN forms Cluster 2 (heavy dogs)</a:t>
            </a:r>
            <a:endParaRPr lang="en-IN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A3991F-95F8-584E-C9EA-B5D06F53E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508926"/>
              </p:ext>
            </p:extLst>
          </p:nvPr>
        </p:nvGraphicFramePr>
        <p:xfrm>
          <a:off x="119244" y="507874"/>
          <a:ext cx="3583839" cy="3648144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94613">
                  <a:extLst>
                    <a:ext uri="{9D8B030D-6E8A-4147-A177-3AD203B41FA5}">
                      <a16:colId xmlns:a16="http://schemas.microsoft.com/office/drawing/2014/main" val="3468557784"/>
                    </a:ext>
                  </a:extLst>
                </a:gridCol>
                <a:gridCol w="1194613">
                  <a:extLst>
                    <a:ext uri="{9D8B030D-6E8A-4147-A177-3AD203B41FA5}">
                      <a16:colId xmlns:a16="http://schemas.microsoft.com/office/drawing/2014/main" val="4200101704"/>
                    </a:ext>
                  </a:extLst>
                </a:gridCol>
                <a:gridCol w="1194613">
                  <a:extLst>
                    <a:ext uri="{9D8B030D-6E8A-4147-A177-3AD203B41FA5}">
                      <a16:colId xmlns:a16="http://schemas.microsoft.com/office/drawing/2014/main" val="2253496734"/>
                    </a:ext>
                  </a:extLst>
                </a:gridCol>
              </a:tblGrid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130427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076071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589104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874250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623921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82586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101620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96680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891272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950488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333534"/>
                  </a:ext>
                </a:extLst>
              </a:tr>
              <a:tr h="245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Yes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89861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FD6D0BB-F765-91E9-A1F2-B6A76E79C5C2}"/>
              </a:ext>
            </a:extLst>
          </p:cNvPr>
          <p:cNvSpPr txBox="1"/>
          <p:nvPr/>
        </p:nvSpPr>
        <p:spPr>
          <a:xfrm>
            <a:off x="7629888" y="47184"/>
            <a:ext cx="3583838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3: Border points</a:t>
            </a:r>
          </a:p>
          <a:p>
            <a:pPr algn="ctr"/>
            <a:endParaRPr lang="en-IN" sz="1400" dirty="0"/>
          </a:p>
          <a:p>
            <a:r>
              <a:rPr lang="en-US" sz="1400" dirty="0"/>
              <a:t>None in our dataset</a:t>
            </a:r>
          </a:p>
          <a:p>
            <a:r>
              <a:rPr lang="en-US" sz="1400" dirty="0"/>
              <a:t>But what if had a dog with weight 18 kg?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Not enough neighbors to be core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But close to light-dog cluster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Border point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Included in Cluster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89274A-C4BB-D848-000A-99756AB25A27}"/>
              </a:ext>
            </a:extLst>
          </p:cNvPr>
          <p:cNvSpPr txBox="1"/>
          <p:nvPr/>
        </p:nvSpPr>
        <p:spPr>
          <a:xfrm>
            <a:off x="7629888" y="1923682"/>
            <a:ext cx="3583838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4: Noise/Outliers</a:t>
            </a:r>
          </a:p>
          <a:p>
            <a:pPr algn="ctr"/>
            <a:endParaRPr lang="en-IN" sz="1400" dirty="0"/>
          </a:p>
          <a:p>
            <a:r>
              <a:rPr lang="en-US" sz="1400" dirty="0"/>
              <a:t>Dog with weight 45 kg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No nearby dogs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sz="1400" dirty="0"/>
              <a:t>DBSCAN labels it as an outlier</a:t>
            </a:r>
          </a:p>
          <a:p>
            <a:endParaRPr lang="en-US" sz="1400" dirty="0"/>
          </a:p>
          <a:p>
            <a:r>
              <a:rPr lang="en-US" sz="1400" dirty="0"/>
              <a:t>** DBSCAN is great for anomaly detection **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6081AF-E465-E5CB-406C-D516E612ABBE}"/>
              </a:ext>
            </a:extLst>
          </p:cNvPr>
          <p:cNvSpPr txBox="1"/>
          <p:nvPr/>
        </p:nvSpPr>
        <p:spPr>
          <a:xfrm>
            <a:off x="7629888" y="3820632"/>
            <a:ext cx="3583838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5: Final clusters</a:t>
            </a:r>
          </a:p>
          <a:p>
            <a:pPr algn="ctr"/>
            <a:endParaRPr lang="en-IN" sz="1400" dirty="0"/>
          </a:p>
          <a:p>
            <a:r>
              <a:rPr lang="en-US" sz="1400" dirty="0"/>
              <a:t>Cluster 1: Light-weight dogs</a:t>
            </a:r>
          </a:p>
          <a:p>
            <a:r>
              <a:rPr lang="en-US" sz="1400" dirty="0"/>
              <a:t>Cluster 2: Heavy-weight dogs</a:t>
            </a:r>
          </a:p>
          <a:p>
            <a:r>
              <a:rPr lang="en-US" sz="1400" dirty="0"/>
              <a:t>Noise: Extremely unusual weights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F68AF-216F-A69B-B774-7919B0C4C5BB}"/>
              </a:ext>
            </a:extLst>
          </p:cNvPr>
          <p:cNvSpPr txBox="1"/>
          <p:nvPr/>
        </p:nvSpPr>
        <p:spPr>
          <a:xfrm>
            <a:off x="7629888" y="5038164"/>
            <a:ext cx="358383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6: Interpret clusters 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E8AC577-F15C-6AB6-B524-7B6D1E48E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244547"/>
              </p:ext>
            </p:extLst>
          </p:nvPr>
        </p:nvGraphicFramePr>
        <p:xfrm>
          <a:off x="7629888" y="5434552"/>
          <a:ext cx="3663998" cy="12192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831999">
                  <a:extLst>
                    <a:ext uri="{9D8B030D-6E8A-4147-A177-3AD203B41FA5}">
                      <a16:colId xmlns:a16="http://schemas.microsoft.com/office/drawing/2014/main" val="627199131"/>
                    </a:ext>
                  </a:extLst>
                </a:gridCol>
                <a:gridCol w="1831999">
                  <a:extLst>
                    <a:ext uri="{9D8B030D-6E8A-4147-A177-3AD203B41FA5}">
                      <a16:colId xmlns:a16="http://schemas.microsoft.com/office/drawing/2014/main" val="3501211065"/>
                    </a:ext>
                  </a:extLst>
                </a:gridCol>
              </a:tblGrid>
              <a:tr h="266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199882"/>
                  </a:ext>
                </a:extLst>
              </a:tr>
              <a:tr h="266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Light-weight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Mostly Obese =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49694"/>
                  </a:ext>
                </a:extLst>
              </a:tr>
              <a:tr h="266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Heavy-weight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Mostly Obese =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67590"/>
                  </a:ext>
                </a:extLst>
              </a:tr>
              <a:tr h="266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Abnormal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51280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8159DEA-21E5-1702-B280-E7DFBDC41920}"/>
              </a:ext>
            </a:extLst>
          </p:cNvPr>
          <p:cNvSpPr txBox="1"/>
          <p:nvPr/>
        </p:nvSpPr>
        <p:spPr>
          <a:xfrm>
            <a:off x="3629678" y="6350126"/>
            <a:ext cx="3482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DBSCAN </a:t>
            </a:r>
            <a:r>
              <a:rPr lang="en-US" sz="1400" b="1" dirty="0"/>
              <a:t>discovers structure first</a:t>
            </a:r>
            <a:r>
              <a:rPr lang="en-US" sz="1400" dirty="0"/>
              <a:t>, labels later</a:t>
            </a:r>
            <a:endParaRPr lang="en-GB" sz="1400" dirty="0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7A0DE751-748C-4A34-21A3-D828E60D6F03}"/>
              </a:ext>
            </a:extLst>
          </p:cNvPr>
          <p:cNvSpPr/>
          <p:nvPr/>
        </p:nvSpPr>
        <p:spPr>
          <a:xfrm>
            <a:off x="7012669" y="6374551"/>
            <a:ext cx="535893" cy="262412"/>
          </a:xfrm>
          <a:prstGeom prst="lef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8276A-1AC0-4803-B8EF-2E7869776046}"/>
              </a:ext>
            </a:extLst>
          </p:cNvPr>
          <p:cNvSpPr txBox="1"/>
          <p:nvPr/>
        </p:nvSpPr>
        <p:spPr>
          <a:xfrm>
            <a:off x="3847864" y="5168362"/>
            <a:ext cx="3663998" cy="116955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Summary: </a:t>
            </a:r>
            <a:r>
              <a:rPr lang="en-US" sz="1400" dirty="0">
                <a:solidFill>
                  <a:schemeClr val="bg1"/>
                </a:solidFill>
              </a:rPr>
              <a:t>DBSCAN groups dogs with similar weights based on density, automatically finds light and heavy groups, and flags unusually weighted dogs as outliers—without using the obesity label</a:t>
            </a:r>
            <a:endParaRPr lang="en-GB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66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C7D7-631A-1C6E-F1E7-C136B816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 Mixed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AB188-EFA3-5456-11FF-9AB032F90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Basic idea: Almost all clustering algorithms are based on one idea: Similar points should be “close” to each other</a:t>
            </a:r>
          </a:p>
          <a:p>
            <a:r>
              <a:rPr lang="en-US" dirty="0"/>
              <a:t>Result: They need a way to answer: “How far apart are two data points?”</a:t>
            </a:r>
          </a:p>
          <a:p>
            <a:r>
              <a:rPr lang="en-US" dirty="0"/>
              <a:t>The “how far” is distance</a:t>
            </a:r>
          </a:p>
          <a:p>
            <a:r>
              <a:rPr lang="en-US" dirty="0"/>
              <a:t>Numeric data, no problem</a:t>
            </a:r>
          </a:p>
          <a:p>
            <a:pPr lvl="1"/>
            <a:r>
              <a:rPr lang="en-US" dirty="0"/>
              <a:t>Height A = 170 cm, Height B = 175 cm, Distance = |170 − 175| = 5</a:t>
            </a:r>
          </a:p>
          <a:p>
            <a:r>
              <a:rPr lang="en-US" dirty="0"/>
              <a:t>Categorical/Non-numeric data, problem</a:t>
            </a:r>
          </a:p>
          <a:p>
            <a:pPr lvl="1"/>
            <a:r>
              <a:rPr lang="en-US" dirty="0"/>
              <a:t>City A = Mumbai, City B = Delhi, Distance = ?</a:t>
            </a:r>
          </a:p>
          <a:p>
            <a:pPr lvl="1"/>
            <a:r>
              <a:rPr lang="en-US" dirty="0"/>
              <a:t>What if we encode Mumbai = 1, Delhi = 2, Chennai = 3?</a:t>
            </a:r>
          </a:p>
          <a:p>
            <a:pPr lvl="2"/>
            <a:r>
              <a:rPr lang="en-US" dirty="0"/>
              <a:t>Result: Chennai is “twice as far” from Mumbai as Delhi =&gt; Meaningless!</a:t>
            </a:r>
          </a:p>
          <a:p>
            <a:pPr lvl="2"/>
            <a:r>
              <a:rPr lang="en-US" dirty="0"/>
              <a:t>Solution</a:t>
            </a:r>
          </a:p>
          <a:p>
            <a:pPr lvl="3"/>
            <a:r>
              <a:rPr lang="en-US" dirty="0"/>
              <a:t>Same category: Distance = 0, Different category: Distance = 1</a:t>
            </a:r>
          </a:p>
          <a:p>
            <a:pPr lvl="3"/>
            <a:r>
              <a:rPr lang="en-US" dirty="0"/>
              <a:t>Example: Mumbai -&gt; Mumbai distance = 0, Mumbai -&gt; Delhi distance = 1, Mumbai -&gt; Chennai distance = 1</a:t>
            </a:r>
          </a:p>
          <a:p>
            <a:pPr lvl="1"/>
            <a:endParaRPr lang="en-US" dirty="0"/>
          </a:p>
          <a:p>
            <a:pPr lvl="1"/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275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2254-53C3-CFA3-6CD8-C6C501378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C87B1F-9E7F-D29B-2D1B-9656AE7E0C2B}"/>
              </a:ext>
            </a:extLst>
          </p:cNvPr>
          <p:cNvSpPr txBox="1"/>
          <p:nvPr/>
        </p:nvSpPr>
        <p:spPr>
          <a:xfrm>
            <a:off x="251283" y="579353"/>
            <a:ext cx="4648783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Distance between two points in a grid-based system (like streets in a city laid out in a grid)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Represents how a taxi would drive along streets (only horizontal and vertical moves) rather than "as the crow flies."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FA7C6-6026-1A8A-3F77-1B5F3DAD5679}"/>
              </a:ext>
            </a:extLst>
          </p:cNvPr>
          <p:cNvSpPr txBox="1"/>
          <p:nvPr/>
        </p:nvSpPr>
        <p:spPr>
          <a:xfrm>
            <a:off x="251284" y="139603"/>
            <a:ext cx="4648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Manhattan Distance (L1) - </a:t>
            </a:r>
            <a:r>
              <a:rPr lang="en-GB" sz="2000" dirty="0"/>
              <a:t>Taxicab path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FB102D-AFBA-95FF-FD5E-5912BF7D4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840005"/>
              </p:ext>
            </p:extLst>
          </p:nvPr>
        </p:nvGraphicFramePr>
        <p:xfrm>
          <a:off x="303634" y="1838843"/>
          <a:ext cx="3783245" cy="12801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56649">
                  <a:extLst>
                    <a:ext uri="{9D8B030D-6E8A-4147-A177-3AD203B41FA5}">
                      <a16:colId xmlns:a16="http://schemas.microsoft.com/office/drawing/2014/main" val="2178024852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2615569815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1156561557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3725539643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765657467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 (₹k)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0689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A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2981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B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08893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C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7518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A27E17-3895-3729-DCC3-51CB24D95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05523"/>
              </p:ext>
            </p:extLst>
          </p:nvPr>
        </p:nvGraphicFramePr>
        <p:xfrm>
          <a:off x="6023073" y="2106385"/>
          <a:ext cx="3783246" cy="121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91623">
                  <a:extLst>
                    <a:ext uri="{9D8B030D-6E8A-4147-A177-3AD203B41FA5}">
                      <a16:colId xmlns:a16="http://schemas.microsoft.com/office/drawing/2014/main" val="2565674770"/>
                    </a:ext>
                  </a:extLst>
                </a:gridCol>
                <a:gridCol w="1891623">
                  <a:extLst>
                    <a:ext uri="{9D8B030D-6E8A-4147-A177-3AD203B41FA5}">
                      <a16:colId xmlns:a16="http://schemas.microsoft.com/office/drawing/2014/main" val="2793717883"/>
                    </a:ext>
                  </a:extLst>
                </a:gridCol>
              </a:tblGrid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38081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A–B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0.107 (very close)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424392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 (far)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75273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1.89 (far)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1826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5EC021-90FF-7296-E217-B68A0220F306}"/>
              </a:ext>
            </a:extLst>
          </p:cNvPr>
          <p:cNvSpPr txBox="1"/>
          <p:nvPr/>
        </p:nvSpPr>
        <p:spPr>
          <a:xfrm>
            <a:off x="6954345" y="1769844"/>
            <a:ext cx="176482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Interpretation</a:t>
            </a:r>
            <a:endParaRPr lang="en-GB" sz="1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2D8CEF-9675-A2AB-96CD-A1F10EFA43DE}"/>
                  </a:ext>
                </a:extLst>
              </p:cNvPr>
              <p:cNvSpPr txBox="1"/>
              <p:nvPr/>
            </p:nvSpPr>
            <p:spPr>
              <a:xfrm>
                <a:off x="5708603" y="539713"/>
                <a:ext cx="5110634" cy="121501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2: Calculate Manhattan Distance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B: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0.067 −0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0.04 −0</m:t>
                            </m:r>
                          </m:e>
                        </m:d>
                      </m:e>
                    </m:d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=0.107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A vs C: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 −0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 −0</m:t>
                            </m:r>
                          </m:e>
                        </m:d>
                      </m:e>
                    </m:d>
                    <m:r>
                      <a:rPr lang="en-IN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B vs C: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1 −0</m:t>
                            </m:r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.067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1 −0</m:t>
                            </m:r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.04</m:t>
                            </m:r>
                          </m:e>
                        </m:d>
                      </m:e>
                    </m:d>
                    <m:r>
                      <a:rPr lang="en-IN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1.89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2D8CEF-9675-A2AB-96CD-A1F10EFA4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603" y="539713"/>
                <a:ext cx="5110634" cy="1215013"/>
              </a:xfrm>
              <a:prstGeom prst="rect">
                <a:avLst/>
              </a:prstGeom>
              <a:blipFill>
                <a:blip r:embed="rId2"/>
                <a:stretch>
                  <a:fillRect l="-358" t="-1005" b="-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2AAE9B4-5852-C62D-A7EA-A48D3669A918}"/>
              </a:ext>
            </a:extLst>
          </p:cNvPr>
          <p:cNvSpPr txBox="1"/>
          <p:nvPr/>
        </p:nvSpPr>
        <p:spPr>
          <a:xfrm>
            <a:off x="303634" y="3267175"/>
            <a:ext cx="403802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Step 1: Find ranges for numeric types</a:t>
            </a:r>
          </a:p>
          <a:p>
            <a:endParaRPr lang="en-US" sz="1400" dirty="0"/>
          </a:p>
          <a:p>
            <a:r>
              <a:rPr lang="en-US" sz="1400" dirty="0"/>
              <a:t>Age: Min: 25, Max: 55, Range: 30</a:t>
            </a:r>
          </a:p>
          <a:p>
            <a:r>
              <a:rPr lang="en-US" sz="1400" dirty="0"/>
              <a:t>Inc: Min: 30, Max: 80, Range: 50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EC157F-2FE6-F802-9ED3-720033A4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350880"/>
              </p:ext>
            </p:extLst>
          </p:nvPr>
        </p:nvGraphicFramePr>
        <p:xfrm>
          <a:off x="303636" y="4756309"/>
          <a:ext cx="3887945" cy="12192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77589">
                  <a:extLst>
                    <a:ext uri="{9D8B030D-6E8A-4147-A177-3AD203B41FA5}">
                      <a16:colId xmlns:a16="http://schemas.microsoft.com/office/drawing/2014/main" val="3232316998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86676923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1811232479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1721158047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3123385714"/>
                    </a:ext>
                  </a:extLst>
                </a:gridCol>
              </a:tblGrid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32353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372623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61424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6505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15824D7-5C64-E4C7-0512-6EEB7FD093B5}"/>
              </a:ext>
            </a:extLst>
          </p:cNvPr>
          <p:cNvSpPr txBox="1"/>
          <p:nvPr/>
        </p:nvSpPr>
        <p:spPr>
          <a:xfrm>
            <a:off x="303634" y="4390608"/>
            <a:ext cx="233486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Normalized and Scaled data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E0A32D-F2F9-25D4-F9A8-900ABC591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06" y="6033433"/>
            <a:ext cx="2065021" cy="5765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017426-E6AC-E09D-5833-F251932D4125}"/>
                  </a:ext>
                </a:extLst>
              </p:cNvPr>
              <p:cNvSpPr txBox="1"/>
              <p:nvPr/>
            </p:nvSpPr>
            <p:spPr>
              <a:xfrm>
                <a:off x="5118490" y="3670928"/>
                <a:ext cx="6909768" cy="207678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3: What if we also use encoded categorical data?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B: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0.067 −0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0.04 −0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+|0−0|</m:t>
                        </m:r>
                      </m:e>
                    </m:d>
                    <m:r>
                      <a:rPr lang="en-IN" sz="1400" i="1" dirty="0">
                        <a:latin typeface="Cambria Math" panose="02040503050406030204" pitchFamily="18" charset="0"/>
                      </a:rPr>
                      <m:t>=0.107</m:t>
                    </m:r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A vs C: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1 −0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1 −0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+|1−0|</m:t>
                        </m:r>
                      </m:e>
                    </m:d>
                  </m:oMath>
                </a14:m>
                <a:r>
                  <a:rPr lang="en-US" sz="1400" dirty="0"/>
                  <a:t>=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IN" sz="1400" b="0" dirty="0"/>
              </a:p>
              <a:p>
                <a:endParaRPr lang="en-US" sz="1400" dirty="0"/>
              </a:p>
              <a:p>
                <a:r>
                  <a:rPr lang="en-US" sz="1400" dirty="0"/>
                  <a:t>B vs C: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1 −0.067</m:t>
                            </m:r>
                          </m:e>
                        </m:d>
                        <m:r>
                          <a:rPr lang="en-IN" sz="1400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1 −0.04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1−0</m:t>
                            </m:r>
                          </m:e>
                        </m:d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+|1−0|</m:t>
                        </m:r>
                      </m:e>
                    </m:d>
                  </m:oMath>
                </a14:m>
                <a:r>
                  <a:rPr lang="en-US" sz="1400" dirty="0"/>
                  <a:t>= </a:t>
                </a:r>
                <a14:m>
                  <m:oMath xmlns:m="http://schemas.openxmlformats.org/officeDocument/2006/math"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3.89</m:t>
                    </m:r>
                  </m:oMath>
                </a14:m>
                <a:r>
                  <a:rPr lang="en-US" sz="1400" dirty="0"/>
                  <a:t>3</a:t>
                </a:r>
              </a:p>
              <a:p>
                <a:endParaRPr lang="en-US" sz="1400" dirty="0"/>
              </a:p>
              <a:p>
                <a:pPr marL="285750" indent="-285750">
                  <a:buFontTx/>
                  <a:buChar char="-"/>
                </a:pPr>
                <a:r>
                  <a:rPr lang="en-US" sz="1400" dirty="0"/>
                  <a:t>What about more cities now? It would become completely meaningless!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017426-E6AC-E09D-5833-F251932D4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490" y="3670928"/>
                <a:ext cx="6909768" cy="2076787"/>
              </a:xfrm>
              <a:prstGeom prst="rect">
                <a:avLst/>
              </a:prstGeom>
              <a:blipFill>
                <a:blip r:embed="rId4"/>
                <a:stretch>
                  <a:fillRect l="-353" t="-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1EAF7A95-157F-0A2A-55C7-FB8BD1EE0ECD}"/>
              </a:ext>
            </a:extLst>
          </p:cNvPr>
          <p:cNvSpPr txBox="1"/>
          <p:nvPr/>
        </p:nvSpPr>
        <p:spPr>
          <a:xfrm>
            <a:off x="6520336" y="6318287"/>
            <a:ext cx="2953186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Conclusion: Fails for 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384943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E49C-5B11-2FC8-6226-92367B14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98CD90-7906-877A-B137-02967F51CCB7}"/>
              </a:ext>
            </a:extLst>
          </p:cNvPr>
          <p:cNvSpPr txBox="1"/>
          <p:nvPr/>
        </p:nvSpPr>
        <p:spPr>
          <a:xfrm>
            <a:off x="251284" y="579353"/>
            <a:ext cx="388794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“As the crow flies”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Straight line distance between two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Works only for numeric data of similar scales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9DA22-F35F-1E80-647B-C02A57AEDB4D}"/>
              </a:ext>
            </a:extLst>
          </p:cNvPr>
          <p:cNvSpPr txBox="1"/>
          <p:nvPr/>
        </p:nvSpPr>
        <p:spPr>
          <a:xfrm>
            <a:off x="251284" y="139603"/>
            <a:ext cx="4390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Euclidean Distance (L2) – Shortest Path</a:t>
            </a:r>
            <a:endParaRPr lang="en-GB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2966E3-9227-AD35-267B-7FD55E3077C3}"/>
              </a:ext>
            </a:extLst>
          </p:cNvPr>
          <p:cNvGraphicFramePr>
            <a:graphicFrameLocks noGrp="1"/>
          </p:cNvGraphicFramePr>
          <p:nvPr/>
        </p:nvGraphicFramePr>
        <p:xfrm>
          <a:off x="251284" y="1440974"/>
          <a:ext cx="3783245" cy="12801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56649">
                  <a:extLst>
                    <a:ext uri="{9D8B030D-6E8A-4147-A177-3AD203B41FA5}">
                      <a16:colId xmlns:a16="http://schemas.microsoft.com/office/drawing/2014/main" val="2178024852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2615569815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1156561557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3725539643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765657467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 (₹k)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0689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A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2981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B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08893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C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7518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C95F0C-72AE-1BFF-3C9D-C477CB7E0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791006"/>
              </p:ext>
            </p:extLst>
          </p:nvPr>
        </p:nvGraphicFramePr>
        <p:xfrm>
          <a:off x="5137686" y="2198082"/>
          <a:ext cx="3783246" cy="121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91623">
                  <a:extLst>
                    <a:ext uri="{9D8B030D-6E8A-4147-A177-3AD203B41FA5}">
                      <a16:colId xmlns:a16="http://schemas.microsoft.com/office/drawing/2014/main" val="2565674770"/>
                    </a:ext>
                  </a:extLst>
                </a:gridCol>
                <a:gridCol w="1891623">
                  <a:extLst>
                    <a:ext uri="{9D8B030D-6E8A-4147-A177-3AD203B41FA5}">
                      <a16:colId xmlns:a16="http://schemas.microsoft.com/office/drawing/2014/main" val="2793717883"/>
                    </a:ext>
                  </a:extLst>
                </a:gridCol>
              </a:tblGrid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38081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A–B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0.0748 (very close)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424392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1.414 (far)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75273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1.338 (far)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1826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5041E1-3EB5-8D97-EDA1-7094DBD63AC5}"/>
              </a:ext>
            </a:extLst>
          </p:cNvPr>
          <p:cNvSpPr txBox="1"/>
          <p:nvPr/>
        </p:nvSpPr>
        <p:spPr>
          <a:xfrm>
            <a:off x="6049755" y="1908644"/>
            <a:ext cx="176482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Interpretation</a:t>
            </a:r>
            <a:endParaRPr lang="en-GB" sz="1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3DEDDE-FA2F-5409-E400-7DC0367F0816}"/>
                  </a:ext>
                </a:extLst>
              </p:cNvPr>
              <p:cNvSpPr txBox="1"/>
              <p:nvPr/>
            </p:nvSpPr>
            <p:spPr>
              <a:xfrm>
                <a:off x="5118490" y="3670928"/>
                <a:ext cx="6909768" cy="216770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3: What if we also use encoded categorical data?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B: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0.067</m:t>
                                </m:r>
                                <m:r>
                                  <a:rPr lang="en-US" sz="1400" i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  <m:r>
                                  <a:rPr lang="en-US" sz="1400" i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 = 0.0748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C: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 = </a:t>
                </a:r>
                <a14:m>
                  <m:oMath xmlns:m="http://schemas.openxmlformats.org/officeDocument/2006/math"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1400" b="0" dirty="0"/>
              </a:p>
              <a:p>
                <a:endParaRPr lang="en-US" sz="1400" dirty="0"/>
              </a:p>
              <a:p>
                <a:r>
                  <a:rPr lang="en-US" sz="1400" dirty="0"/>
                  <a:t>B vs C: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0.067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 = </a:t>
                </a:r>
                <a14:m>
                  <m:oMath xmlns:m="http://schemas.openxmlformats.org/officeDocument/2006/math"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1.947</m:t>
                    </m:r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Tx/>
                  <a:buChar char="-"/>
                </a:pPr>
                <a:r>
                  <a:rPr lang="en-US" sz="1400" dirty="0"/>
                  <a:t>What about more cities now? It would become completely meaningless!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3DEDDE-FA2F-5409-E400-7DC0367F0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490" y="3670928"/>
                <a:ext cx="6909768" cy="2167709"/>
              </a:xfrm>
              <a:prstGeom prst="rect">
                <a:avLst/>
              </a:prstGeom>
              <a:blipFill>
                <a:blip r:embed="rId2"/>
                <a:stretch>
                  <a:fillRect l="-353" t="-562" b="-1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1E6FB3B-BF1A-1E98-7E7D-7C0A6F3085D5}"/>
              </a:ext>
            </a:extLst>
          </p:cNvPr>
          <p:cNvSpPr txBox="1"/>
          <p:nvPr/>
        </p:nvSpPr>
        <p:spPr>
          <a:xfrm>
            <a:off x="6520336" y="6318287"/>
            <a:ext cx="2953186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Conclusion: Fails for categorical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AB20AD-99B8-B84C-EF3E-A14C87240F21}"/>
                  </a:ext>
                </a:extLst>
              </p:cNvPr>
              <p:cNvSpPr txBox="1"/>
              <p:nvPr/>
            </p:nvSpPr>
            <p:spPr>
              <a:xfrm>
                <a:off x="5137686" y="539713"/>
                <a:ext cx="5110634" cy="13059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2: Calculate Euclidean Distance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 vs B: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0.067 −0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  <m:r>
                                  <a:rPr lang="en-US" sz="1400" i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0.0748</a:t>
                </a:r>
              </a:p>
              <a:p>
                <a:r>
                  <a:rPr lang="en-US" sz="1400" dirty="0"/>
                  <a:t>A vs C: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r>
                                  <a:rPr lang="en-IN" sz="1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1 + 1 = 1.414</a:t>
                </a:r>
              </a:p>
              <a:p>
                <a:r>
                  <a:rPr lang="en-US" sz="1400" dirty="0"/>
                  <a:t>B vs C: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r>
                                  <a:rPr lang="en-IN" sz="1400" i="1" dirty="0">
                                    <a:latin typeface="Cambria Math" panose="02040503050406030204" pitchFamily="18" charset="0"/>
                                  </a:rPr>
                                  <m:t>0.067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  <m:r>
                                  <a:rPr lang="en-IN" sz="14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1.338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AB20AD-99B8-B84C-EF3E-A14C8724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686" y="539713"/>
                <a:ext cx="5110634" cy="1305935"/>
              </a:xfrm>
              <a:prstGeom prst="rect">
                <a:avLst/>
              </a:prstGeom>
              <a:blipFill>
                <a:blip r:embed="rId3"/>
                <a:stretch>
                  <a:fillRect l="-358" t="-935" b="-3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993003E-9871-231F-89AB-69BE937FE688}"/>
              </a:ext>
            </a:extLst>
          </p:cNvPr>
          <p:cNvSpPr txBox="1"/>
          <p:nvPr/>
        </p:nvSpPr>
        <p:spPr>
          <a:xfrm>
            <a:off x="251284" y="2806485"/>
            <a:ext cx="403802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Step 1: Find ranges for numeric types</a:t>
            </a:r>
          </a:p>
          <a:p>
            <a:endParaRPr lang="en-US" sz="1400" dirty="0"/>
          </a:p>
          <a:p>
            <a:r>
              <a:rPr lang="en-US" sz="1400" dirty="0"/>
              <a:t>Age: Min: 25, Max: 55, Range: 30</a:t>
            </a:r>
          </a:p>
          <a:p>
            <a:r>
              <a:rPr lang="en-US" sz="1400" dirty="0"/>
              <a:t>Inc: Min: 30, Max: 80, Range: 50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C63D72C-59A5-52F5-F315-7CEC0B64F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085744"/>
              </p:ext>
            </p:extLst>
          </p:nvPr>
        </p:nvGraphicFramePr>
        <p:xfrm>
          <a:off x="294918" y="4591777"/>
          <a:ext cx="3887945" cy="12192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77589">
                  <a:extLst>
                    <a:ext uri="{9D8B030D-6E8A-4147-A177-3AD203B41FA5}">
                      <a16:colId xmlns:a16="http://schemas.microsoft.com/office/drawing/2014/main" val="3232316998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86676923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1811232479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1721158047"/>
                    </a:ext>
                  </a:extLst>
                </a:gridCol>
                <a:gridCol w="777589">
                  <a:extLst>
                    <a:ext uri="{9D8B030D-6E8A-4147-A177-3AD203B41FA5}">
                      <a16:colId xmlns:a16="http://schemas.microsoft.com/office/drawing/2014/main" val="3123385714"/>
                    </a:ext>
                  </a:extLst>
                </a:gridCol>
              </a:tblGrid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32353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372623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961424"/>
                  </a:ext>
                </a:extLst>
              </a:tr>
              <a:tr h="268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6505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09064AF-B047-8630-2D12-4481D9612201}"/>
              </a:ext>
            </a:extLst>
          </p:cNvPr>
          <p:cNvSpPr txBox="1"/>
          <p:nvPr/>
        </p:nvSpPr>
        <p:spPr>
          <a:xfrm>
            <a:off x="251284" y="3929918"/>
            <a:ext cx="233486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Normalized and Scaled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D5C85A-B1A5-8F2F-E662-96095DED1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95" y="5838637"/>
            <a:ext cx="2065021" cy="5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8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9354-E799-6D08-2564-75EE18CB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56019C-5B6E-899C-A10B-2F2A7FE24E0B}"/>
              </a:ext>
            </a:extLst>
          </p:cNvPr>
          <p:cNvSpPr txBox="1"/>
          <p:nvPr/>
        </p:nvSpPr>
        <p:spPr>
          <a:xfrm>
            <a:off x="251284" y="579353"/>
            <a:ext cx="388794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Measures the angle (cosine) between two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Widely used for text similarity search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AD2F0-880A-DCDC-C567-9E8C8A6F6A64}"/>
              </a:ext>
            </a:extLst>
          </p:cNvPr>
          <p:cNvSpPr txBox="1"/>
          <p:nvPr/>
        </p:nvSpPr>
        <p:spPr>
          <a:xfrm>
            <a:off x="251284" y="139603"/>
            <a:ext cx="4390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Cosine Similarity – Angle Difference</a:t>
            </a:r>
            <a:endParaRPr lang="en-GB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F1C881-3A4A-7521-86DB-C96F2E30FF33}"/>
              </a:ext>
            </a:extLst>
          </p:cNvPr>
          <p:cNvGraphicFramePr>
            <a:graphicFrameLocks noGrp="1"/>
          </p:cNvGraphicFramePr>
          <p:nvPr/>
        </p:nvGraphicFramePr>
        <p:xfrm>
          <a:off x="251284" y="1440974"/>
          <a:ext cx="3783245" cy="12801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56649">
                  <a:extLst>
                    <a:ext uri="{9D8B030D-6E8A-4147-A177-3AD203B41FA5}">
                      <a16:colId xmlns:a16="http://schemas.microsoft.com/office/drawing/2014/main" val="2178024852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2615569815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1156561557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3725539643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765657467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 (₹k)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0689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A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2981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B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08893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C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7518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0B852D-BE95-EA0C-4CF2-E2DC527997E1}"/>
                  </a:ext>
                </a:extLst>
              </p:cNvPr>
              <p:cNvSpPr txBox="1"/>
              <p:nvPr/>
            </p:nvSpPr>
            <p:spPr>
              <a:xfrm>
                <a:off x="5137686" y="539713"/>
                <a:ext cx="6212042" cy="305410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Sim(A, B) : Use Person A and B’s scaled values -&gt; A: (0,0) and B (0.067, 0.04)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Problem: Because of 0, we will get 0 in the denominator (Division by 0)</a:t>
                </a:r>
              </a:p>
              <a:p>
                <a:r>
                  <a:rPr lang="en-US" sz="1400" dirty="0"/>
                  <a:t>Solution: Use a very small number Epsilon (ε) in the place of 0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Revised formula: </a:t>
                </a:r>
              </a:p>
              <a:p>
                <a:endParaRPr lang="en-US" sz="1400" dirty="0"/>
              </a:p>
              <a:p>
                <a:pPr marL="342900" indent="-342900">
                  <a:buAutoNum type="arabicParenBoth"/>
                </a:pPr>
                <a:r>
                  <a:rPr lang="en-US" sz="1400" dirty="0"/>
                  <a:t>Numerator = Dot product = A.B = (0 x 0.067) + (0 x 0.04)  = 0</a:t>
                </a:r>
              </a:p>
              <a:p>
                <a:pPr marL="342900" indent="-342900">
                  <a:buAutoNum type="arabicParenBoth"/>
                </a:pPr>
                <a:r>
                  <a:rPr lang="en-US" sz="1400" dirty="0"/>
                  <a:t>Denominator = Magnitudes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Magnitude of A = ||A||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0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Magnitude of B = ||B||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.067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.04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0.078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Sim (A, 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d>
                          <m:d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 0.078</m:t>
                            </m:r>
                          </m:e>
                        </m:d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+0.000000001</m:t>
                        </m:r>
                      </m:den>
                    </m:f>
                  </m:oMath>
                </a14:m>
                <a:r>
                  <a:rPr lang="en-US" sz="1400" dirty="0"/>
                  <a:t> = 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0B852D-BE95-EA0C-4CF2-E2DC52799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686" y="539713"/>
                <a:ext cx="6212042" cy="3054106"/>
              </a:xfrm>
              <a:prstGeom prst="rect">
                <a:avLst/>
              </a:prstGeom>
              <a:blipFill>
                <a:blip r:embed="rId2"/>
                <a:stretch>
                  <a:fillRect l="-393" t="-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1F4FFE-960A-CF2D-E871-60B083931976}"/>
              </a:ext>
            </a:extLst>
          </p:cNvPr>
          <p:cNvSpPr txBox="1"/>
          <p:nvPr/>
        </p:nvSpPr>
        <p:spPr>
          <a:xfrm>
            <a:off x="251284" y="2806485"/>
            <a:ext cx="4038021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Cosine Similarity formula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Meaning: </a:t>
            </a:r>
            <a:r>
              <a:rPr lang="en-US" sz="1400" b="1" dirty="0"/>
              <a:t>Dot product </a:t>
            </a:r>
            <a:r>
              <a:rPr lang="en-US" sz="1400" dirty="0"/>
              <a:t>divided by </a:t>
            </a:r>
            <a:r>
              <a:rPr lang="en-US" sz="1400" b="1" dirty="0"/>
              <a:t>product of magnitudes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EE1F1D-9963-7836-A4CF-0577855F2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56" y="3175817"/>
            <a:ext cx="2888602" cy="7254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6B298D-13D8-A9D3-D097-718587F31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85" y="1536372"/>
            <a:ext cx="2018243" cy="4381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123FAB-168D-E11A-8521-05A297270B19}"/>
                  </a:ext>
                </a:extLst>
              </p:cNvPr>
              <p:cNvSpPr txBox="1"/>
              <p:nvPr/>
            </p:nvSpPr>
            <p:spPr>
              <a:xfrm>
                <a:off x="5137686" y="3714426"/>
                <a:ext cx="6212042" cy="284289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Sim(B, C) : Use Person B and C’s scaled values -&gt; A: (0.067,0.04) and C (1, 1)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Now we need to use Epsilon (ε) in the place of 0 everywhere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Revised formula: </a:t>
                </a:r>
              </a:p>
              <a:p>
                <a:endParaRPr lang="en-US" sz="1400" dirty="0"/>
              </a:p>
              <a:p>
                <a:pPr marL="342900" indent="-342900">
                  <a:buAutoNum type="arabicParenBoth"/>
                </a:pPr>
                <a:r>
                  <a:rPr lang="en-US" sz="1400" dirty="0"/>
                  <a:t>Numerator = Dot product = B.C = (0.067 x 1) + (0.04 x 1)  = 0.107</a:t>
                </a:r>
              </a:p>
              <a:p>
                <a:pPr marL="342900" indent="-342900">
                  <a:buAutoNum type="arabicParenBoth"/>
                </a:pPr>
                <a:r>
                  <a:rPr lang="en-US" sz="1400" dirty="0"/>
                  <a:t>Denominator = Magnitudes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Magnitude of B = ||B||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0.067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0.04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0.078</a:t>
                </a:r>
              </a:p>
              <a:p>
                <a:pPr marL="800100" lvl="1" indent="-342900">
                  <a:buAutoNum type="arabicParenBoth"/>
                </a:pPr>
                <a:r>
                  <a:rPr lang="en-US" sz="1400" dirty="0"/>
                  <a:t>Magnitude of C = ||C||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4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/>
                  <a:t> = 1.414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Sim (B, C)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0.107</m:t>
                        </m:r>
                      </m:num>
                      <m:den>
                        <m:d>
                          <m:d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0.078 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 1.414</m:t>
                            </m:r>
                          </m:e>
                        </m:d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+0.000000001</m:t>
                        </m:r>
                      </m:den>
                    </m:f>
                  </m:oMath>
                </a14:m>
                <a:r>
                  <a:rPr lang="en-US" sz="1400" dirty="0"/>
                  <a:t> = 0.970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123FAB-168D-E11A-8521-05A297270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686" y="3714426"/>
                <a:ext cx="6212042" cy="2842894"/>
              </a:xfrm>
              <a:prstGeom prst="rect">
                <a:avLst/>
              </a:prstGeom>
              <a:blipFill>
                <a:blip r:embed="rId5"/>
                <a:stretch>
                  <a:fillRect l="-393" t="-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8BFD6E3-62C2-B6E4-E96D-12677CE23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9294"/>
              </p:ext>
            </p:extLst>
          </p:nvPr>
        </p:nvGraphicFramePr>
        <p:xfrm>
          <a:off x="251283" y="4997156"/>
          <a:ext cx="3783246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91623">
                  <a:extLst>
                    <a:ext uri="{9D8B030D-6E8A-4147-A177-3AD203B41FA5}">
                      <a16:colId xmlns:a16="http://schemas.microsoft.com/office/drawing/2014/main" val="2565674770"/>
                    </a:ext>
                  </a:extLst>
                </a:gridCol>
                <a:gridCol w="1891623">
                  <a:extLst>
                    <a:ext uri="{9D8B030D-6E8A-4147-A177-3AD203B41FA5}">
                      <a16:colId xmlns:a16="http://schemas.microsoft.com/office/drawing/2014/main" val="2793717883"/>
                    </a:ext>
                  </a:extLst>
                </a:gridCol>
              </a:tblGrid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438081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A–B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 (very different)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424392"/>
                  </a:ext>
                </a:extLst>
              </a:tr>
              <a:tr h="270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B–C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0.970 (very similar)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18263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AD13810-5682-564A-BFFC-0943A0409BB8}"/>
              </a:ext>
            </a:extLst>
          </p:cNvPr>
          <p:cNvSpPr txBox="1"/>
          <p:nvPr/>
        </p:nvSpPr>
        <p:spPr>
          <a:xfrm>
            <a:off x="1163352" y="4707718"/>
            <a:ext cx="176482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Interpretation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E93BFF09-6CD7-6D8A-931A-6F0DADEC1A6B}"/>
              </a:ext>
            </a:extLst>
          </p:cNvPr>
          <p:cNvSpPr/>
          <p:nvPr/>
        </p:nvSpPr>
        <p:spPr>
          <a:xfrm>
            <a:off x="4230266" y="4893968"/>
            <a:ext cx="652643" cy="400110"/>
          </a:xfrm>
          <a:prstGeom prst="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9A9A25-FE44-F9FF-E778-EFF0A2B6E9E4}"/>
              </a:ext>
            </a:extLst>
          </p:cNvPr>
          <p:cNvSpPr txBox="1"/>
          <p:nvPr/>
        </p:nvSpPr>
        <p:spPr>
          <a:xfrm>
            <a:off x="251284" y="6024935"/>
            <a:ext cx="3783245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But this is WRONG! </a:t>
            </a:r>
          </a:p>
          <a:p>
            <a:r>
              <a:rPr lang="en-IN" sz="1400" b="1" dirty="0">
                <a:solidFill>
                  <a:srgbClr val="FF0000"/>
                </a:solidFill>
              </a:rPr>
              <a:t>Happens because scaling made A = 0</a:t>
            </a:r>
          </a:p>
          <a:p>
            <a:r>
              <a:rPr lang="en-IN" sz="1400" b="1" dirty="0">
                <a:solidFill>
                  <a:srgbClr val="FF0000"/>
                </a:solidFill>
              </a:rPr>
              <a:t>Conclusion: Do not use Cosine Similarity here</a:t>
            </a:r>
            <a:endParaRPr lang="en-GB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59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E50B-2F3F-07CE-1D85-919E5F4A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6FCA7A-BC24-336D-0ABA-44429BC1C2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505479"/>
              </p:ext>
            </p:extLst>
          </p:nvPr>
        </p:nvGraphicFramePr>
        <p:xfrm>
          <a:off x="838200" y="4570642"/>
          <a:ext cx="10515600" cy="140208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225475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08734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439606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72861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Example comparison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Data Reality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Distance (L1/L2) Says...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Cosine Says...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71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A vs B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Very Similar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Correct: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"These are close"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Fails: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"No direction (0)"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8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B vs C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Very Different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Correct: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"These are far"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</a:rPr>
                        <a:t>Misleading:</a:t>
                      </a: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 "Same pattern (0.97)"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1792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373A53-B7A7-9A28-59C2-9D00B77AC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14060"/>
              </p:ext>
            </p:extLst>
          </p:nvPr>
        </p:nvGraphicFramePr>
        <p:xfrm>
          <a:off x="838200" y="1690688"/>
          <a:ext cx="10515600" cy="25298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451115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182705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911177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9124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Manhattan (L1)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Euclidean (L2)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Cosine Similarity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35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Geometry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Grid-based (Taxicab)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Straight-line (Crow flies)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Angular difference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22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Sensitivity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Robust to outliers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Sensitive to outliers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Magnitude independent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28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Calculation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Sum of absolute diffs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Square root of Sum of squares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Dot product / Magnitudes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979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Best Used For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High-dimensional data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Physical/dense distance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Text embeddings / RAG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41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Intuition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Moving along axes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Direct physical gap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</a:rPr>
                        <a:t>Shared "theme" or ratio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161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731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9859-04B6-99D0-9542-BCB16960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Gower Distance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617D-A6AC-AA76-01A3-145188B4E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by calculating a "partial score" (s) for each feature and then averaging them:</a:t>
            </a:r>
          </a:p>
          <a:p>
            <a:pPr lvl="1"/>
            <a:r>
              <a:rPr lang="en-US" dirty="0"/>
              <a:t>Numeric data (Age, Income): Variation of Min-Max scaling is used to find the difference</a:t>
            </a:r>
          </a:p>
          <a:p>
            <a:pPr lvl="1"/>
            <a:r>
              <a:rPr lang="en-US" dirty="0"/>
              <a:t>Categorical data (Gender, City): Uses a simple Boolean check</a:t>
            </a:r>
          </a:p>
          <a:p>
            <a:pPr lvl="2"/>
            <a:r>
              <a:rPr lang="en-US" dirty="0"/>
              <a:t>Similar values -&gt; Distance = 0 (e.g. Pune-Pune)</a:t>
            </a:r>
          </a:p>
          <a:p>
            <a:pPr lvl="2"/>
            <a:r>
              <a:rPr lang="en-US" dirty="0"/>
              <a:t>Different values -&gt; Distance = 1 (e.g. Pune-Mumbai)</a:t>
            </a:r>
          </a:p>
          <a:p>
            <a:pPr lvl="1"/>
            <a:r>
              <a:rPr lang="en-US" dirty="0"/>
              <a:t>Result: Combines these into a single score between 0 and 1, where 0 is identical and 1 is completely different</a:t>
            </a:r>
          </a:p>
          <a:p>
            <a:r>
              <a:rPr lang="en-US" dirty="0"/>
              <a:t>Best for mixed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474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30B9469-EE37-06B0-A7BC-579104FA1D77}"/>
              </a:ext>
            </a:extLst>
          </p:cNvPr>
          <p:cNvSpPr txBox="1"/>
          <p:nvPr/>
        </p:nvSpPr>
        <p:spPr>
          <a:xfrm>
            <a:off x="251284" y="579353"/>
            <a:ext cx="388794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Handles numeric, categorical, binary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Scales everything to [0,1]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Combines distances feature-wise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BD512-E18D-A2F4-E8BD-8AF1AB9B520B}"/>
              </a:ext>
            </a:extLst>
          </p:cNvPr>
          <p:cNvSpPr txBox="1"/>
          <p:nvPr/>
        </p:nvSpPr>
        <p:spPr>
          <a:xfrm>
            <a:off x="251285" y="139603"/>
            <a:ext cx="2624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Gower Distance</a:t>
            </a:r>
            <a:endParaRPr lang="en-GB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D857E8-4040-9895-199C-875804AE8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619116"/>
              </p:ext>
            </p:extLst>
          </p:nvPr>
        </p:nvGraphicFramePr>
        <p:xfrm>
          <a:off x="251284" y="1440974"/>
          <a:ext cx="3783245" cy="12801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56649">
                  <a:extLst>
                    <a:ext uri="{9D8B030D-6E8A-4147-A177-3AD203B41FA5}">
                      <a16:colId xmlns:a16="http://schemas.microsoft.com/office/drawing/2014/main" val="2178024852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2615569815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1156561557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3725539643"/>
                    </a:ext>
                  </a:extLst>
                </a:gridCol>
                <a:gridCol w="756649">
                  <a:extLst>
                    <a:ext uri="{9D8B030D-6E8A-4147-A177-3AD203B41FA5}">
                      <a16:colId xmlns:a16="http://schemas.microsoft.com/office/drawing/2014/main" val="765657467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 (₹k)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00689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A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2981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B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908893"/>
                  </a:ext>
                </a:extLst>
              </a:tr>
              <a:tr h="25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C</a:t>
                      </a:r>
                      <a:endParaRPr lang="en-GB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751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396FB00-0C7B-44D1-5184-402B9D78F6D8}"/>
              </a:ext>
            </a:extLst>
          </p:cNvPr>
          <p:cNvSpPr txBox="1"/>
          <p:nvPr/>
        </p:nvSpPr>
        <p:spPr>
          <a:xfrm>
            <a:off x="251283" y="2844091"/>
            <a:ext cx="3887947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Step 1: Identify feature types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3B0BFC2-1EB4-18B6-D04A-EC858062F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730482"/>
              </p:ext>
            </p:extLst>
          </p:nvPr>
        </p:nvGraphicFramePr>
        <p:xfrm>
          <a:off x="268156" y="3219517"/>
          <a:ext cx="3766372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00903">
                  <a:extLst>
                    <a:ext uri="{9D8B030D-6E8A-4147-A177-3AD203B41FA5}">
                      <a16:colId xmlns:a16="http://schemas.microsoft.com/office/drawing/2014/main" val="3271531555"/>
                    </a:ext>
                  </a:extLst>
                </a:gridCol>
                <a:gridCol w="950664">
                  <a:extLst>
                    <a:ext uri="{9D8B030D-6E8A-4147-A177-3AD203B41FA5}">
                      <a16:colId xmlns:a16="http://schemas.microsoft.com/office/drawing/2014/main" val="1852215219"/>
                    </a:ext>
                  </a:extLst>
                </a:gridCol>
                <a:gridCol w="2114805">
                  <a:extLst>
                    <a:ext uri="{9D8B030D-6E8A-4147-A177-3AD203B41FA5}">
                      <a16:colId xmlns:a16="http://schemas.microsoft.com/office/drawing/2014/main" val="3896188733"/>
                    </a:ext>
                  </a:extLst>
                </a:gridCol>
              </a:tblGrid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How distance is computed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157587"/>
                  </a:ext>
                </a:extLst>
              </a:tr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Numeric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normalized absolute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509444"/>
                  </a:ext>
                </a:extLst>
              </a:tr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Numeric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normalized absolute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61485"/>
                  </a:ext>
                </a:extLst>
              </a:tr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 if same, 1 if different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79666"/>
                  </a:ext>
                </a:extLst>
              </a:tr>
              <a:tr h="245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 if same, 1 if different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14753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6E7FC21-541B-B3B5-904B-6B0C1065322B}"/>
              </a:ext>
            </a:extLst>
          </p:cNvPr>
          <p:cNvSpPr txBox="1"/>
          <p:nvPr/>
        </p:nvSpPr>
        <p:spPr>
          <a:xfrm>
            <a:off x="251282" y="4782930"/>
            <a:ext cx="388794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Step 2: Find ranges for numeric types</a:t>
            </a:r>
          </a:p>
          <a:p>
            <a:endParaRPr lang="en-US" sz="1400" dirty="0"/>
          </a:p>
          <a:p>
            <a:r>
              <a:rPr lang="en-US" sz="1400" dirty="0"/>
              <a:t>Age: Min: 25, Max: 55, Range: 30</a:t>
            </a:r>
          </a:p>
          <a:p>
            <a:r>
              <a:rPr lang="en-US" sz="1400" dirty="0"/>
              <a:t>Inc: Min: 30, Max: 80, Range: 50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28ACCF-2683-2939-CDE5-D63E106C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316" y="5086625"/>
            <a:ext cx="1275913" cy="5630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F949E-0663-87A4-32F0-ED27FA816D85}"/>
                  </a:ext>
                </a:extLst>
              </p:cNvPr>
              <p:cNvSpPr txBox="1"/>
              <p:nvPr/>
            </p:nvSpPr>
            <p:spPr>
              <a:xfrm>
                <a:off x="4164826" y="19515"/>
                <a:ext cx="3887947" cy="31808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3: Distance between A and B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|25 −27|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0.067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Income: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sz="1400" dirty="0"/>
                  <a:t> = 0.04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Gender: M vs M -&gt; 0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City: Pune vs Pune -&gt; 0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Gower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0.067+0.04+0+0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0.107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0.027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Conclusion: Small distance -&gt; Very similar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F949E-0663-87A4-32F0-ED27FA816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826" y="19515"/>
                <a:ext cx="3887947" cy="3180807"/>
              </a:xfrm>
              <a:prstGeom prst="rect">
                <a:avLst/>
              </a:prstGeom>
              <a:blipFill>
                <a:blip r:embed="rId3"/>
                <a:stretch>
                  <a:fillRect l="-470" t="-383" b="-11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50E4BF-A11A-D94E-5445-D9DC79B82034}"/>
                  </a:ext>
                </a:extLst>
              </p:cNvPr>
              <p:cNvSpPr txBox="1"/>
              <p:nvPr/>
            </p:nvSpPr>
            <p:spPr>
              <a:xfrm>
                <a:off x="4164825" y="3267294"/>
                <a:ext cx="3887947" cy="31808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4: Distance between A and C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|25 −55|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Income: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sz="1400" dirty="0"/>
                  <a:t> =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Gender: M vs F -&gt;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City: Pune vs Mumbai -&gt;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Gower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1+1+1+1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Conclusion: Very high distance -&gt; Very different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50E4BF-A11A-D94E-5445-D9DC79B82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825" y="3267294"/>
                <a:ext cx="3887947" cy="3180807"/>
              </a:xfrm>
              <a:prstGeom prst="rect">
                <a:avLst/>
              </a:prstGeom>
              <a:blipFill>
                <a:blip r:embed="rId4"/>
                <a:stretch>
                  <a:fillRect l="-470" t="-383" b="-9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A5039E-7F1F-2F0E-AE68-CD99DBFF8022}"/>
                  </a:ext>
                </a:extLst>
              </p:cNvPr>
              <p:cNvSpPr txBox="1"/>
              <p:nvPr/>
            </p:nvSpPr>
            <p:spPr>
              <a:xfrm>
                <a:off x="8183070" y="19515"/>
                <a:ext cx="3887947" cy="31808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Step 5: Distance between B and C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|27 −55|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sz="1400" dirty="0"/>
                  <a:t> = 0.93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Income: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sz="1400" dirty="0"/>
                  <a:t> = 0.96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Gender: M vs F -&gt;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City: Pune vs Mumbai -&gt; 1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Gower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0.93+0.96+1+1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3.89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= 0.97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Conclusion: Very high distance -&gt; Very different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A5039E-7F1F-2F0E-AE68-CD99DBFF8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070" y="19515"/>
                <a:ext cx="3887947" cy="3180807"/>
              </a:xfrm>
              <a:prstGeom prst="rect">
                <a:avLst/>
              </a:prstGeom>
              <a:blipFill>
                <a:blip r:embed="rId5"/>
                <a:stretch>
                  <a:fillRect l="-470" t="-383" b="-11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B01390A-CFC4-CAF1-E133-D565B152B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269061"/>
              </p:ext>
            </p:extLst>
          </p:nvPr>
        </p:nvGraphicFramePr>
        <p:xfrm>
          <a:off x="8357567" y="3752032"/>
          <a:ext cx="3342912" cy="1230392"/>
        </p:xfrm>
        <a:graphic>
          <a:graphicData uri="http://schemas.openxmlformats.org/drawingml/2006/table">
            <a:tbl>
              <a:tblPr firstRow="1" firstCol="1">
                <a:tableStyleId>{912C8C85-51F0-491E-9774-3900AFEF0FD7}</a:tableStyleId>
              </a:tblPr>
              <a:tblGrid>
                <a:gridCol w="835728">
                  <a:extLst>
                    <a:ext uri="{9D8B030D-6E8A-4147-A177-3AD203B41FA5}">
                      <a16:colId xmlns:a16="http://schemas.microsoft.com/office/drawing/2014/main" val="3812570992"/>
                    </a:ext>
                  </a:extLst>
                </a:gridCol>
                <a:gridCol w="835728">
                  <a:extLst>
                    <a:ext uri="{9D8B030D-6E8A-4147-A177-3AD203B41FA5}">
                      <a16:colId xmlns:a16="http://schemas.microsoft.com/office/drawing/2014/main" val="3126941239"/>
                    </a:ext>
                  </a:extLst>
                </a:gridCol>
                <a:gridCol w="835728">
                  <a:extLst>
                    <a:ext uri="{9D8B030D-6E8A-4147-A177-3AD203B41FA5}">
                      <a16:colId xmlns:a16="http://schemas.microsoft.com/office/drawing/2014/main" val="1465488510"/>
                    </a:ext>
                  </a:extLst>
                </a:gridCol>
                <a:gridCol w="835728">
                  <a:extLst>
                    <a:ext uri="{9D8B030D-6E8A-4147-A177-3AD203B41FA5}">
                      <a16:colId xmlns:a16="http://schemas.microsoft.com/office/drawing/2014/main" val="3421283222"/>
                    </a:ext>
                  </a:extLst>
                </a:gridCol>
              </a:tblGrid>
              <a:tr h="3075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471885"/>
                  </a:ext>
                </a:extLst>
              </a:tr>
              <a:tr h="307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0.027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1.00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281739"/>
                  </a:ext>
                </a:extLst>
              </a:tr>
              <a:tr h="307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B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1616"/>
                  </a:ext>
                </a:extLst>
              </a:tr>
              <a:tr h="307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0263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03B575E-7D89-8FEE-B32B-D90B18B85869}"/>
              </a:ext>
            </a:extLst>
          </p:cNvPr>
          <p:cNvSpPr txBox="1"/>
          <p:nvPr/>
        </p:nvSpPr>
        <p:spPr>
          <a:xfrm>
            <a:off x="9244632" y="3429000"/>
            <a:ext cx="176482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Final Gower matrix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FAC94E-7095-5187-0234-FEAA8AACD560}"/>
              </a:ext>
            </a:extLst>
          </p:cNvPr>
          <p:cNvSpPr txBox="1"/>
          <p:nvPr/>
        </p:nvSpPr>
        <p:spPr>
          <a:xfrm>
            <a:off x="8183070" y="5172650"/>
            <a:ext cx="3887947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A-B differ slightly in age/income → tiny distance</a:t>
            </a:r>
          </a:p>
          <a:p>
            <a:r>
              <a:rPr lang="en-US" sz="1400" dirty="0"/>
              <a:t>A-C differ in everything → distance = 1</a:t>
            </a:r>
          </a:p>
          <a:p>
            <a:r>
              <a:rPr lang="en-US" sz="1400" dirty="0"/>
              <a:t>B-C almost as different as A-C → close to 1</a:t>
            </a:r>
          </a:p>
        </p:txBody>
      </p:sp>
    </p:spTree>
    <p:extLst>
      <p:ext uri="{BB962C8B-B14F-4D97-AF65-F5344CB8AC3E}">
        <p14:creationId xmlns:p14="http://schemas.microsoft.com/office/powerpoint/2010/main" val="2304977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494E-439B-49FE-93A8-07B949D9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29CEAC-E5E2-0425-35AE-2EA52ED26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724942"/>
              </p:ext>
            </p:extLst>
          </p:nvPr>
        </p:nvGraphicFramePr>
        <p:xfrm>
          <a:off x="460689" y="1825625"/>
          <a:ext cx="11119384" cy="4713178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60838">
                  <a:extLst>
                    <a:ext uri="{9D8B030D-6E8A-4147-A177-3AD203B41FA5}">
                      <a16:colId xmlns:a16="http://schemas.microsoft.com/office/drawing/2014/main" val="2272414611"/>
                    </a:ext>
                  </a:extLst>
                </a:gridCol>
                <a:gridCol w="4306754">
                  <a:extLst>
                    <a:ext uri="{9D8B030D-6E8A-4147-A177-3AD203B41FA5}">
                      <a16:colId xmlns:a16="http://schemas.microsoft.com/office/drawing/2014/main" val="1290102623"/>
                    </a:ext>
                  </a:extLst>
                </a:gridCol>
                <a:gridCol w="1612415">
                  <a:extLst>
                    <a:ext uri="{9D8B030D-6E8A-4147-A177-3AD203B41FA5}">
                      <a16:colId xmlns:a16="http://schemas.microsoft.com/office/drawing/2014/main" val="4229506828"/>
                    </a:ext>
                  </a:extLst>
                </a:gridCol>
                <a:gridCol w="4439377">
                  <a:extLst>
                    <a:ext uri="{9D8B030D-6E8A-4147-A177-3AD203B41FA5}">
                      <a16:colId xmlns:a16="http://schemas.microsoft.com/office/drawing/2014/main" val="1694372382"/>
                    </a:ext>
                  </a:extLst>
                </a:gridCol>
              </a:tblGrid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#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 case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Reason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230050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k-NN on numeric data (height, weight, age)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Euclidean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Straight-line distance works well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42781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Grid-based data (city blocks, pixels)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Manhattan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Movement happens step-by-step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03807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Sparse text vectors (TF-IDF)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Cosine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Direction matters, not magnitude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7779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Word / sentence embeddings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Cosine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Captures semantic similarity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131023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Mixed data (age, income, gender, city)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Gower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Handles numeric + categorical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089921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Features with different scales (unscaled)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Manhattan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Less sensitive to outliers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41738"/>
                  </a:ext>
                </a:extLst>
              </a:tr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7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Image pixel comparison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Euclidean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Pixel intensity differences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83847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8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Document similarity (short vs long docs)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Cosine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Length-independent similarity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721899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9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Customer similarity (real-world data)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Gower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Real data is mixed-type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97369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Anomaly detection (numeric features)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Euclidean / Manhattan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Large distances flag anomalies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96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289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F65C-E4A7-F43C-7223-65B16546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Dimensionality </a:t>
            </a:r>
            <a:br>
              <a:rPr lang="en-IN" dirty="0"/>
            </a:br>
            <a:r>
              <a:rPr lang="en-IN" dirty="0"/>
              <a:t>Reduction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BA6B-ECBA-5E2A-E47B-9FC30A39D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Reducing the number of features (dimensions) in data without losing important information</a:t>
            </a:r>
          </a:p>
          <a:p>
            <a:pPr lvl="1"/>
            <a:r>
              <a:rPr lang="en-US" dirty="0"/>
              <a:t>Keeping the </a:t>
            </a:r>
            <a:r>
              <a:rPr lang="en-US" i="1" dirty="0"/>
              <a:t>signal</a:t>
            </a:r>
            <a:r>
              <a:rPr lang="en-US" dirty="0"/>
              <a:t>, removing the </a:t>
            </a:r>
            <a:r>
              <a:rPr lang="en-US" i="1" dirty="0"/>
              <a:t>noise</a:t>
            </a:r>
            <a:r>
              <a:rPr lang="en-US" dirty="0"/>
              <a:t> and </a:t>
            </a:r>
            <a:r>
              <a:rPr lang="en-US" i="1" dirty="0"/>
              <a:t>redundancy</a:t>
            </a:r>
          </a:p>
          <a:p>
            <a:r>
              <a:rPr lang="en-US" b="1" dirty="0"/>
              <a:t>Curse of dimensionality</a:t>
            </a:r>
            <a:r>
              <a:rPr lang="en-US" dirty="0"/>
              <a:t>: Distance measures (Euclidean, Manhattan, etc.) become meaningless as dimensions grow</a:t>
            </a:r>
          </a:p>
          <a:p>
            <a:r>
              <a:rPr lang="en-US" dirty="0"/>
              <a:t>Redundant features: Many features carry the same information (e.g., height in cm and inches)</a:t>
            </a:r>
          </a:p>
          <a:p>
            <a:r>
              <a:rPr lang="en-US" dirty="0"/>
              <a:t>Overfitting: Too many features → model memorizes instead of learning</a:t>
            </a:r>
          </a:p>
          <a:p>
            <a:r>
              <a:rPr lang="en-US" dirty="0"/>
              <a:t>Computation and visualization: Hard to train models and impossible to visualize beyond 3D</a:t>
            </a:r>
          </a:p>
          <a:p>
            <a:r>
              <a:rPr lang="en-US" dirty="0"/>
              <a:t>Two types</a:t>
            </a:r>
          </a:p>
          <a:p>
            <a:pPr lvl="1"/>
            <a:r>
              <a:rPr lang="en-US" b="1" dirty="0"/>
              <a:t>Feature selection</a:t>
            </a:r>
            <a:r>
              <a:rPr lang="en-US" dirty="0"/>
              <a:t>: Keep some features, drop the others – No transformation</a:t>
            </a:r>
          </a:p>
          <a:p>
            <a:pPr lvl="1"/>
            <a:r>
              <a:rPr lang="en-US" b="1" dirty="0"/>
              <a:t>Feature extraction</a:t>
            </a:r>
            <a:r>
              <a:rPr lang="en-US" dirty="0"/>
              <a:t>: Create new features by transforming data into fewer dimensions</a:t>
            </a:r>
          </a:p>
          <a:p>
            <a:pPr lvl="1"/>
            <a:endParaRPr lang="en-US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5CE045-E33D-58F5-4904-F5CF87D1F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470617"/>
              </p:ext>
            </p:extLst>
          </p:nvPr>
        </p:nvGraphicFramePr>
        <p:xfrm>
          <a:off x="4632495" y="230188"/>
          <a:ext cx="6721305" cy="1277049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46295">
                  <a:extLst>
                    <a:ext uri="{9D8B030D-6E8A-4147-A177-3AD203B41FA5}">
                      <a16:colId xmlns:a16="http://schemas.microsoft.com/office/drawing/2014/main" val="110429805"/>
                    </a:ext>
                  </a:extLst>
                </a:gridCol>
                <a:gridCol w="3071267">
                  <a:extLst>
                    <a:ext uri="{9D8B030D-6E8A-4147-A177-3AD203B41FA5}">
                      <a16:colId xmlns:a16="http://schemas.microsoft.com/office/drawing/2014/main" val="174960662"/>
                    </a:ext>
                  </a:extLst>
                </a:gridCol>
                <a:gridCol w="2903743">
                  <a:extLst>
                    <a:ext uri="{9D8B030D-6E8A-4147-A177-3AD203B41FA5}">
                      <a16:colId xmlns:a16="http://schemas.microsoft.com/office/drawing/2014/main" val="1704316243"/>
                    </a:ext>
                  </a:extLst>
                </a:gridCol>
              </a:tblGrid>
              <a:tr h="1920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>
                          <a:solidFill>
                            <a:srgbClr val="1F1F1F"/>
                          </a:solidFill>
                          <a:effectLst/>
                        </a:rPr>
                        <a:t>Tool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>
                          <a:solidFill>
                            <a:srgbClr val="1F1F1F"/>
                          </a:solidFill>
                          <a:effectLst/>
                        </a:rPr>
                        <a:t>Core Philosophy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>
                          <a:solidFill>
                            <a:srgbClr val="1F1F1F"/>
                          </a:solidFill>
                          <a:effectLst/>
                        </a:rPr>
                        <a:t>Best Use Case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199453"/>
                  </a:ext>
                </a:extLst>
              </a:tr>
              <a:tr h="1920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>
                          <a:solidFill>
                            <a:srgbClr val="1F1F1F"/>
                          </a:solidFill>
                          <a:effectLst/>
                        </a:rPr>
                        <a:t>PCA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>
                          <a:solidFill>
                            <a:srgbClr val="1F1F1F"/>
                          </a:solidFill>
                          <a:effectLst/>
                        </a:rPr>
                        <a:t>Captures "Spread" (Variance)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>
                          <a:solidFill>
                            <a:srgbClr val="1F1F1F"/>
                          </a:solidFill>
                          <a:effectLst/>
                        </a:rPr>
                        <a:t>Pre-processing and Noise reduction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35209"/>
                  </a:ext>
                </a:extLst>
              </a:tr>
              <a:tr h="1920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>
                          <a:solidFill>
                            <a:srgbClr val="1F1F1F"/>
                          </a:solidFill>
                          <a:effectLst/>
                        </a:rPr>
                        <a:t>t-SNE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>
                          <a:solidFill>
                            <a:srgbClr val="1F1F1F"/>
                          </a:solidFill>
                          <a:effectLst/>
                        </a:rPr>
                        <a:t>Preserves "Who is close"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>
                          <a:solidFill>
                            <a:srgbClr val="1F1F1F"/>
                          </a:solidFill>
                          <a:effectLst/>
                        </a:rPr>
                        <a:t>Identifying clusters visually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616062"/>
                  </a:ext>
                </a:extLst>
              </a:tr>
              <a:tr h="3321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>
                          <a:solidFill>
                            <a:srgbClr val="1F1F1F"/>
                          </a:solidFill>
                          <a:effectLst/>
                        </a:rPr>
                        <a:t>UMAP</a:t>
                      </a:r>
                      <a:endParaRPr lang="en-GB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Preserves "Who is close" AND "How far"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dirty="0">
                          <a:solidFill>
                            <a:srgbClr val="1F1F1F"/>
                          </a:solidFill>
                          <a:effectLst/>
                        </a:rPr>
                        <a:t>Large-scale data visualization</a:t>
                      </a:r>
                      <a:endParaRPr lang="en-GB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252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978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1B5C2C-1978-343E-02CD-FEC212F40F8F}"/>
              </a:ext>
            </a:extLst>
          </p:cNvPr>
          <p:cNvSpPr txBox="1"/>
          <p:nvPr/>
        </p:nvSpPr>
        <p:spPr>
          <a:xfrm>
            <a:off x="251284" y="139603"/>
            <a:ext cx="4390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Principal Component Analysis (PCA)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ADE05-6439-E29B-9DC7-C43F36BCC6F0}"/>
              </a:ext>
            </a:extLst>
          </p:cNvPr>
          <p:cNvSpPr txBox="1"/>
          <p:nvPr/>
        </p:nvSpPr>
        <p:spPr>
          <a:xfrm>
            <a:off x="119243" y="539713"/>
            <a:ext cx="4313154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Unsupervised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Finds directions of maximum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New features = Linear combinations of old ones</a:t>
            </a:r>
          </a:p>
          <a:p>
            <a:endParaRPr lang="en-IN" sz="1400" dirty="0"/>
          </a:p>
          <a:p>
            <a:r>
              <a:rPr lang="en-IN" sz="1400" dirty="0"/>
              <a:t>Example: Original features = </a:t>
            </a:r>
            <a:r>
              <a:rPr lang="en-GB" sz="1400" dirty="0"/>
              <a:t>(height, weight, waist, BMI)</a:t>
            </a:r>
          </a:p>
          <a:p>
            <a:r>
              <a:rPr lang="en-US" sz="1400" dirty="0"/>
              <a:t>PC1 = overall body size</a:t>
            </a:r>
          </a:p>
          <a:p>
            <a:r>
              <a:rPr lang="en-US" sz="1400" dirty="0"/>
              <a:t>PC2 = body shape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16DB2-703D-15B0-9F43-A58C1CD5280E}"/>
              </a:ext>
            </a:extLst>
          </p:cNvPr>
          <p:cNvSpPr txBox="1"/>
          <p:nvPr/>
        </p:nvSpPr>
        <p:spPr>
          <a:xfrm>
            <a:off x="119243" y="2269628"/>
            <a:ext cx="4313154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1: Plot all the points</a:t>
            </a:r>
          </a:p>
          <a:p>
            <a:endParaRPr lang="en-IN" sz="1400" dirty="0"/>
          </a:p>
          <a:p>
            <a:r>
              <a:rPr lang="en-IN" sz="1400" dirty="0"/>
              <a:t>X = Hours of theory study</a:t>
            </a:r>
          </a:p>
          <a:p>
            <a:r>
              <a:rPr lang="en-IN" sz="1400" dirty="0"/>
              <a:t>Y = Practical problems solved</a:t>
            </a:r>
          </a:p>
          <a:p>
            <a:endParaRPr lang="en-IN" sz="1400" dirty="0"/>
          </a:p>
          <a:p>
            <a:r>
              <a:rPr lang="en-IN" sz="1400" dirty="0"/>
              <a:t>Some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Study a lot, solve 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Solve a lot, study 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Are inconsistent</a:t>
            </a:r>
          </a:p>
          <a:p>
            <a:endParaRPr lang="en-IN" sz="1400" dirty="0"/>
          </a:p>
          <a:p>
            <a:r>
              <a:rPr lang="en-IN" sz="1400" dirty="0"/>
              <a:t>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Points are scattered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Trend exists, but it is noisy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Not all students behave the same</a:t>
            </a:r>
          </a:p>
          <a:p>
            <a:endParaRPr lang="en-IN" sz="1400" dirty="0"/>
          </a:p>
          <a:p>
            <a:r>
              <a:rPr lang="en-IN" sz="1400" dirty="0"/>
              <a:t>PCA does not force a perfect line</a:t>
            </a:r>
          </a:p>
          <a:p>
            <a:r>
              <a:rPr lang="en-IN" sz="1400" dirty="0"/>
              <a:t>It asks: In which direction does the data vary the most, overall?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3CF6B7-9BB5-EF0E-8586-C1B2B7E84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603" y="2323877"/>
            <a:ext cx="2000697" cy="1166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9B3E57-C33B-CBB9-0A71-4356D500F17D}"/>
              </a:ext>
            </a:extLst>
          </p:cNvPr>
          <p:cNvSpPr txBox="1"/>
          <p:nvPr/>
        </p:nvSpPr>
        <p:spPr>
          <a:xfrm>
            <a:off x="4481257" y="74604"/>
            <a:ext cx="494002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Step 2: Find the Center (Mean): </a:t>
            </a:r>
          </a:p>
          <a:p>
            <a:endParaRPr lang="en-IN" sz="1200" dirty="0"/>
          </a:p>
          <a:p>
            <a:r>
              <a:rPr lang="en-IN" sz="1200" dirty="0"/>
              <a:t>Calculate Mean(X) and Mean(Y)</a:t>
            </a:r>
          </a:p>
          <a:p>
            <a:endParaRPr lang="en-IN" sz="1200" dirty="0"/>
          </a:p>
          <a:p>
            <a:r>
              <a:rPr lang="en-IN" sz="1200" dirty="0"/>
              <a:t>This point () = “Center of gravity” for our data -&gt; All PCs must pass through it</a:t>
            </a:r>
            <a:endParaRPr lang="en-GB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293B84-9C98-222F-1569-7A579AD6E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687" y="-97177"/>
            <a:ext cx="1928446" cy="13650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A6106A-7092-167D-CABF-1DC14937C54B}"/>
              </a:ext>
            </a:extLst>
          </p:cNvPr>
          <p:cNvSpPr txBox="1"/>
          <p:nvPr/>
        </p:nvSpPr>
        <p:spPr>
          <a:xfrm>
            <a:off x="4481257" y="1141871"/>
            <a:ext cx="494002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Step 3/4: The “Best fit” rotation</a:t>
            </a:r>
          </a:p>
          <a:p>
            <a:endParaRPr lang="en-IN" sz="1200" dirty="0"/>
          </a:p>
          <a:p>
            <a:r>
              <a:rPr lang="en-IN" sz="1200" dirty="0"/>
              <a:t>Imagine a line passing through this point</a:t>
            </a:r>
          </a:p>
          <a:p>
            <a:r>
              <a:rPr lang="en-IN" sz="1200" dirty="0"/>
              <a:t>PCA “rotates” it till two equivalent conditions are satisfied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Maximum variance: When we project the line, data points should be as spread out as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Minimum distance: Squared perpendicular distances </a:t>
            </a:r>
            <a:endParaRPr lang="en-GB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131A4B-7E18-5408-362A-979F76A41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687" y="1339932"/>
            <a:ext cx="1928446" cy="12933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0C133A-17FE-D099-F127-702C871D304A}"/>
              </a:ext>
            </a:extLst>
          </p:cNvPr>
          <p:cNvSpPr txBox="1"/>
          <p:nvPr/>
        </p:nvSpPr>
        <p:spPr>
          <a:xfrm>
            <a:off x="4506280" y="2764880"/>
            <a:ext cx="494002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PC1 (Overall academic effort) = Distance from the “average” student</a:t>
            </a:r>
          </a:p>
          <a:p>
            <a:endParaRPr lang="en-IN" sz="1200" dirty="0"/>
          </a:p>
          <a:p>
            <a:r>
              <a:rPr lang="en-IN" sz="1200" dirty="0"/>
              <a:t>Captures the most important trend – Students who study more theory hours also tend to solve more practical problems = (w1 x Theory) + (w2 x Practical)</a:t>
            </a:r>
          </a:p>
          <a:p>
            <a:endParaRPr lang="en-IN" sz="1200" dirty="0"/>
          </a:p>
          <a:p>
            <a:r>
              <a:rPr lang="en-IN" sz="1200" dirty="0"/>
              <a:t>We have “compressed” two features into one component</a:t>
            </a:r>
            <a:endParaRPr lang="en-GB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508289-7DBF-70D2-2E6E-8522776C2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5710" y="2671851"/>
            <a:ext cx="1887178" cy="1293358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85FD469-9CF2-91E1-BF0D-037E89B88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198017"/>
              </p:ext>
            </p:extLst>
          </p:nvPr>
        </p:nvGraphicFramePr>
        <p:xfrm>
          <a:off x="4626879" y="4029412"/>
          <a:ext cx="5668846" cy="2844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660418">
                  <a:extLst>
                    <a:ext uri="{9D8B030D-6E8A-4147-A177-3AD203B41FA5}">
                      <a16:colId xmlns:a16="http://schemas.microsoft.com/office/drawing/2014/main" val="2300626458"/>
                    </a:ext>
                  </a:extLst>
                </a:gridCol>
                <a:gridCol w="1343405">
                  <a:extLst>
                    <a:ext uri="{9D8B030D-6E8A-4147-A177-3AD203B41FA5}">
                      <a16:colId xmlns:a16="http://schemas.microsoft.com/office/drawing/2014/main" val="3009779567"/>
                    </a:ext>
                  </a:extLst>
                </a:gridCol>
                <a:gridCol w="1738843">
                  <a:extLst>
                    <a:ext uri="{9D8B030D-6E8A-4147-A177-3AD203B41FA5}">
                      <a16:colId xmlns:a16="http://schemas.microsoft.com/office/drawing/2014/main" val="284838477"/>
                    </a:ext>
                  </a:extLst>
                </a:gridCol>
                <a:gridCol w="1926180">
                  <a:extLst>
                    <a:ext uri="{9D8B030D-6E8A-4147-A177-3AD203B41FA5}">
                      <a16:colId xmlns:a16="http://schemas.microsoft.com/office/drawing/2014/main" val="4083919943"/>
                    </a:ext>
                  </a:extLst>
                </a:gridCol>
              </a:tblGrid>
              <a:tr h="1906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Student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</a:rPr>
                        <a:t>Theory Hours (X)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Problems Solved (Y)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PC1 Value (The "Summary")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410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</a:rPr>
                        <a:t>1.0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1.5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-5.83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94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2.0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3.5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-3.95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658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3.5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3.2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-2.88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420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4.0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5.8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-0.95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559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5.5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4.5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-0.45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026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6.0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7.0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1.35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550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7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7.5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6.2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1.94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3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8.0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8.5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F1F1F"/>
                          </a:solidFill>
                          <a:effectLst/>
                        </a:rPr>
                        <a:t>3.77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731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9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9.5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effectLst/>
                        </a:rPr>
                        <a:t>8.0</a:t>
                      </a:r>
                      <a:endParaRPr lang="en-GB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</a:rPr>
                        <a:t>5.00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66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430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A7DD-04F4-1BB6-211C-F764FB7B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PCA Captures the “Most Variance”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5F3C0-1055-AD2B-5DD2-D05A33ABE3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Similar variance in Theory and Practical Hours (Diagonal between X and Y axes) =&gt; w1 ≈ w2</a:t>
            </a:r>
            <a:endParaRPr lang="en-GB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913E1-D459-1EC8-9831-088D2C653D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Much more variance in Practical Hours (Tilting towards the Y-axis) =&gt; w2 will be much stronger than w1</a:t>
            </a:r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5F652C-B666-3941-7FE1-9F4098292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87" y="3050078"/>
            <a:ext cx="3705114" cy="3126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A699E2-4105-5868-E63D-DD741552D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315" y="3050078"/>
            <a:ext cx="3896280" cy="321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1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502E-997F-D0BF-7694-76FA7829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t-SNE and UMAP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AE4998-169C-2FEB-677C-9D7E04097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t-SNE (</a:t>
            </a:r>
            <a:r>
              <a:rPr lang="en-GB" dirty="0"/>
              <a:t>t-Distributed Stochastic Neighbour Embedding)</a:t>
            </a:r>
            <a:endParaRPr lang="en-US" dirty="0"/>
          </a:p>
          <a:p>
            <a:pPr lvl="1"/>
            <a:r>
              <a:rPr lang="en-US" dirty="0"/>
              <a:t>Keeps "Friends" Together: It focuses on keeping points that are close to each other in high dimensions close together in the simplified view</a:t>
            </a:r>
          </a:p>
          <a:p>
            <a:pPr lvl="1"/>
            <a:r>
              <a:rPr lang="en-US" dirty="0"/>
              <a:t>Ignores "The Big Picture": It does not care about the total distance across the whole map; it only cares about our immediate surroundings</a:t>
            </a:r>
          </a:p>
          <a:p>
            <a:r>
              <a:rPr lang="en-US" dirty="0"/>
              <a:t>UMAP </a:t>
            </a:r>
            <a:r>
              <a:rPr lang="en-IN" dirty="0"/>
              <a:t>(</a:t>
            </a:r>
            <a:r>
              <a:rPr lang="en-US" dirty="0"/>
              <a:t>Uniform Manifold Approximation and Projection</a:t>
            </a:r>
            <a:r>
              <a:rPr lang="en-GB" dirty="0"/>
              <a:t>)</a:t>
            </a:r>
          </a:p>
          <a:p>
            <a:pPr lvl="1"/>
            <a:r>
              <a:rPr lang="en-US" dirty="0"/>
              <a:t>Best of Both Worlds: It preserves local "neighborhoods" (like t-SNE) while also respecting the "big picture" global structure (like PCA)</a:t>
            </a:r>
          </a:p>
          <a:p>
            <a:pPr lvl="1"/>
            <a:r>
              <a:rPr lang="en-US" dirty="0"/>
              <a:t>Fast and Scalable: It is significantly faster than t-SNE, making it the better choice for massive datasets or real-time agentic workflows</a:t>
            </a:r>
          </a:p>
          <a:p>
            <a:pPr lvl="1"/>
            <a:r>
              <a:rPr lang="en-US" dirty="0"/>
              <a:t>True to Distance: Unlike t-SNE, the distance between clusters in UMAP actually has meaning, helping us see how related different groups truly are</a:t>
            </a:r>
          </a:p>
        </p:txBody>
      </p:sp>
    </p:spTree>
    <p:extLst>
      <p:ext uri="{BB962C8B-B14F-4D97-AF65-F5344CB8AC3E}">
        <p14:creationId xmlns:p14="http://schemas.microsoft.com/office/powerpoint/2010/main" val="622714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1E0F1-80ED-0AA9-86E3-00D2EDD4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What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03708B-AB95-44B3-DA2A-ED2965E3D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594346"/>
              </p:ext>
            </p:extLst>
          </p:nvPr>
        </p:nvGraphicFramePr>
        <p:xfrm>
          <a:off x="739895" y="1825625"/>
          <a:ext cx="10819236" cy="4705738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93314">
                  <a:extLst>
                    <a:ext uri="{9D8B030D-6E8A-4147-A177-3AD203B41FA5}">
                      <a16:colId xmlns:a16="http://schemas.microsoft.com/office/drawing/2014/main" val="2565894359"/>
                    </a:ext>
                  </a:extLst>
                </a:gridCol>
                <a:gridCol w="3999628">
                  <a:extLst>
                    <a:ext uri="{9D8B030D-6E8A-4147-A177-3AD203B41FA5}">
                      <a16:colId xmlns:a16="http://schemas.microsoft.com/office/drawing/2014/main" val="2169270971"/>
                    </a:ext>
                  </a:extLst>
                </a:gridCol>
                <a:gridCol w="928360">
                  <a:extLst>
                    <a:ext uri="{9D8B030D-6E8A-4147-A177-3AD203B41FA5}">
                      <a16:colId xmlns:a16="http://schemas.microsoft.com/office/drawing/2014/main" val="3961303031"/>
                    </a:ext>
                  </a:extLst>
                </a:gridCol>
                <a:gridCol w="5297934">
                  <a:extLst>
                    <a:ext uri="{9D8B030D-6E8A-4147-A177-3AD203B41FA5}">
                      <a16:colId xmlns:a16="http://schemas.microsoft.com/office/drawing/2014/main" val="2175144950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#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 case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Reason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3371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Reduce 100 features before regression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PCA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Removes redundancy while keeping variance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594388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Visualize word embeddings (Word2Vec, BERT)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t-SNE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Shows local similarity clearly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01756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Visualize MNIST digits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t-SNE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Excellent cluster separation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1314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Large embedding dataset (100k+ points)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UMAP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Faster and more scalable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85310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Preprocessing before clustering (k-means)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PCA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Reduces noise, keeps structure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01516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Visualize customer segments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UMAP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Preserves neighborhood + global layout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27994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7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Detect outliers in high-dimensional data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PCA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Extreme projections stand out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17929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8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One-off EDA plot for presentation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t-SNE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Produces visually clear plots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915996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9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Incremental visualization (new data later)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UMAP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Can transform new points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5082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Compress image features before model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PCA</a:t>
                      </a:r>
                      <a:endParaRPr lang="en-GB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Linear, fast, model-friendly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64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04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2723</TotalTime>
  <Words>3003</Words>
  <Application>Microsoft Office PowerPoint</Application>
  <PresentationFormat>Widescreen</PresentationFormat>
  <Paragraphs>707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Google Sans Text</vt:lpstr>
      <vt:lpstr>Symbol</vt:lpstr>
      <vt:lpstr>Office Theme</vt:lpstr>
      <vt:lpstr>Clustering Algorithms and Dimensionality Reduction</vt:lpstr>
      <vt:lpstr>Density-Based Clustering and DBSCAN</vt:lpstr>
      <vt:lpstr>DBSCAN Working</vt:lpstr>
      <vt:lpstr>PowerPoint Presentation</vt:lpstr>
      <vt:lpstr>Clustering Mixed Data</vt:lpstr>
      <vt:lpstr>PowerPoint Presentation</vt:lpstr>
      <vt:lpstr>PowerPoint Presentation</vt:lpstr>
      <vt:lpstr>PowerPoint Presentation</vt:lpstr>
      <vt:lpstr>Comparison</vt:lpstr>
      <vt:lpstr>Gower Distance</vt:lpstr>
      <vt:lpstr>PowerPoint Presentation</vt:lpstr>
      <vt:lpstr>When to Use What</vt:lpstr>
      <vt:lpstr>Dimensionality  Reduction</vt:lpstr>
      <vt:lpstr>PowerPoint Presentation</vt:lpstr>
      <vt:lpstr>How PCA Captures the “Most Variance”</vt:lpstr>
      <vt:lpstr>t-SNE and UMAP</vt:lpstr>
      <vt:lpstr>When to Use What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25</cp:revision>
  <dcterms:created xsi:type="dcterms:W3CDTF">2026-01-19T11:50:40Z</dcterms:created>
  <dcterms:modified xsi:type="dcterms:W3CDTF">2026-02-01T09:45:07Z</dcterms:modified>
</cp:coreProperties>
</file>